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gif" ContentType="image/gif"/>
  <Default Extension="txt" ContentType="text/plain"/>
  <Default Extension="png" ContentType="image/png"/>
  <Default Extension="shtml" ContentType="text/html; charset=UTF-8"/>
  <Default Extension="shtml" ContentType="text/html"/>
  <Default Extension="webp" ContentType="image/webp"/>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3" Type="http://schemas.openxmlformats.org/officeDocument/2006/relationships/viewProps" Target="viewProps.xml" /><Relationship Id="rId122" Type="http://schemas.openxmlformats.org/officeDocument/2006/relationships/presProps" Target="presProps.xml" /><Relationship Id="rId1" Type="http://schemas.openxmlformats.org/officeDocument/2006/relationships/slideMaster" Target="slideMasters/slideMaster1.xml" /><Relationship Id="rId125" Type="http://schemas.openxmlformats.org/officeDocument/2006/relationships/tableStyles" Target="tableStyles.xml" /><Relationship Id="rId124" Type="http://schemas.openxmlformats.org/officeDocument/2006/relationships/theme" Target="theme/theme1.xml" /></Relationships>
</file>

<file path=ppt/media/image3.txt>Please set a user-agent and respect our robot policy https://w.wiki/4wJS. See also https://phabricator.wikimedia.org/T400119.

</file>

<file path=ppt/media/image4.txt>Please set a user-agent and respect our robot policy https://w.wiki/4wJS. See also https://phabricator.wikimedia.org/T400119.

</file>

<file path=ppt/media/image16.txt>Please set a user-agent and respect our robot policy https://w.wiki/4wJS. See also https://phabricator.wikimedia.org/T400119.

</file>

<file path=ppt/media/image20.txt>Please set a user-agent and respect our robot policy https://w.wiki/4wJS. See also https://phabricator.wikimedia.org/T400119.

</file>

<file path=ppt/media/image22.txt>Please set a user-agent and respect our robot policy https://w.wiki/4wJS. See also https://phabricator.wikimedia.org/T400119.

</file>

<file path=ppt/media/image23.txt>Please set a user-agent and respect our robot policy https://w.wiki/4wJS. See also https://phabricator.wikimedia.org/T400119.

</file>

<file path=ppt/media/image25.txt>Please set a user-agent and respect our robot policy https://w.wiki/4wJS. See also https://phabricator.wikimedia.org/T400119.

</file>

<file path=ppt/media/image28.txt>Please set a user-agent and respect our robot policy https://w.wiki/4wJS. See also https://phabricator.wikimedia.org/T400119.

</file>

<file path=ppt/media/image29.txt>Please set a user-agent and respect our robot policy https://w.wiki/4wJS. See also https://phabricator.wikimedia.org/T400119.

</file>

<file path=ppt/media/image33.txt>Please set a user-agent and respect our robot policy https://w.wiki/4wJS. See also https://phabricator.wikimedia.org/T400119.

</file>

<file path=ppt/media/image34.txt>Please set a user-agent and respect our robot policy https://w.wiki/4wJS. See also https://phabricator.wikimedia.org/T400119.

</file>

<file path=ppt/media/image35.txt>Please set a user-agent and respect our robot policy https://w.wiki/4wJS. See also https://phabricator.wikimedia.org/T400119.

</file>

<file path=ppt/media/image41.txt>Please set a user-agent and respect our robot policy https://w.wiki/4wJS. See also https://phabricator.wikimedia.org/T400119.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hdcTmpvDO0I"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su.instructure.com/courses/2441266/assignments/17981392"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jp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jp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jp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gif"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txt"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txt"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5.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jp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7s0CpRfyYp8" TargetMode="Externa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jp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jp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jpg"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jpg" /></Relationships>
</file>

<file path=ppt/slides/_rels/slide4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4.jpg" /></Relationships>
</file>

<file path=ppt/slides/_rels/slide4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5.jpg"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6.txt"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7.jpg"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8.jpg"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9.png"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DJLmVSeZ5-c" TargetMode="Externa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0.txt"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1.jp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en.wikipedia.org/wiki/Primary_motor_cortex" TargetMode="External" /><Relationship Id="rId2" Type="http://schemas.openxmlformats.org/officeDocument/2006/relationships/image" Target="../media/image22.txt"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3.txt"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4.png"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txt"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n.wikipedia.org/wiki/Tectospinal_tract" TargetMode="External" /><Relationship Id="rId3" Type="http://schemas.openxmlformats.org/officeDocument/2006/relationships/hyperlink" Target="https://en.wikipedia.org/wiki/Lateral_vestibulospinal_tract" TargetMode="External" /><Relationship Id="rId4" Type="http://schemas.openxmlformats.org/officeDocument/2006/relationships/hyperlink" Target="https://en.wikipedia.org/wiki/Reticular_formation#Descending_reticulospinal_tracts" TargetMode="External" /><Relationship Id="rId5" Type="http://schemas.openxmlformats.org/officeDocument/2006/relationships/hyperlink" Target="https://en.wikipedia.org/wiki/Extrapyramidal_symptoms" TargetMode="Externa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6.gif" /></Relationships>
</file>

<file path=ppt/slides/_rels/slide7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7.png"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8.txt"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9.txt" /></Relationships>
</file>

<file path=ppt/slides/_rels/slide7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upload.wikimedia.org/wikipedia/commons/e/e9/This_shows_a_recording_of_the_eye_movements_of_a_participant_looking_freely_at_a_picture.webm" TargetMode="Externa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0.sht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1.sht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2.sht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3.txt"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CG5n516PCXM" TargetMode="External" /><Relationship Id="rId3" Type="http://schemas.openxmlformats.org/officeDocument/2006/relationships/hyperlink" Target="https://commons.wikimedia.org/w/index.php?curid=3004633" TargetMode="External" /><Relationship Id="rId4" Type="http://schemas.openxmlformats.org/officeDocument/2006/relationships/hyperlink" Target="https://commons.wikimedia.org/w/index.php?curid=3004633" TargetMode="External" /></Relationships>
</file>

<file path=ppt/slides/_rels/slide8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4.txt"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5.txt"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6.jpg"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7.png"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n.wikipedia.org/wiki/Unconscious_inference" TargetMode="External" /></Relationships>
</file>

<file path=ppt/slides/_rels/slide9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www.youtube.com/shorts/pxWIauT1WaM" TargetMode="External" /></Relationships>
</file>

<file path=ppt/slides/_rels/slide9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www.youtube.com/watch?v=Rh7JuL3PRSY" TargetMode="Externa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5s1gEi5wfLg&amp;t=11s" TargetMode="External" /></Relationships>
</file>

<file path=ppt/slides/_rels/slide9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8.jpg"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shorts/pxWIauT1WaM" TargetMode="Externa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9.webp" /></Relationships>
</file>

<file path=ppt/slides/_rels/slide10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0.jpg"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n.wikipedia.org/wiki/File:Real-time_MRI_-_Speaking_(English).ogv" TargetMode="Externa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1.txt"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2.sht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3.png"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4X4Fy8YqysY" TargetMode="Externa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4.sht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 TargetMode="External" /><Relationship Id="rId3" Type="http://schemas.openxmlformats.org/officeDocument/2006/relationships/hyperlink" Target="https://posit.co/products/open-source/rstudio/" TargetMode="External" /><Relationship Id="rId4" Type="http://schemas.openxmlformats.org/officeDocument/2006/relationships/hyperlink" Target="https://revealjs.com" TargetMode="External" /><Relationship Id="rId5" Type="http://schemas.openxmlformats.org/officeDocument/2006/relationships/hyperlink" Target="https://github.com/psu-psychology/psy-511-scan-fdns-2026-spring" TargetMode="External" /><Relationship Id="rId6" Type="http://schemas.openxmlformats.org/officeDocument/2006/relationships/hyperlink" Target="https://psu-psychology.github.io/psy-511-scan-fdns-2026-spring/" TargetMode="Externa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38/d41586-022-02238-1" TargetMode="External" /><Relationship Id="rId3" Type="http://schemas.openxmlformats.org/officeDocument/2006/relationships/hyperlink" Target="https://doi.org/10.1016/j.tics.2023.05.008" TargetMode="External" /><Relationship Id="rId4" Type="http://schemas.openxmlformats.org/officeDocument/2006/relationships/hyperlink" Target="https://doi.org/10.1016/j.neubiorev.2024.105684" TargetMode="External" /><Relationship Id="rId5" Type="http://schemas.openxmlformats.org/officeDocument/2006/relationships/hyperlink" Target="https://doi.org/10.3389/fneur.2019.00951" TargetMode="External" /><Relationship Id="rId6" Type="http://schemas.openxmlformats.org/officeDocument/2006/relationships/hyperlink" Target="https://www.physoc.org/magazine-articles/the-neuroscience-of-balance/" TargetMode="External" /><Relationship Id="rId7" Type="http://schemas.openxmlformats.org/officeDocument/2006/relationships/hyperlink" Target="https://doi.org/10.1073/pnas.2419801122" TargetMode="External" /><Relationship Id="rId8" Type="http://schemas.openxmlformats.org/officeDocument/2006/relationships/hyperlink" Target="https://imotions.com/blog/learning/best-practice/types-of-eye-movements/" TargetMode="External" /><Relationship Id="rId9" Type="http://schemas.openxmlformats.org/officeDocument/2006/relationships/hyperlink" Target="https://doi.org/10.1002/wcs.1525" TargetMode="External" /><Relationship Id="rId10" Type="http://schemas.openxmlformats.org/officeDocument/2006/relationships/hyperlink" Target="https://doi.org/10.21428/e2759450.b076f599" TargetMode="External" /><Relationship Id="rId11" Type="http://schemas.openxmlformats.org/officeDocument/2006/relationships/hyperlink" Target="https://doi.org/10.1038/s41586-023-06982-w" TargetMode="External" /><Relationship Id="rId12" Type="http://schemas.openxmlformats.org/officeDocument/2006/relationships/hyperlink" Target="https://doi.org/10.1146/annurev-psych-010419-051053" TargetMode="External" /><Relationship Id="rId13" Type="http://schemas.openxmlformats.org/officeDocument/2006/relationships/hyperlink" Target="https://www.youtube.com/watch?v=Rh7JuL3PRSY" TargetMode="External" /><Relationship Id="rId14" Type="http://schemas.openxmlformats.org/officeDocument/2006/relationships/hyperlink" Target="https://www.sciencedirect.com/topics/neuroscience/locomotion" TargetMode="External" /><Relationship Id="rId15" Type="http://schemas.openxmlformats.org/officeDocument/2006/relationships/hyperlink" Target="https://doi.org/10.1088/1748-3190/ad2869" TargetMode="External" /><Relationship Id="rId16" Type="http://schemas.openxmlformats.org/officeDocument/2006/relationships/hyperlink" Target="https://www.youtube.com/watch?v=5s1gEi5wfLg&amp;t=11s" TargetMode="External" /><Relationship Id="rId17" Type="http://schemas.openxmlformats.org/officeDocument/2006/relationships/hyperlink" Target="https://doi.org/10.1146/annurev-neuro-070815-013913" TargetMode="External" /><Relationship Id="rId18" Type="http://schemas.openxmlformats.org/officeDocument/2006/relationships/hyperlink" Target="https://www.ncbi.nlm.nih.gov/books/NBK11015/" TargetMode="External" /><Relationship Id="rId19" Type="http://schemas.openxmlformats.org/officeDocument/2006/relationships/hyperlink" Target="https://quoteinvestigator.com/2013/09/16/do-be-do/" TargetMode="External" /><Relationship Id="rId20" Type="http://schemas.openxmlformats.org/officeDocument/2006/relationships/hyperlink" Target="https://www.youtube.com/watch?v=hdcTmpvDO0I" TargetMode="External" /><Relationship Id="rId21" Type="http://schemas.openxmlformats.org/officeDocument/2006/relationships/hyperlink" Target="https://doi.org/10.1523/JNEUROSCI.2424-16.2016" TargetMode="External" /><Relationship Id="rId22" Type="http://schemas.openxmlformats.org/officeDocument/2006/relationships/hyperlink" Target="https://www.youtube.com/watch?v=CG5n516PCXM" TargetMode="External" /><Relationship Id="rId23" Type="http://schemas.openxmlformats.org/officeDocument/2006/relationships/hyperlink" Target="https://www.youtube.com/watch?v=4X4Fy8YqysY" TargetMode="External" /><Relationship Id="rId24" Type="http://schemas.openxmlformats.org/officeDocument/2006/relationships/hyperlink" Target="https://en.wikipedia.org/wiki/Nerve_conduction_velocity" TargetMode="External" /><Relationship Id="rId25" Type="http://schemas.openxmlformats.org/officeDocument/2006/relationships/hyperlink" Target="https://en.wikipedia.org/wiki/Saccade" TargetMode="External" /><Relationship Id="rId26" Type="http://schemas.openxmlformats.org/officeDocument/2006/relationships/hyperlink" Target="https://en.wikipedia.org/wiki/Articulatory_phonetics" TargetMode="External" /><Relationship Id="rId27" Type="http://schemas.openxmlformats.org/officeDocument/2006/relationships/hyperlink" Target="https://www.youtube.com/watch?v=7s0CpRfyYp8" TargetMode="External" /><Relationship Id="rId28" Type="http://schemas.openxmlformats.org/officeDocument/2006/relationships/hyperlink" Target="https://doi.org/10.1523/JNEUROSCI.0746-22.2022" TargetMode="External" /><Relationship Id="rId29" Type="http://schemas.openxmlformats.org/officeDocument/2006/relationships/hyperlink" Target="https://doi.org/10.1016/j.neuron.2025.11.004" TargetMode="External" /><Relationship Id="rId30" Type="http://schemas.openxmlformats.org/officeDocument/2006/relationships/hyperlink" Target="https://www.youtube.com/watch?v=DJLmVSeZ5-c"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Action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PSY 511.001 Spr 2026</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Overview</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Prelude</a:t>
            </a:r>
          </a:p>
        </p:txBody>
      </p:sp>
      <p:sp>
        <p:nvSpPr>
          <p:cNvPr id="3" name="Content Placeholder 2"/>
          <p:cNvSpPr>
            <a:spLocks noGrp="1"/>
          </p:cNvSpPr>
          <p:nvPr>
            <p:ph idx="1"/>
          </p:nvPr>
        </p:nvSpPr>
        <p:spPr/>
        <p:txBody>
          <a:bodyPr/>
          <a:lstStyle/>
          <a:p>
            <a:pPr lvl="0" indent="0" marL="0">
              <a:buNone/>
            </a:pPr>
            <a:r>
              <a:rPr>
                <a:hlinkClick r:id="rId2"/>
              </a:rPr>
              <a:t>https://www.youtube.com/watch?v=hdcTmpvDO0I</a:t>
            </a:r>
          </a:p>
          <a:p>
            <a:pPr lvl="0" indent="0" marL="0">
              <a:buNone/>
            </a:pPr>
            <a:r>
              <a:rPr/>
              <a:t>– Reviews (2012)</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Announcements</a:t>
            </a:r>
          </a:p>
        </p:txBody>
      </p:sp>
      <p:sp>
        <p:nvSpPr>
          <p:cNvPr id="3" name="Content Placeholder 2"/>
          <p:cNvSpPr>
            <a:spLocks noGrp="1"/>
          </p:cNvSpPr>
          <p:nvPr>
            <p:ph idx="1"/>
          </p:nvPr>
        </p:nvSpPr>
        <p:spPr/>
        <p:txBody>
          <a:bodyPr/>
          <a:lstStyle/>
          <a:p>
            <a:pPr lvl="0"/>
            <a:r>
              <a:rPr/>
              <a:t>Exercise ANAT due </a:t>
            </a:r>
            <a:r>
              <a:rPr b="1"/>
              <a:t>today</a:t>
            </a:r>
            <a:r>
              <a:rPr/>
              <a:t>.</a:t>
            </a:r>
          </a:p>
          <a:p>
            <a:pPr lvl="1"/>
            <a:r>
              <a:rPr>
                <a:hlinkClick r:id="rId2"/>
              </a:rPr>
              <a:t>Canvas dropbox</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Today’s topics</a:t>
            </a:r>
          </a:p>
        </p:txBody>
      </p:sp>
      <p:sp>
        <p:nvSpPr>
          <p:cNvPr id="3" name="Content Placeholder 2"/>
          <p:cNvSpPr>
            <a:spLocks noGrp="1"/>
          </p:cNvSpPr>
          <p:nvPr>
            <p:ph idx="1"/>
          </p:nvPr>
        </p:nvSpPr>
        <p:spPr/>
        <p:txBody>
          <a:bodyPr/>
          <a:lstStyle/>
          <a:p>
            <a:pPr lvl="0"/>
            <a:r>
              <a:rPr/>
              <a:t>On action</a:t>
            </a:r>
          </a:p>
          <a:p>
            <a:pPr lvl="0"/>
            <a:r>
              <a:rPr/>
              <a:t>How muscles work</a:t>
            </a:r>
          </a:p>
          <a:p>
            <a:pPr lvl="0"/>
            <a:r>
              <a:rPr/>
              <a:t>Controlling muscles</a:t>
            </a:r>
          </a:p>
          <a:p>
            <a:pPr lvl="0"/>
            <a:r>
              <a:rPr/>
              <a:t>Illustrative motor systems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Warm-up</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amygadala is found deep within which lobe of the cerebral cortex?</a:t>
            </a:r>
          </a:p>
          <a:p>
            <a:pPr lvl="0"/>
            <a:r>
              <a:rPr/>
              <a:t>A. The occipital lobe</a:t>
            </a:r>
          </a:p>
          <a:p>
            <a:pPr lvl="0"/>
            <a:r>
              <a:rPr/>
              <a:t>B. The frontal lobe</a:t>
            </a:r>
          </a:p>
          <a:p>
            <a:pPr lvl="0"/>
            <a:r>
              <a:rPr/>
              <a:t>C. The insula</a:t>
            </a:r>
          </a:p>
          <a:p>
            <a:pPr lvl="0"/>
            <a:r>
              <a:rPr/>
              <a:t>D. The temporal lobe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amygadala is found deep within which lobe of the cerebral cortex?</a:t>
            </a:r>
          </a:p>
          <a:p>
            <a:pPr lvl="0"/>
            <a:r>
              <a:rPr strike="sngStrike"/>
              <a:t>A. The occipital lobe</a:t>
            </a:r>
          </a:p>
          <a:p>
            <a:pPr lvl="0"/>
            <a:r>
              <a:rPr strike="sngStrike"/>
              <a:t>B. The frontal lobe</a:t>
            </a:r>
          </a:p>
          <a:p>
            <a:pPr lvl="0"/>
            <a:r>
              <a:rPr strike="sngStrike"/>
              <a:t>C. The insula</a:t>
            </a:r>
          </a:p>
          <a:p>
            <a:pPr lvl="0"/>
            <a:r>
              <a:rPr b="1"/>
              <a:t>D. The temporal lobe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www.frontiersin.org/files/Articles/31697/fpsyg-03-00319-HTML/image_m/fpsyg-03-00319-g002.jpg" id="0" name="Picture 1"/>
          <p:cNvPicPr>
            <a:picLocks noGrp="1" noChangeAspect="1"/>
          </p:cNvPicPr>
          <p:nvPr/>
        </p:nvPicPr>
        <p:blipFill>
          <a:blip r:embed="rId2"/>
          <a:stretch>
            <a:fillRect/>
          </a:stretch>
        </p:blipFill>
        <p:spPr bwMode="auto">
          <a:xfrm>
            <a:off x="2514600" y="1193800"/>
            <a:ext cx="4114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Cassidy2012-ue Figure 2</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The middle image in A. depicts what plane of section?</a:t>
            </a:r>
          </a:p>
          <a:p>
            <a:pPr lvl="0"/>
            <a:r>
              <a:rPr/>
              <a:t>A. Sagittal</a:t>
            </a:r>
          </a:p>
          <a:p>
            <a:pPr lvl="0"/>
            <a:r>
              <a:rPr/>
              <a:t>B. Dorsal</a:t>
            </a:r>
          </a:p>
          <a:p>
            <a:pPr lvl="0"/>
            <a:r>
              <a:rPr/>
              <a:t>C. Coronal</a:t>
            </a:r>
          </a:p>
          <a:p>
            <a:pPr lvl="0"/>
            <a:r>
              <a:rPr/>
              <a:t>D. Horizontal</a:t>
            </a:r>
          </a:p>
        </p:txBody>
      </p:sp>
      <p:pic>
        <p:nvPicPr>
          <p:cNvPr descr="http://www.frontiersin.org/files/Articles/31697/fpsyg-03-00319-HTML/image_m/fpsyg-03-00319-g002.jpg" id="0" name="Picture 1"/>
          <p:cNvPicPr>
            <a:picLocks noGrp="1" noChangeAspect="1"/>
          </p:cNvPicPr>
          <p:nvPr/>
        </p:nvPicPr>
        <p:blipFill>
          <a:blip r:embed="rId2"/>
          <a:stretch>
            <a:fillRect/>
          </a:stretch>
        </p:blipFill>
        <p:spPr bwMode="auto">
          <a:xfrm>
            <a:off x="4648200" y="1219200"/>
            <a:ext cx="4038600" cy="28321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Cassidy2012-ue Figure 2</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The middle image in A. depicts what plane of section?</a:t>
            </a:r>
          </a:p>
          <a:p>
            <a:pPr lvl="0"/>
            <a:r>
              <a:rPr strike="sngStrike"/>
              <a:t>A. Sagittal</a:t>
            </a:r>
          </a:p>
          <a:p>
            <a:pPr lvl="0"/>
            <a:r>
              <a:rPr strike="sngStrike"/>
              <a:t>B. Dorsal</a:t>
            </a:r>
          </a:p>
          <a:p>
            <a:pPr lvl="0"/>
            <a:r>
              <a:rPr/>
              <a:t>C. Coronal</a:t>
            </a:r>
          </a:p>
          <a:p>
            <a:pPr lvl="0"/>
            <a:r>
              <a:rPr strike="sngStrike"/>
              <a:t>D. Horizontal</a:t>
            </a:r>
          </a:p>
        </p:txBody>
      </p:sp>
      <p:pic>
        <p:nvPicPr>
          <p:cNvPr descr="http://www.frontiersin.org/files/Articles/31697/fpsyg-03-00319-HTML/image_m/fpsyg-03-00319-g002.jpg" id="0" name="Picture 1"/>
          <p:cNvPicPr>
            <a:picLocks noGrp="1" noChangeAspect="1"/>
          </p:cNvPicPr>
          <p:nvPr/>
        </p:nvPicPr>
        <p:blipFill>
          <a:blip r:embed="rId2"/>
          <a:stretch>
            <a:fillRect/>
          </a:stretch>
        </p:blipFill>
        <p:spPr bwMode="auto">
          <a:xfrm>
            <a:off x="4648200" y="1219200"/>
            <a:ext cx="4038600" cy="28321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Cassidy2012-ue Figure 2</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www.scienceteacherprogram.org/biology/chillemistudentguide1-06/brain_directions_planes_sections__directions_-_small.gif" id="0" name="Picture 1"/>
          <p:cNvPicPr>
            <a:picLocks noGrp="1" noChangeAspect="1"/>
          </p:cNvPicPr>
          <p:nvPr/>
        </p:nvPicPr>
        <p:blipFill>
          <a:blip r:embed="rId2"/>
          <a:stretch>
            <a:fillRect/>
          </a:stretch>
        </p:blipFill>
        <p:spPr bwMode="auto">
          <a:xfrm>
            <a:off x="2616200" y="1193800"/>
            <a:ext cx="3911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Planes of section from http://www.scienceteacherprogram.org/</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Which division of the peripheral nervous system (PNS) ennervates the gastrointestinal tract?</a:t>
            </a:r>
          </a:p>
          <a:p>
            <a:pPr lvl="0"/>
            <a:r>
              <a:rPr/>
              <a:t>A. Enteric</a:t>
            </a:r>
          </a:p>
          <a:p>
            <a:pPr lvl="0"/>
            <a:r>
              <a:rPr/>
              <a:t>B. Cerebellum</a:t>
            </a:r>
          </a:p>
          <a:p>
            <a:pPr lvl="0"/>
            <a:r>
              <a:rPr/>
              <a:t>C. Sympathetic</a:t>
            </a:r>
          </a:p>
          <a:p>
            <a:pPr lvl="0"/>
            <a:r>
              <a:rPr/>
              <a:t>D. Parasympathetic</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Which division of the peripheral nervous system (PNS) ennervates the gastrointestinal tract?</a:t>
            </a:r>
          </a:p>
          <a:p>
            <a:pPr lvl="0"/>
            <a:r>
              <a:rPr b="1"/>
              <a:t>A. Enteric</a:t>
            </a:r>
          </a:p>
          <a:p>
            <a:pPr lvl="0"/>
            <a:r>
              <a:rPr strike="sngStrike"/>
              <a:t>B. Cerebellum</a:t>
            </a:r>
          </a:p>
          <a:p>
            <a:pPr lvl="0"/>
            <a:r>
              <a:rPr strike="sngStrike"/>
              <a:t>C. Sympathetic</a:t>
            </a:r>
          </a:p>
          <a:p>
            <a:pPr lvl="0"/>
            <a:r>
              <a:rPr strike="sngStrike"/>
              <a:t>D. Parasympathetic</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On action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start with action?</a:t>
            </a:r>
          </a:p>
        </p:txBody>
      </p:sp>
      <p:sp>
        <p:nvSpPr>
          <p:cNvPr id="3" name="Content Placeholder 2"/>
          <p:cNvSpPr>
            <a:spLocks noGrp="1"/>
          </p:cNvSpPr>
          <p:nvPr>
            <p:ph idx="1" sz="half"/>
          </p:nvPr>
        </p:nvSpPr>
        <p:spPr/>
        <p:txBody>
          <a:bodyPr/>
          <a:lstStyle/>
          <a:p>
            <a:pPr lvl="0" indent="0" marL="1270000">
              <a:buNone/>
            </a:pPr>
            <a:r>
              <a:rPr sz="2000"/>
              <a:t>The way to do is to be.</a:t>
            </a:r>
          </a:p>
          <a:p>
            <a:pPr lvl="0" indent="0" marL="0">
              <a:buNone/>
            </a:pPr>
            <a:r>
              <a:rPr/>
              <a:t>– Laozi (老子), Chinese philosopher</a:t>
            </a:r>
          </a:p>
        </p:txBody>
      </p:sp>
      <p:pic>
        <p:nvPicPr>
          <p:cNvPr descr="https://upload.wikimedia.org/wikipedia/commons/3/3a/Lao_Tzu_-_Project_Gutenberg_eText_15250.jpg" id="0" name="Picture 1"/>
          <p:cNvPicPr>
            <a:picLocks noGrp="1" noChangeAspect="1"/>
          </p:cNvPicPr>
          <p:nvPr/>
        </p:nvPicPr>
        <p:blipFill>
          <a:blip r:embed="rId2"/>
          <a:stretch>
            <a:fillRect/>
          </a:stretch>
        </p:blipFill>
        <p:spPr bwMode="auto">
          <a:xfrm>
            <a:off x="4648200" y="1549400"/>
            <a:ext cx="4038600" cy="26924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The way to be is to do.</a:t>
            </a:r>
          </a:p>
          <a:p>
            <a:pPr lvl="0" indent="0" marL="0">
              <a:buNone/>
            </a:pPr>
            <a:r>
              <a:rPr/>
              <a:t>– Dale Carnegie</a:t>
            </a:r>
          </a:p>
          <a:p>
            <a:pPr lvl="0" indent="0" marL="0">
              <a:buNone/>
            </a:pPr>
          </a:p>
          <a:p>
            <a:pPr lvl="0" indent="0" marL="0">
              <a:buNone/>
            </a:pPr>
            <a:r>
              <a:rPr/>
              <a:t>“Quote origin” (n.d.)</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1270000">
              <a:buNone/>
            </a:pPr>
            <a:r>
              <a:rPr sz="2000"/>
              <a:t>Do be, do be, do.</a:t>
            </a:r>
          </a:p>
          <a:p>
            <a:pPr lvl="0" indent="0" marL="0">
              <a:buNone/>
            </a:pPr>
            <a:r>
              <a:rPr/>
              <a:t>– Frank Sinatra</a:t>
            </a:r>
          </a:p>
        </p:txBody>
      </p:sp>
      <p:pic>
        <p:nvPicPr>
          <p:cNvPr descr="https://upload.wikimedia.org/wikipedia/commons/thumb/e/e3/Frank_Sinatra_%281957_studio_portrait_close-up%29.jpg/500px-Frank_Sinatra_%281957_studio_portrait_close-up%29.jpg" id="0" name="Picture 1"/>
          <p:cNvPicPr>
            <a:picLocks noGrp="1" noChangeAspect="1"/>
          </p:cNvPicPr>
          <p:nvPr/>
        </p:nvPicPr>
        <p:blipFill>
          <a:blip r:embed="rId2"/>
          <a:stretch>
            <a:fillRect/>
          </a:stretch>
        </p:blipFill>
        <p:spPr bwMode="auto">
          <a:xfrm>
            <a:off x="4648200" y="1549400"/>
            <a:ext cx="4038600" cy="26924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“Quote origin” (n.d.)</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Animals are </a:t>
            </a:r>
            <a:r>
              <a:rPr i="1"/>
              <a:t>animate</a:t>
            </a:r>
          </a:p>
        </p:txBody>
      </p:sp>
      <mc:AlternateContent xmlns:mc="http://schemas.openxmlformats.org/markup-compatibility/2006">
        <mc:Choice xmlns:a14="http://schemas.microsoft.com/office/drawing/2010/main" Requires="a14">
          <p:sp>
            <p:nvSpPr>
              <p:cNvPr id="3" name="Text Placeholder 2"/>
              <p:cNvSpPr>
                <a:spLocks noGrp="1"/>
              </p:cNvSpPr>
              <p:nvPr>
                <p:ph idx="1" type="body"/>
              </p:nvPr>
            </p:nvSpPr>
            <p:spPr/>
            <p:txBody>
              <a:bodyPr/>
              <a:lstStyle/>
              <a:p>
                <a:pPr lvl="0"/>
                <a:r>
                  <a:rPr/>
                  <a:t>Actions influence</a:t>
                </a:r>
              </a:p>
              <a:p>
                <a:pPr lvl="1"/>
                <a:r>
                  <a:rPr/>
                  <a:t>The external world, </a:t>
                </a:r>
                <a14:m>
                  <m:oMath xmlns:m="http://schemas.openxmlformats.org/officeDocument/2006/math">
                    <m:r>
                      <m:t>W</m:t>
                    </m:r>
                  </m:oMath>
                </a14:m>
              </a:p>
              <a:p>
                <a:pPr lvl="1"/>
                <a:r>
                  <a:rPr/>
                  <a:t>Their own bodies, </a:t>
                </a:r>
                <a14:m>
                  <m:oMath xmlns:m="http://schemas.openxmlformats.org/officeDocument/2006/math">
                    <m:r>
                      <m:t>B</m:t>
                    </m:r>
                  </m:oMath>
                </a14:m>
              </a:p>
            </p:txBody>
          </p:sp>
        </mc:Choice>
      </mc:AlternateContent>
      <p:sp>
        <p:nvSpPr>
          <p:cNvPr id="5" name="Text Placeholder 4"/>
          <p:cNvSpPr>
            <a:spLocks noGrp="1"/>
          </p:cNvSpPr>
          <p:nvPr>
            <p:ph idx="3" sz="quarter" type="body"/>
          </p:nvPr>
        </p:nvSpPr>
        <p:spPr/>
        <p:txBody>
          <a:bodyPr/>
          <a:lstStyle/>
          <a:p>
            <a:pPr lvl="0" indent="0" marL="0">
              <a:buNone/>
            </a:pPr>
          </a:p>
        </p:txBody>
      </p:sp>
      <p:pic>
        <p:nvPicPr>
          <p:cNvPr descr="wk-03-2026-01-29-action_files/figure-pptx/mermaid-figure-1.png" id="0" name="Picture 1"/>
          <p:cNvPicPr>
            <a:picLocks noGrp="1" noChangeAspect="1"/>
          </p:cNvPicPr>
          <p:nvPr/>
        </p:nvPicPr>
        <p:blipFill>
          <a:blip r:embed="rId2"/>
          <a:stretch>
            <a:fillRect/>
          </a:stretch>
        </p:blipFill>
        <p:spPr bwMode="auto">
          <a:xfrm>
            <a:off x="5651500" y="1625600"/>
            <a:ext cx="2006600" cy="29591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Animal movement a function of</a:t>
            </a:r>
          </a:p>
        </p:txBody>
      </p:sp>
      <p:sp>
        <p:nvSpPr>
          <p:cNvPr id="3" name="Content Placeholder 2"/>
          <p:cNvSpPr>
            <a:spLocks noGrp="1"/>
          </p:cNvSpPr>
          <p:nvPr>
            <p:ph idx="1"/>
          </p:nvPr>
        </p:nvSpPr>
        <p:spPr/>
        <p:txBody>
          <a:bodyPr/>
          <a:lstStyle/>
          <a:p>
            <a:pPr lvl="0"/>
            <a:r>
              <a:rPr/>
              <a:t>Physics</a:t>
            </a:r>
          </a:p>
          <a:p>
            <a:pPr lvl="0"/>
            <a:r>
              <a:rPr/>
              <a:t>Biology</a:t>
            </a:r>
          </a:p>
          <a:p>
            <a:pPr lvl="0"/>
            <a:r>
              <a:rPr/>
              <a:t>Psychology</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Movement one result of nervous system output</a:t>
            </a:r>
          </a:p>
        </p:txBody>
      </p:sp>
      <p:sp>
        <p:nvSpPr>
          <p:cNvPr id="3" name="Content Placeholder 2"/>
          <p:cNvSpPr>
            <a:spLocks noGrp="1"/>
          </p:cNvSpPr>
          <p:nvPr>
            <p:ph idx="1" sz="half"/>
          </p:nvPr>
        </p:nvSpPr>
        <p:spPr/>
        <p:txBody>
          <a:bodyPr/>
          <a:lstStyle/>
          <a:p>
            <a:pPr lvl="0"/>
            <a:r>
              <a:rPr/>
              <a:t>Nervous system </a:t>
            </a:r>
            <a:r>
              <a:rPr i="1"/>
              <a:t>outputs</a:t>
            </a:r>
          </a:p>
          <a:p>
            <a:pPr lvl="1"/>
            <a:r>
              <a:rPr/>
              <a:t>Autonomic</a:t>
            </a:r>
          </a:p>
          <a:p>
            <a:pPr lvl="1"/>
            <a:r>
              <a:rPr/>
              <a:t>Endocrine</a:t>
            </a:r>
          </a:p>
          <a:p>
            <a:pPr lvl="1"/>
            <a:r>
              <a:rPr/>
              <a:t>Somatic</a:t>
            </a:r>
          </a:p>
        </p:txBody>
      </p:sp>
      <p:pic>
        <p:nvPicPr>
          <p:cNvPr descr="wk-03-2026-01-29-action_files/figure-pptx/mermaid-figure-7.png" id="0" name="Picture 1"/>
          <p:cNvPicPr>
            <a:picLocks noGrp="1" noChangeAspect="1"/>
          </p:cNvPicPr>
          <p:nvPr/>
        </p:nvPicPr>
        <p:blipFill>
          <a:blip r:embed="rId2"/>
          <a:stretch>
            <a:fillRect/>
          </a:stretch>
        </p:blipFill>
        <p:spPr bwMode="auto">
          <a:xfrm>
            <a:off x="4648200" y="1333500"/>
            <a:ext cx="4038600" cy="31115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Nervous system </a:t>
            </a:r>
            <a:r>
              <a:rPr i="1"/>
              <a:t>inputs</a:t>
            </a:r>
            <a:r>
              <a:rPr/>
              <a:t> fall into two broad classes</a:t>
            </a:r>
          </a:p>
          <a:p>
            <a:pPr lvl="1"/>
            <a:r>
              <a:rPr/>
              <a:t>Exteroceptive (outside the body)</a:t>
            </a:r>
          </a:p>
          <a:p>
            <a:pPr lvl="1"/>
            <a:r>
              <a:rPr/>
              <a:t>Interoceptive</a:t>
            </a:r>
          </a:p>
        </p:txBody>
      </p:sp>
      <p:pic>
        <p:nvPicPr>
          <p:cNvPr descr="wk-03-2026-01-29-action_files/figure-pptx/mermaid-figure-6.png" id="0" name="Picture 1"/>
          <p:cNvPicPr>
            <a:picLocks noGrp="1" noChangeAspect="1"/>
          </p:cNvPicPr>
          <p:nvPr/>
        </p:nvPicPr>
        <p:blipFill>
          <a:blip r:embed="rId2"/>
          <a:stretch>
            <a:fillRect/>
          </a:stretch>
        </p:blipFill>
        <p:spPr bwMode="auto">
          <a:xfrm>
            <a:off x="5080000" y="1193800"/>
            <a:ext cx="31877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Schematic of input and output flows</a:t>
            </a:r>
          </a:p>
        </p:txBody>
      </p:sp>
      <p:pic>
        <p:nvPicPr>
          <p:cNvPr descr="wk-03-2026-01-29-action_files/figure-pptx/mermaid-figure-5.png" id="0" name="Picture 1"/>
          <p:cNvPicPr>
            <a:picLocks noGrp="1" noChangeAspect="1"/>
          </p:cNvPicPr>
          <p:nvPr/>
        </p:nvPicPr>
        <p:blipFill>
          <a:blip r:embed="rId2"/>
          <a:stretch>
            <a:fillRect/>
          </a:stretch>
        </p:blipFill>
        <p:spPr bwMode="auto">
          <a:xfrm>
            <a:off x="3581400" y="203200"/>
            <a:ext cx="5092700" cy="43815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Schematic of information flows into and out of the nervous system.</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wcs1525-fig-0003-m.jpg" id="0" name="Picture 1"/>
          <p:cNvPicPr>
            <a:picLocks noGrp="1" noChangeAspect="1"/>
          </p:cNvPicPr>
          <p:nvPr/>
        </p:nvPicPr>
        <p:blipFill>
          <a:blip r:embed="rId2"/>
          <a:stretch>
            <a:fillRect/>
          </a:stretch>
        </p:blipFill>
        <p:spPr bwMode="auto">
          <a:xfrm>
            <a:off x="3670300" y="1193800"/>
            <a:ext cx="1816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Favela (2020) Figure 3</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Evolutionary perspective</a:t>
            </a:r>
          </a:p>
        </p:txBody>
      </p:sp>
      <p:sp>
        <p:nvSpPr>
          <p:cNvPr id="3" name="Content Placeholder 2"/>
          <p:cNvSpPr>
            <a:spLocks noGrp="1"/>
          </p:cNvSpPr>
          <p:nvPr>
            <p:ph idx="1"/>
          </p:nvPr>
        </p:nvSpPr>
        <p:spPr/>
        <p:txBody>
          <a:bodyPr/>
          <a:lstStyle/>
          <a:p>
            <a:pPr lvl="0"/>
            <a:r>
              <a:rPr/>
              <a:t>What actions must animals perform?</a:t>
            </a:r>
          </a:p>
          <a:p>
            <a:pPr lvl="1"/>
            <a:r>
              <a:rPr/>
              <a:t>Live long enough to reproduce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Live long enough…</a:t>
            </a:r>
          </a:p>
          <a:p>
            <a:pPr lvl="1"/>
            <a:r>
              <a:rPr/>
              <a:t>Avoid injury &amp; predation</a:t>
            </a:r>
          </a:p>
          <a:p>
            <a:pPr lvl="1"/>
            <a:r>
              <a:rPr/>
              <a:t>Secure sustenance</a:t>
            </a:r>
          </a:p>
          <a:p>
            <a:pPr lvl="1"/>
            <a:r>
              <a:rPr/>
              <a:t>Maintain health</a:t>
            </a:r>
          </a:p>
          <a:p>
            <a:pPr lvl="0"/>
            <a:r>
              <a:rPr/>
              <a:t>Reproduce…</a:t>
            </a:r>
          </a:p>
          <a:p>
            <a:pPr lvl="1"/>
            <a:r>
              <a:rPr/>
              <a:t>Find a mate</a:t>
            </a:r>
          </a:p>
          <a:p>
            <a:pPr lvl="1"/>
            <a:r>
              <a:rPr/>
              <a:t>Mate</a:t>
            </a:r>
          </a:p>
          <a:p>
            <a:pPr lvl="1"/>
            <a:r>
              <a:rPr/>
              <a:t>Ensure the well-being of offspring</a:t>
            </a:r>
          </a:p>
          <a:p>
            <a:pPr lvl="0"/>
            <a:r>
              <a:rPr/>
              <a:t>In other words…</a:t>
            </a:r>
            <a:r>
              <a:rPr i="1"/>
              <a:t>behave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Movement is the real reason for brains</a:t>
            </a:r>
          </a:p>
        </p:txBody>
      </p:sp>
      <p:sp>
        <p:nvSpPr>
          <p:cNvPr id="3" name="Content Placeholder 2"/>
          <p:cNvSpPr>
            <a:spLocks noGrp="1"/>
          </p:cNvSpPr>
          <p:nvPr>
            <p:ph idx="1"/>
          </p:nvPr>
        </p:nvSpPr>
        <p:spPr/>
        <p:txBody>
          <a:bodyPr/>
          <a:lstStyle/>
          <a:p>
            <a:pPr lvl="0" indent="0" marL="0">
              <a:buNone/>
            </a:pPr>
            <a:r>
              <a:rPr>
                <a:hlinkClick r:id="rId2"/>
              </a:rPr>
              <a:t>https://www.youtube.com/watch?v=7s0CpRfyYp8</a:t>
            </a:r>
          </a:p>
          <a:p>
            <a:pPr lvl="0" indent="0" marL="0">
              <a:buNone/>
            </a:pPr>
            <a:r>
              <a:rPr/>
              <a:t>– Wolpert (2011)</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Classes of behavior</a:t>
            </a:r>
          </a:p>
        </p:txBody>
      </p:sp>
      <p:sp>
        <p:nvSpPr>
          <p:cNvPr id="3" name="Content Placeholder 2"/>
          <p:cNvSpPr>
            <a:spLocks noGrp="1"/>
          </p:cNvSpPr>
          <p:nvPr>
            <p:ph idx="1" sz="half"/>
          </p:nvPr>
        </p:nvSpPr>
        <p:spPr/>
        <p:txBody>
          <a:bodyPr/>
          <a:lstStyle/>
          <a:p>
            <a:pPr lvl="0"/>
            <a:r>
              <a:rPr/>
              <a:t>Orienting, info gathering</a:t>
            </a:r>
          </a:p>
          <a:p>
            <a:pPr lvl="0"/>
            <a:r>
              <a:rPr/>
              <a:t>Maintaining balance</a:t>
            </a:r>
          </a:p>
          <a:p>
            <a:pPr lvl="0"/>
            <a:r>
              <a:rPr/>
              <a:t>Reaching, grasping, &amp; manipulation</a:t>
            </a:r>
          </a:p>
          <a:p>
            <a:pPr lvl="0"/>
            <a:r>
              <a:rPr/>
              <a:t>Locomotion</a:t>
            </a:r>
          </a:p>
        </p:txBody>
      </p:sp>
      <p:sp>
        <p:nvSpPr>
          <p:cNvPr id="4" name="Content Placeholder 3"/>
          <p:cNvSpPr>
            <a:spLocks noGrp="1"/>
          </p:cNvSpPr>
          <p:nvPr>
            <p:ph idx="2" sz="half"/>
          </p:nvPr>
        </p:nvSpPr>
        <p:spPr/>
        <p:txBody>
          <a:bodyPr/>
          <a:lstStyle/>
          <a:p>
            <a:pPr lvl="0"/>
            <a:r>
              <a:rPr/>
              <a:t>Communication</a:t>
            </a:r>
          </a:p>
          <a:p>
            <a:pPr lvl="0"/>
            <a:r>
              <a:rPr/>
              <a:t>Mating &amp; caregiving</a:t>
            </a:r>
          </a:p>
          <a:p>
            <a:pPr lvl="0"/>
            <a:r>
              <a:rPr/>
              <a:t>Ingestion &amp; elimination</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Orienting, info gathering</a:t>
            </a:r>
          </a:p>
        </p:txBody>
      </p:sp>
      <p:sp>
        <p:nvSpPr>
          <p:cNvPr id="3" name="Content Placeholder 2"/>
          <p:cNvSpPr>
            <a:spLocks noGrp="1"/>
          </p:cNvSpPr>
          <p:nvPr>
            <p:ph idx="1"/>
          </p:nvPr>
        </p:nvSpPr>
        <p:spPr/>
        <p:txBody>
          <a:bodyPr/>
          <a:lstStyle/>
          <a:p>
            <a:pPr lvl="0"/>
            <a:r>
              <a:rPr/>
              <a:t>Eye movements</a:t>
            </a:r>
          </a:p>
          <a:p>
            <a:pPr lvl="0"/>
            <a:r>
              <a:rPr/>
              <a:t>Head movements</a:t>
            </a:r>
          </a:p>
          <a:p>
            <a:pPr lvl="0"/>
            <a:r>
              <a:rPr/>
              <a:t>Active touch</a:t>
            </a:r>
          </a:p>
          <a:p>
            <a:pPr lvl="0"/>
            <a:r>
              <a:rPr/>
              <a:t>Sniffing &amp; tasting</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Balance</a:t>
            </a:r>
          </a:p>
        </p:txBody>
      </p:sp>
      <p:sp>
        <p:nvSpPr>
          <p:cNvPr id="3" name="Content Placeholder 2"/>
          <p:cNvSpPr>
            <a:spLocks noGrp="1"/>
          </p:cNvSpPr>
          <p:nvPr>
            <p:ph idx="1"/>
          </p:nvPr>
        </p:nvSpPr>
        <p:spPr/>
        <p:txBody>
          <a:bodyPr/>
          <a:lstStyle/>
          <a:p>
            <a:pPr lvl="0"/>
            <a:r>
              <a:rPr/>
              <a:t>Cullen (2022);</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Reaching &amp; grasping</a:t>
            </a:r>
          </a:p>
        </p:txBody>
      </p:sp>
      <p:sp>
        <p:nvSpPr>
          <p:cNvPr id="3" name="Content Placeholder 2"/>
          <p:cNvSpPr>
            <a:spLocks noGrp="1"/>
          </p:cNvSpPr>
          <p:nvPr>
            <p:ph idx="1"/>
          </p:nvPr>
        </p:nvSpPr>
        <p:spPr/>
        <p:txBody>
          <a:bodyPr/>
          <a:lstStyle/>
          <a:p>
            <a:pPr lvl="0"/>
            <a:r>
              <a:rPr/>
              <a:t>Kim, Avraham, &amp; Ivry (2021); Di Caro, Cesari, Sala, &amp; Cattaneo (2025)</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Locomotion</a:t>
            </a:r>
          </a:p>
        </p:txBody>
      </p:sp>
      <p:sp>
        <p:nvSpPr>
          <p:cNvPr id="3" name="Content Placeholder 2"/>
          <p:cNvSpPr>
            <a:spLocks noGrp="1"/>
          </p:cNvSpPr>
          <p:nvPr>
            <p:ph idx="1"/>
          </p:nvPr>
        </p:nvSpPr>
        <p:spPr/>
        <p:txBody>
          <a:bodyPr/>
          <a:lstStyle/>
          <a:p>
            <a:pPr lvl="0"/>
            <a:r>
              <a:rPr/>
              <a:t>Purves et al. (2001); “Locomotion” (n.d.); Xing, Truccolo, &amp; Borton (2022)</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Communication</a:t>
            </a:r>
          </a:p>
        </p:txBody>
      </p:sp>
      <p:sp>
        <p:nvSpPr>
          <p:cNvPr id="3" name="Content Placeholder 2"/>
          <p:cNvSpPr>
            <a:spLocks noGrp="1"/>
          </p:cNvSpPr>
          <p:nvPr>
            <p:ph idx="1"/>
          </p:nvPr>
        </p:nvSpPr>
        <p:spPr/>
        <p:txBody>
          <a:bodyPr/>
          <a:lstStyle/>
          <a:p>
            <a:pPr lvl="0"/>
            <a:r>
              <a:rPr/>
              <a:t>Speech</a:t>
            </a:r>
          </a:p>
          <a:p>
            <a:pPr lvl="1"/>
            <a:r>
              <a:rPr/>
              <a:t>Khanna et al. (2024); Griffin (2024)</a:t>
            </a:r>
          </a:p>
          <a:p>
            <a:pPr lvl="1"/>
            <a:r>
              <a:rPr/>
              <a:t>Zada et al. (2025)</a:t>
            </a:r>
          </a:p>
          <a:p>
            <a:pPr lvl="0"/>
            <a:r>
              <a:rPr/>
              <a:t>Facial expression</a:t>
            </a:r>
          </a:p>
          <a:p>
            <a:pPr lvl="1"/>
            <a:r>
              <a:rPr/>
              <a:t>Bress &amp; Cascio (2024)</a:t>
            </a:r>
          </a:p>
          <a:p>
            <a:pPr lvl="0"/>
            <a:r>
              <a:rPr/>
              <a:t>Gesture</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How muscles work</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Muscles are machines that</a:t>
            </a:r>
          </a:p>
        </p:txBody>
      </p:sp>
      <p:sp>
        <p:nvSpPr>
          <p:cNvPr id="3" name="Content Placeholder 2"/>
          <p:cNvSpPr>
            <a:spLocks noGrp="1"/>
          </p:cNvSpPr>
          <p:nvPr>
            <p:ph idx="1" sz="half"/>
          </p:nvPr>
        </p:nvSpPr>
        <p:spPr/>
        <p:txBody>
          <a:bodyPr/>
          <a:lstStyle/>
          <a:p>
            <a:pPr lvl="0"/>
            <a:r>
              <a:rPr/>
              <a:t>Generate forces in one direction</a:t>
            </a:r>
          </a:p>
          <a:p>
            <a:pPr lvl="0"/>
            <a:r>
              <a:rPr/>
              <a:t>Involuntary</a:t>
            </a:r>
          </a:p>
          <a:p>
            <a:pPr lvl="1"/>
            <a:r>
              <a:rPr/>
              <a:t>Cardiac &amp; smooth</a:t>
            </a:r>
          </a:p>
          <a:p>
            <a:pPr lvl="0"/>
            <a:r>
              <a:rPr/>
              <a:t>Voluntary</a:t>
            </a:r>
          </a:p>
          <a:p>
            <a:pPr lvl="1"/>
            <a:r>
              <a:rPr/>
              <a:t>Striated</a:t>
            </a:r>
          </a:p>
          <a:p>
            <a:pPr lvl="1"/>
            <a:r>
              <a:rPr/>
              <a:t>Skeletal</a:t>
            </a:r>
          </a:p>
        </p:txBody>
      </p:sp>
      <p:pic>
        <p:nvPicPr>
          <p:cNvPr descr="http://graphics8.nytimes.com/images/2007/08/01/health/adam/19917.jpg" id="0" name="Picture 1"/>
          <p:cNvPicPr>
            <a:picLocks noGrp="1" noChangeAspect="1"/>
          </p:cNvPicPr>
          <p:nvPr/>
        </p:nvPicPr>
        <p:blipFill>
          <a:blip r:embed="rId2"/>
          <a:stretch>
            <a:fillRect/>
          </a:stretch>
        </p:blipFill>
        <p:spPr bwMode="auto">
          <a:xfrm>
            <a:off x="4648200" y="1270000"/>
            <a:ext cx="4038600" cy="32258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Functional classes</a:t>
            </a:r>
          </a:p>
        </p:txBody>
      </p:sp>
      <p:sp>
        <p:nvSpPr>
          <p:cNvPr id="3" name="Content Placeholder 2"/>
          <p:cNvSpPr>
            <a:spLocks noGrp="1"/>
          </p:cNvSpPr>
          <p:nvPr>
            <p:ph idx="1"/>
          </p:nvPr>
        </p:nvSpPr>
        <p:spPr/>
        <p:txBody>
          <a:bodyPr/>
          <a:lstStyle/>
          <a:p>
            <a:pPr lvl="0"/>
            <a:r>
              <a:rPr/>
              <a:t>Axial</a:t>
            </a:r>
          </a:p>
          <a:p>
            <a:pPr lvl="1"/>
            <a:r>
              <a:rPr/>
              <a:t>Trunk, neck, hips</a:t>
            </a:r>
          </a:p>
          <a:p>
            <a:pPr lvl="0"/>
            <a:r>
              <a:rPr/>
              <a:t>Proximal</a:t>
            </a:r>
          </a:p>
          <a:p>
            <a:pPr lvl="1"/>
            <a:r>
              <a:rPr/>
              <a:t>Shoulder/elbow, pelvis/knee</a:t>
            </a:r>
          </a:p>
          <a:p>
            <a:pPr lvl="0"/>
            <a:r>
              <a:rPr/>
              <a:t>Distal</a:t>
            </a:r>
          </a:p>
          <a:p>
            <a:pPr lvl="1"/>
            <a:r>
              <a:rPr/>
              <a:t>Hands/fingers, feet/toes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www.frontiersin.org/files/Articles/476718/fneur-10-00951-HTML/image_m/fneur-10-00951-g001.jpg" id="0" name="Picture 1"/>
          <p:cNvPicPr>
            <a:picLocks noGrp="1" noChangeAspect="1"/>
          </p:cNvPicPr>
          <p:nvPr/>
        </p:nvPicPr>
        <p:blipFill>
          <a:blip r:embed="rId2"/>
          <a:stretch>
            <a:fillRect/>
          </a:stretch>
        </p:blipFill>
        <p:spPr bwMode="auto">
          <a:xfrm>
            <a:off x="3022600" y="1193800"/>
            <a:ext cx="3086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(Cantú et al., 2019)</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Agonist/antagonist pairs</a:t>
            </a:r>
          </a:p>
        </p:txBody>
      </p:sp>
      <p:pic>
        <p:nvPicPr>
          <p:cNvPr descr="http://2.bp.blogspot.com/-TpOC4my_NBc/T0J-MhEv29I/AAAAAAAAF88/dYLv7QzFwmg/s1600/Hamstring-Quad4.jpg" id="0" name="Picture 1"/>
          <p:cNvPicPr>
            <a:picLocks noGrp="1" noChangeAspect="1"/>
          </p:cNvPicPr>
          <p:nvPr/>
        </p:nvPicPr>
        <p:blipFill>
          <a:blip r:embed="rId2"/>
          <a:stretch>
            <a:fillRect/>
          </a:stretch>
        </p:blipFill>
        <p:spPr bwMode="auto">
          <a:xfrm>
            <a:off x="3022600" y="1193800"/>
            <a:ext cx="3111500" cy="3390900"/>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skeletal muscles contract</a:t>
            </a:r>
          </a:p>
        </p:txBody>
      </p:sp>
      <p:sp>
        <p:nvSpPr>
          <p:cNvPr id="3" name="Content Placeholder 2"/>
          <p:cNvSpPr>
            <a:spLocks noGrp="1"/>
          </p:cNvSpPr>
          <p:nvPr>
            <p:ph idx="1"/>
          </p:nvPr>
        </p:nvSpPr>
        <p:spPr/>
        <p:txBody>
          <a:bodyPr/>
          <a:lstStyle/>
          <a:p>
            <a:pPr lvl="0"/>
            <a:r>
              <a:rPr/>
              <a:t>Motor neurons (cell bodies located in ventral horn of spinal cord)</a:t>
            </a:r>
          </a:p>
          <a:p>
            <a:pPr lvl="0"/>
            <a:r>
              <a:rPr/>
              <a:t>Project to muscle fiber(s)</a:t>
            </a:r>
          </a:p>
          <a:p>
            <a:pPr lvl="1"/>
            <a:r>
              <a:rPr/>
              <a:t>Motor neuron + muscle fibers = </a:t>
            </a:r>
            <a:r>
              <a:rPr i="1"/>
              <a:t>motor unit</a:t>
            </a:r>
          </a:p>
          <a:p>
            <a:pPr lvl="0"/>
            <a:r>
              <a:rPr/>
              <a:t>Form </a:t>
            </a:r>
            <a:r>
              <a:rPr i="1"/>
              <a:t>neuromuscular junction</a:t>
            </a:r>
          </a:p>
          <a:p>
            <a:pPr lvl="1"/>
            <a:r>
              <a:rPr/>
              <a:t>Synapse between motor neuron and muscle fiber</a:t>
            </a:r>
          </a:p>
          <a:p>
            <a:pPr lvl="1"/>
            <a:r>
              <a:rPr/>
              <a:t>Release acetylcholine (ACh)</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from-spinal-cord-to-muscle.jpg" id="0" name="Picture 1"/>
          <p:cNvPicPr>
            <a:picLocks noGrp="1" noChangeAspect="1"/>
          </p:cNvPicPr>
          <p:nvPr/>
        </p:nvPicPr>
        <p:blipFill>
          <a:blip r:embed="rId2"/>
          <a:stretch>
            <a:fillRect/>
          </a:stretch>
        </p:blipFill>
        <p:spPr bwMode="auto">
          <a:xfrm>
            <a:off x="3441700" y="1193800"/>
            <a:ext cx="2273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i="1"/>
              <a:t>Biological Psychology 4th ed.</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Skeletal muscle fiber types</a:t>
            </a:r>
          </a:p>
        </p:txBody>
      </p:sp>
      <p:sp>
        <p:nvSpPr>
          <p:cNvPr id="3" name="Content Placeholder 2"/>
          <p:cNvSpPr>
            <a:spLocks noGrp="1"/>
          </p:cNvSpPr>
          <p:nvPr>
            <p:ph idx="1" sz="half"/>
          </p:nvPr>
        </p:nvSpPr>
        <p:spPr/>
        <p:txBody>
          <a:bodyPr/>
          <a:lstStyle/>
          <a:p>
            <a:pPr lvl="0"/>
            <a:r>
              <a:rPr/>
              <a:t>Fast twitch/fatiguing</a:t>
            </a:r>
          </a:p>
          <a:p>
            <a:pPr lvl="1"/>
            <a:r>
              <a:rPr/>
              <a:t>Type II</a:t>
            </a:r>
          </a:p>
          <a:p>
            <a:pPr lvl="1"/>
            <a:r>
              <a:rPr/>
              <a:t>White meat</a:t>
            </a:r>
          </a:p>
          <a:p>
            <a:pPr lvl="0"/>
            <a:r>
              <a:rPr/>
              <a:t>Slow twitch/fatiguing</a:t>
            </a:r>
          </a:p>
          <a:p>
            <a:pPr lvl="1"/>
            <a:r>
              <a:rPr/>
              <a:t>Type I</a:t>
            </a:r>
          </a:p>
          <a:p>
            <a:pPr lvl="1"/>
            <a:r>
              <a:rPr/>
              <a:t>Red meat</a:t>
            </a:r>
          </a:p>
        </p:txBody>
      </p:sp>
      <p:pic>
        <p:nvPicPr>
          <p:cNvPr descr="../include/img/turkey.jpg" id="0" name="Picture 1"/>
          <p:cNvPicPr>
            <a:picLocks noGrp="1" noChangeAspect="1"/>
          </p:cNvPicPr>
          <p:nvPr/>
        </p:nvPicPr>
        <p:blipFill>
          <a:blip r:embed="rId2"/>
          <a:stretch>
            <a:fillRect/>
          </a:stretch>
        </p:blipFill>
        <p:spPr bwMode="auto">
          <a:xfrm>
            <a:off x="4648200" y="1308100"/>
            <a:ext cx="4038600" cy="31623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Muscles are sensory organs, too!</a:t>
            </a:r>
          </a:p>
        </p:txBody>
      </p:sp>
      <p:sp>
        <p:nvSpPr>
          <p:cNvPr id="3" name="Content Placeholder 2"/>
          <p:cNvSpPr>
            <a:spLocks noGrp="1"/>
          </p:cNvSpPr>
          <p:nvPr>
            <p:ph idx="1" sz="half"/>
          </p:nvPr>
        </p:nvSpPr>
        <p:spPr/>
        <p:txBody>
          <a:bodyPr/>
          <a:lstStyle/>
          <a:p>
            <a:pPr lvl="0"/>
            <a:r>
              <a:rPr/>
              <a:t>Extrafusal fibers generate force</a:t>
            </a:r>
          </a:p>
          <a:p>
            <a:pPr lvl="0"/>
            <a:r>
              <a:rPr/>
              <a:t>Intrafusal fibers contain stretch receptors</a:t>
            </a:r>
          </a:p>
          <a:p>
            <a:pPr lvl="1"/>
            <a:r>
              <a:rPr/>
              <a:t>Sense muscle length/tension</a:t>
            </a:r>
          </a:p>
        </p:txBody>
      </p:sp>
      <p:pic>
        <p:nvPicPr>
          <p:cNvPr descr="../include/img/muscle-fiber-types.jpg" id="0" name="Picture 1"/>
          <p:cNvPicPr>
            <a:picLocks noGrp="1" noChangeAspect="1"/>
          </p:cNvPicPr>
          <p:nvPr/>
        </p:nvPicPr>
        <p:blipFill>
          <a:blip r:embed="rId2"/>
          <a:stretch>
            <a:fillRect/>
          </a:stretch>
        </p:blipFill>
        <p:spPr bwMode="auto">
          <a:xfrm>
            <a:off x="4648200" y="1524000"/>
            <a:ext cx="4038600" cy="27432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Intrafusal fibers</a:t>
            </a:r>
          </a:p>
        </p:txBody>
      </p:sp>
      <p:sp>
        <p:nvSpPr>
          <p:cNvPr id="3" name="Content Placeholder 2"/>
          <p:cNvSpPr>
            <a:spLocks noGrp="1"/>
          </p:cNvSpPr>
          <p:nvPr>
            <p:ph idx="1"/>
          </p:nvPr>
        </p:nvSpPr>
        <p:spPr/>
        <p:txBody>
          <a:bodyPr/>
          <a:lstStyle/>
          <a:p>
            <a:pPr lvl="0"/>
            <a:r>
              <a:rPr/>
              <a:t>Sense muscle length and change in length, e.g. “stretch”</a:t>
            </a:r>
          </a:p>
          <a:p>
            <a:pPr lvl="0"/>
            <a:r>
              <a:rPr/>
              <a:t>Also called muscle spindles</a:t>
            </a:r>
          </a:p>
          <a:p>
            <a:pPr lvl="0"/>
            <a:r>
              <a:rPr/>
              <a:t>Provide muscle proprioception (perception about the self, a form of interoception)</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Intrafusal fibers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Muscle spindles are stretch receptors</a:t>
                </a:r>
              </a:p>
              <a:p>
                <a:pPr lvl="1"/>
                <a:r>
                  <a:rPr/>
                  <a:t>Ennervated by by primary Ia afferents (sensory output from muscle)</a:t>
                </a:r>
              </a:p>
              <a:p>
                <a:pPr lvl="1"/>
                <a:r>
                  <a:rPr/>
                  <a:t>Secondary Type II fibers</a:t>
                </a:r>
              </a:p>
              <a:p>
                <a:pPr lvl="0"/>
                <a:r>
                  <a:rPr/>
                  <a:t>Motor fiber</a:t>
                </a:r>
              </a:p>
              <a:p>
                <a:pPr lvl="1"/>
                <a:r>
                  <a:rPr/>
                  <a:t>Ennervated by gamma (</a:t>
                </a:r>
                <a14:m>
                  <m:oMath xmlns:m="http://schemas.openxmlformats.org/officeDocument/2006/math">
                    <m:r>
                      <m:t>γ</m:t>
                    </m:r>
                  </m:oMath>
                </a14:m>
                <a:r>
                  <a:rPr/>
                  <a:t>) motor neurons (motor input)</a:t>
                </a:r>
              </a:p>
            </p:txBody>
          </p:sp>
        </mc:Choice>
      </mc:AlternateContent>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Extrafusal fibers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Generate force</a:t>
                </a:r>
              </a:p>
              <a:p>
                <a:pPr lvl="0"/>
                <a:r>
                  <a:rPr/>
                  <a:t>Ennervated by alpha (</a:t>
                </a:r>
                <a14:m>
                  <m:oMath xmlns:m="http://schemas.openxmlformats.org/officeDocument/2006/math">
                    <m:r>
                      <m:t>α</m:t>
                    </m:r>
                  </m:oMath>
                </a14:m>
                <a:r>
                  <a:rPr/>
                  <a:t>) motor neurons</a:t>
                </a:r>
              </a:p>
            </p:txBody>
          </p:sp>
        </mc:Choice>
      </mc:AlternateContent>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Monosynaptic stretch (myotatic) reflex</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Muscle stretched (length increases)</a:t>
                </a:r>
              </a:p>
              <a:p>
                <a:pPr lvl="0"/>
                <a:r>
                  <a:rPr/>
                  <a:t>Muscle spindle in intrafusal fiber activates</a:t>
                </a:r>
              </a:p>
              <a:p>
                <a:pPr lvl="0"/>
                <a:r>
                  <a:rPr/>
                  <a:t>Ia afferent </a:t>
                </a:r>
                <a14:m>
                  <m:oMath xmlns:m="http://schemas.openxmlformats.org/officeDocument/2006/math">
                    <m:r>
                      <m:rPr>
                        <m:sty m:val="p"/>
                      </m:rPr>
                      <m:t>→</m:t>
                    </m:r>
                  </m:oMath>
                </a14:m>
                <a:r>
                  <a:rPr/>
                  <a:t> spinal cord</a:t>
                </a:r>
              </a:p>
              <a:p>
                <a:pPr lvl="1"/>
                <a:r>
                  <a:rPr/>
                  <a:t>Activates alpha (</a:t>
                </a:r>
                <a14:m>
                  <m:oMath xmlns:m="http://schemas.openxmlformats.org/officeDocument/2006/math">
                    <m:r>
                      <m:t>α</m:t>
                    </m:r>
                  </m:oMath>
                </a14:m>
                <a:r>
                  <a:rPr/>
                  <a:t>) motor neuron</a:t>
                </a:r>
              </a:p>
              <a:p>
                <a:pPr lvl="0"/>
                <a14:m>
                  <m:oMath xmlns:m="http://schemas.openxmlformats.org/officeDocument/2006/math">
                    <m:r>
                      <m:t>α</m:t>
                    </m:r>
                  </m:oMath>
                </a14:m>
                <a:r>
                  <a:rPr/>
                  <a:t> motor neuron activates extrafusal fiber</a:t>
                </a:r>
              </a:p>
              <a:p>
                <a:pPr lvl="0"/>
                <a:r>
                  <a:rPr/>
                  <a:t>Muscle contracts, shortens length</a:t>
                </a:r>
              </a:p>
            </p:txBody>
          </p:sp>
        </mc:Choice>
      </mc:AlternateContent>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upload.wikimedia.org/wikipedia/commons/c/cd/Fusimotor_action.jp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Source: Wikipedia</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Gamma (</a:t>
                </a:r>
                <a14:m>
                  <m:oMath xmlns:m="http://schemas.openxmlformats.org/officeDocument/2006/math">
                    <m:r>
                      <m:t>γ</m:t>
                    </m:r>
                  </m:oMath>
                </a14:m>
                <a:r>
                  <a:rPr/>
                  <a:t>) motor neuron fires to take up ‘slack’ in intrafusal fiber</a:t>
                </a:r>
              </a:p>
            </p:txBody>
          </p:sp>
        </mc:Choice>
      </mc:AlternateContent>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intrafusal-extrafusal-fibers.jpg" id="0" name="Picture 1"/>
          <p:cNvPicPr>
            <a:picLocks noGrp="1" noChangeAspect="1"/>
          </p:cNvPicPr>
          <p:nvPr/>
        </p:nvPicPr>
        <p:blipFill>
          <a:blip r:embed="rId2"/>
          <a:stretch>
            <a:fillRect/>
          </a:stretch>
        </p:blipFill>
        <p:spPr bwMode="auto">
          <a:xfrm>
            <a:off x="2311400" y="1193800"/>
            <a:ext cx="4508500" cy="33909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stretch-reflex.jpg" id="0" name="Picture 1"/>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a:t>This is a bit like the role of a belayer in rock climbing.</a:t>
            </a:r>
          </a:p>
          <a:p>
            <a:pPr lvl="0" indent="0" marL="1270000">
              <a:buNone/>
            </a:pP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wk-03-2026-01-29-action_files/figure-pptx/mermaid-figure-4.png" id="0" name="Picture 1"/>
          <p:cNvPicPr>
            <a:picLocks noGrp="1" noChangeAspect="1"/>
          </p:cNvPicPr>
          <p:nvPr/>
        </p:nvPicPr>
        <p:blipFill>
          <a:blip r:embed="rId2"/>
          <a:stretch>
            <a:fillRect/>
          </a:stretch>
        </p:blipFill>
        <p:spPr bwMode="auto">
          <a:xfrm>
            <a:off x="762000" y="1193800"/>
            <a:ext cx="7620000" cy="3390900"/>
          </a:xfrm>
          <a:prstGeom prst="rect">
            <a:avLst/>
          </a:prstGeom>
          <a:noFill/>
          <a:ln w="9525">
            <a:noFill/>
            <a:headEnd/>
            <a:tailEnd/>
          </a:ln>
        </p:spPr>
      </p:pic>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CNS activation of skeletal muscle fibers.</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doesn’t antagonist muscle respond?</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Contract bicep </a:t>
                </a:r>
                <a14:m>
                  <m:oMath xmlns:m="http://schemas.openxmlformats.org/officeDocument/2006/math">
                    <m:r>
                      <m:rPr>
                        <m:sty m:val="p"/>
                      </m:rPr>
                      <m:t>→</m:t>
                    </m:r>
                  </m:oMath>
                </a14:m>
                <a:r>
                  <a:rPr/>
                  <a:t> stretch tricep</a:t>
                </a:r>
              </a:p>
              <a:p>
                <a:pPr lvl="0"/>
                <a:r>
                  <a:rPr/>
                  <a:t>Polysynaptic inhibition of antagonist muscle</a:t>
                </a:r>
              </a:p>
              <a:p>
                <a:pPr lvl="0"/>
                <a:r>
                  <a:rPr/>
                  <a:t>Prevents/dampens tremor</a:t>
                </a:r>
              </a:p>
            </p:txBody>
          </p:sp>
        </mc:Choice>
      </mc:AlternateContent>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Patellar reflex</a:t>
            </a:r>
          </a:p>
        </p:txBody>
      </p:sp>
      <p:sp>
        <p:nvSpPr>
          <p:cNvPr id="3" name="Content Placeholder 2"/>
          <p:cNvSpPr>
            <a:spLocks noGrp="1"/>
          </p:cNvSpPr>
          <p:nvPr>
            <p:ph idx="1"/>
          </p:nvPr>
        </p:nvSpPr>
        <p:spPr/>
        <p:txBody>
          <a:bodyPr/>
          <a:lstStyle/>
          <a:p>
            <a:pPr lvl="0" indent="0" marL="0">
              <a:buNone/>
            </a:pPr>
            <a:r>
              <a:rPr>
                <a:hlinkClick r:id="rId2"/>
              </a:rPr>
              <a:t>https://www.youtube.com/watch?v=DJLmVSeZ5-c</a:t>
            </a:r>
          </a:p>
          <a:p>
            <a:pPr lvl="0" indent="0" marL="0">
              <a:buNone/>
            </a:pPr>
            <a:r>
              <a:rPr/>
              <a:t>– 牛津基礎生物學 (2021)</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“Tuning” proprioceptive feedback</a:t>
            </a:r>
          </a:p>
        </p:txBody>
      </p:sp>
      <p:sp>
        <p:nvSpPr>
          <p:cNvPr id="3" name="Content Placeholder 2"/>
          <p:cNvSpPr>
            <a:spLocks noGrp="1"/>
          </p:cNvSpPr>
          <p:nvPr>
            <p:ph idx="1"/>
          </p:nvPr>
        </p:nvSpPr>
        <p:spPr/>
        <p:txBody>
          <a:bodyPr/>
          <a:lstStyle/>
          <a:p>
            <a:pPr lvl="0" indent="0" marL="1270000">
              <a:buNone/>
            </a:pPr>
            <a:r>
              <a:rPr sz="2000" b="1"/>
              <a:t>Developmental orgins</a:t>
            </a:r>
          </a:p>
          <a:p>
            <a:pPr lvl="0" indent="0" marL="1270000">
              <a:buNone/>
            </a:pPr>
            <a:r>
              <a:rPr sz="2000"/>
              <a:t>How does the motor system “learn” the sensory consequences of muscle fiber contraction? Could spontaneous “twitches” be involved (Blumberg &amp; Adolph, 2023)?</a:t>
            </a:r>
          </a:p>
          <a:p>
            <a:pPr lvl="0" indent="0" marL="1270000">
              <a:buNone/>
            </a:pPr>
            <a:r>
              <a:rPr sz="2000"/>
              <a:t>That is, higher levels of the nervous system might learn the relationship between motor neuron output and spindle feedback from “random” activity.</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Conduction speed</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14:m>
                  <m:oMath xmlns:m="http://schemas.openxmlformats.org/officeDocument/2006/math">
                    <m:r>
                      <m:t>α</m:t>
                    </m:r>
                  </m:oMath>
                </a14:m>
                <a:r>
                  <a:rPr/>
                  <a:t> motor neuron ~ 50-60 m/s</a:t>
                </a:r>
              </a:p>
              <a:p>
                <a:pPr lvl="0"/>
                <a:r>
                  <a:rPr/>
                  <a:t>Ia afferents ~ 80-120 m/s</a:t>
                </a:r>
              </a:p>
              <a:p>
                <a:pPr lvl="0"/>
                <a:r>
                  <a:rPr/>
                  <a:t>Brain to toe or toe to brain: 15-30 ms</a:t>
                </a:r>
              </a:p>
              <a:p>
                <a:pPr lvl="0"/>
                <a:r>
                  <a:rPr/>
                  <a:t>Wikipedia contributors (2025a)</a:t>
                </a:r>
              </a:p>
            </p:txBody>
          </p:sp>
        </mc:Choice>
      </mc:AlternateContent>
      <p:pic>
        <p:nvPicPr>
          <p:cNvPr descr="https://upload.wikimedia.org/wikipedia/commons/b/bf/Nerve_Conduction_Velocity_Calculation.gif" id="0" name="Picture 1"/>
          <p:cNvPicPr>
            <a:picLocks noGrp="1" noChangeAspect="1"/>
          </p:cNvPicPr>
          <p:nvPr/>
        </p:nvPicPr>
        <p:blipFill>
          <a:blip r:embed="rId2"/>
          <a:stretch>
            <a:fillRect/>
          </a:stretch>
        </p:blipFill>
        <p:spPr bwMode="auto">
          <a:xfrm>
            <a:off x="4648200" y="1295400"/>
            <a:ext cx="4038600" cy="26924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Wikipedia contributors (2025a)</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muscles work: Interim summary</a:t>
            </a:r>
          </a:p>
        </p:txBody>
      </p:sp>
      <p:sp>
        <p:nvSpPr>
          <p:cNvPr id="3" name="Content Placeholder 2"/>
          <p:cNvSpPr>
            <a:spLocks noGrp="1"/>
          </p:cNvSpPr>
          <p:nvPr>
            <p:ph idx="1"/>
          </p:nvPr>
        </p:nvSpPr>
        <p:spPr/>
        <p:txBody>
          <a:bodyPr/>
          <a:lstStyle/>
          <a:p>
            <a:pPr lvl="0"/>
            <a:r>
              <a:rPr/>
              <a:t>Voluntary movements involve motor units causing contraction of agonist or antagonist pairs of skeletal muscles</a:t>
            </a:r>
          </a:p>
          <a:p>
            <a:pPr lvl="0"/>
            <a:r>
              <a:rPr/>
              <a:t>Skeletal muscles have embedded sensors that detect length/tension</a:t>
            </a:r>
          </a:p>
          <a:p>
            <a:pPr lvl="0"/>
            <a:r>
              <a:rPr/>
              <a:t>CNS gets rapid feedback about muscle length/tension (proprioception)</a:t>
            </a:r>
          </a:p>
          <a:p>
            <a:pPr lvl="0"/>
            <a:r>
              <a:rPr/>
              <a:t>Monosynaptic stretch (myotatic) reflexes maintain position stability</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Controlling muscles</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motor-controllers-biopsych.jpg" id="0" name="Picture 1"/>
          <p:cNvPicPr>
            <a:picLocks noGrp="1" noChangeAspect="1"/>
          </p:cNvPicPr>
          <p:nvPr/>
        </p:nvPicPr>
        <p:blipFill>
          <a:blip r:embed="rId2"/>
          <a:stretch>
            <a:fillRect/>
          </a:stretch>
        </p:blipFill>
        <p:spPr bwMode="auto">
          <a:xfrm>
            <a:off x="2654300" y="1193800"/>
            <a:ext cx="3848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i="1"/>
              <a:t>Biological Psychology 4th ed</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nodes</a:t>
            </a:r>
          </a:p>
        </p:txBody>
      </p:sp>
      <p:sp>
        <p:nvSpPr>
          <p:cNvPr id="3" name="Content Placeholder 2"/>
          <p:cNvSpPr>
            <a:spLocks noGrp="1"/>
          </p:cNvSpPr>
          <p:nvPr>
            <p:ph idx="1"/>
          </p:nvPr>
        </p:nvSpPr>
        <p:spPr/>
        <p:txBody>
          <a:bodyPr/>
          <a:lstStyle/>
          <a:p>
            <a:pPr lvl="0"/>
            <a:r>
              <a:rPr/>
              <a:t>Primary motor cortex (M1)</a:t>
            </a:r>
          </a:p>
          <a:p>
            <a:pPr lvl="1"/>
            <a:r>
              <a:rPr/>
              <a:t>Anterior to central sulcus</a:t>
            </a:r>
          </a:p>
          <a:p>
            <a:pPr lvl="1"/>
            <a:r>
              <a:rPr/>
              <a:t>Frontal lobe</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upload.wikimedia.org/wikipedia/commons/c/c5/Blausen_0103_Brain_Sensory%26Motor.pn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M1. Wikipedia: </a:t>
            </a:r>
            <a:r>
              <a:rPr>
                <a:hlinkClick r:id="rId3"/>
              </a:rPr>
              <a:t>https://en.wikipedia.org/wiki/Primary_motor_cortex</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Topgraphic organization</a:t>
            </a:r>
          </a:p>
        </p:txBody>
      </p:sp>
      <p:pic>
        <p:nvPicPr>
          <p:cNvPr descr="https://upload.wikimedia.org/wikipedia/commons/thumb/0/06/Motor_homunculus.svg/1920px-Motor_homunculus.svg.pn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Motor homunculus. Wikipedia</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nodes</a:t>
            </a:r>
          </a:p>
        </p:txBody>
      </p:sp>
      <p:sp>
        <p:nvSpPr>
          <p:cNvPr id="3" name="Content Placeholder 2"/>
          <p:cNvSpPr>
            <a:spLocks noGrp="1"/>
          </p:cNvSpPr>
          <p:nvPr>
            <p:ph idx="1"/>
          </p:nvPr>
        </p:nvSpPr>
        <p:spPr/>
        <p:txBody>
          <a:bodyPr/>
          <a:lstStyle/>
          <a:p>
            <a:pPr lvl="0"/>
            <a:r>
              <a:rPr/>
              <a:t>Non-primary motor cortex</a:t>
            </a:r>
          </a:p>
          <a:p>
            <a:pPr lvl="1"/>
            <a:r>
              <a:rPr/>
              <a:t>Supplemental motor area (SMA)</a:t>
            </a:r>
          </a:p>
          <a:p>
            <a:pPr lvl="1"/>
            <a:r>
              <a:rPr/>
              <a:t>Premotor cortex (PMC)</a:t>
            </a:r>
          </a:p>
          <a:p>
            <a:pPr lvl="1"/>
            <a:r>
              <a:rPr/>
              <a:t>Frontal eye fields (FEF)</a:t>
            </a:r>
          </a:p>
          <a:p>
            <a:pPr lvl="0"/>
            <a:r>
              <a:rPr/>
              <a:t>Basal ganglia</a:t>
            </a:r>
          </a:p>
          <a:p>
            <a:pPr lvl="0"/>
            <a:r>
              <a:rPr/>
              <a:t>Brain stem</a:t>
            </a:r>
          </a:p>
          <a:p>
            <a:pPr lvl="0"/>
            <a:r>
              <a:rPr/>
              <a:t>Cerebellum</a:t>
            </a:r>
          </a:p>
          <a:p>
            <a:pPr lvl="0"/>
            <a:r>
              <a:rPr/>
              <a:t>Spinal cord</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Projection pathways</a:t>
            </a:r>
          </a:p>
        </p:txBody>
      </p:sp>
      <p:sp>
        <p:nvSpPr>
          <p:cNvPr id="3" name="Content Placeholder 2"/>
          <p:cNvSpPr>
            <a:spLocks noGrp="1"/>
          </p:cNvSpPr>
          <p:nvPr>
            <p:ph idx="1"/>
          </p:nvPr>
        </p:nvSpPr>
        <p:spPr/>
        <p:txBody>
          <a:bodyPr/>
          <a:lstStyle/>
          <a:p>
            <a:pPr lvl="0"/>
            <a:r>
              <a:rPr/>
              <a:t>Pyramidal tracts/system</a:t>
            </a:r>
          </a:p>
          <a:p>
            <a:pPr lvl="0"/>
            <a:r>
              <a:rPr/>
              <a:t>Extrapyramidal system</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Pyramidal tracts/system</a:t>
            </a:r>
          </a:p>
        </p:txBody>
      </p:sp>
      <p:pic>
        <p:nvPicPr>
          <p:cNvPr descr="../include/img/gray-corticospinal-tract.png" id="0" name="Picture 1"/>
          <p:cNvPicPr>
            <a:picLocks noGrp="1" noChangeAspect="1"/>
          </p:cNvPicPr>
          <p:nvPr/>
        </p:nvPicPr>
        <p:blipFill>
          <a:blip r:embed="rId2"/>
          <a:stretch>
            <a:fillRect/>
          </a:stretch>
        </p:blipFill>
        <p:spPr bwMode="auto">
          <a:xfrm>
            <a:off x="3594100" y="1193800"/>
            <a:ext cx="1955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Source: Wikipedia</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Pyramidal tracts/system</a:t>
            </a:r>
          </a:p>
        </p:txBody>
      </p:sp>
      <p:sp>
        <p:nvSpPr>
          <p:cNvPr id="3" name="Content Placeholder 2"/>
          <p:cNvSpPr>
            <a:spLocks noGrp="1"/>
          </p:cNvSpPr>
          <p:nvPr>
            <p:ph idx="1"/>
          </p:nvPr>
        </p:nvSpPr>
        <p:spPr/>
        <p:txBody>
          <a:bodyPr/>
          <a:lstStyle/>
          <a:p>
            <a:pPr lvl="0"/>
            <a:r>
              <a:rPr/>
              <a:t>Pyramidal cells</a:t>
            </a:r>
          </a:p>
          <a:p>
            <a:pPr lvl="1"/>
            <a:r>
              <a:rPr/>
              <a:t>Cerebral Cortex Layer 5 in primary motor cortex (M1)</a:t>
            </a:r>
          </a:p>
          <a:p>
            <a:pPr lvl="0"/>
            <a:r>
              <a:rPr/>
              <a:t>Corticobulbar (cortex -&gt; brainstem) tract</a:t>
            </a:r>
          </a:p>
          <a:p>
            <a:pPr lvl="0"/>
            <a:r>
              <a:rPr/>
              <a:t>Corticospinal (cortex -&gt; spinal cord) tract</a:t>
            </a:r>
          </a:p>
          <a:p>
            <a:pPr lvl="0"/>
            <a:r>
              <a:rPr/>
              <a:t>Crossover (decussate) in medulla</a:t>
            </a:r>
          </a:p>
          <a:p>
            <a:pPr lvl="1"/>
            <a:r>
              <a:rPr/>
              <a:t>L side of brain ennervates R side of body</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1270000">
              <a:buNone/>
            </a:pPr>
            <a:r>
              <a:rPr sz="2000" b="1"/>
              <a:t>Note</a:t>
            </a:r>
          </a:p>
          <a:p>
            <a:pPr lvl="0"/>
            <a:r>
              <a:rPr sz="2000"/>
              <a:t>Anatomically separate ascending (afferent) and descending (efferent) pathways in the spinal cord.</a:t>
            </a:r>
          </a:p>
          <a:p>
            <a:pPr lvl="0"/>
            <a:r>
              <a:rPr sz="2000"/>
              <a:t>Ascending (generally) more dorsal; descending more ventral.</a:t>
            </a:r>
          </a:p>
          <a:p>
            <a:pPr lvl="0"/>
            <a:r>
              <a:rPr sz="2000"/>
              <a:t>White matter on exterior (unlike cerebral cortex).</a:t>
            </a:r>
          </a:p>
        </p:txBody>
      </p:sp>
      <p:pic>
        <p:nvPicPr>
          <p:cNvPr descr="https://upload.wikimedia.org/wikipedia/commons/b/be/Gray672.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Source: Wikipedia</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Extrapyramidal system</a:t>
            </a:r>
          </a:p>
        </p:txBody>
      </p:sp>
      <p:sp>
        <p:nvSpPr>
          <p:cNvPr id="3" name="Content Placeholder 2"/>
          <p:cNvSpPr>
            <a:spLocks noGrp="1"/>
          </p:cNvSpPr>
          <p:nvPr>
            <p:ph idx="1"/>
          </p:nvPr>
        </p:nvSpPr>
        <p:spPr/>
        <p:txBody>
          <a:bodyPr/>
          <a:lstStyle/>
          <a:p>
            <a:pPr lvl="0"/>
            <a:r>
              <a:rPr>
                <a:hlinkClick r:id="rId2"/>
              </a:rPr>
              <a:t>Tectospinal tract</a:t>
            </a:r>
          </a:p>
          <a:p>
            <a:pPr lvl="0"/>
            <a:r>
              <a:rPr>
                <a:hlinkClick r:id="rId3"/>
              </a:rPr>
              <a:t>Lateral Vestibulospinal tract</a:t>
            </a:r>
          </a:p>
          <a:p>
            <a:pPr lvl="0"/>
            <a:r>
              <a:rPr>
                <a:hlinkClick r:id="rId4"/>
              </a:rPr>
              <a:t>Reticulospinal tract</a:t>
            </a:r>
          </a:p>
          <a:p>
            <a:pPr lvl="0"/>
            <a:r>
              <a:rPr/>
              <a:t>Rubrospinal tract</a:t>
            </a:r>
          </a:p>
          <a:p>
            <a:pPr lvl="0"/>
            <a:r>
              <a:rPr>
                <a:hlinkClick r:id="rId5"/>
              </a:rPr>
              <a:t>Involuntary movements</a:t>
            </a:r>
          </a:p>
          <a:p>
            <a:pPr lvl="1"/>
            <a:r>
              <a:rPr/>
              <a:t>Posture, balance, arousal</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Direct cortical control</a:t>
            </a:r>
          </a:p>
        </p:txBody>
      </p:sp>
      <p:sp>
        <p:nvSpPr>
          <p:cNvPr id="3" name="Content Placeholder 2"/>
          <p:cNvSpPr>
            <a:spLocks noGrp="1"/>
          </p:cNvSpPr>
          <p:nvPr>
            <p:ph idx="1"/>
          </p:nvPr>
        </p:nvSpPr>
        <p:spPr/>
        <p:txBody>
          <a:bodyPr/>
          <a:lstStyle/>
          <a:p>
            <a:pPr lvl="0"/>
            <a:r>
              <a:rPr/>
              <a:t>Over </a:t>
            </a:r>
            <a:r>
              <a:rPr i="1"/>
              <a:t>some</a:t>
            </a:r>
            <a:r>
              <a:rPr/>
              <a:t> motor neurons</a:t>
            </a:r>
          </a:p>
          <a:p>
            <a:pPr lvl="0"/>
            <a:r>
              <a:rPr/>
              <a:t>In humans; prevalence uncertain in other animals</a:t>
            </a:r>
          </a:p>
          <a:p>
            <a:pPr lvl="0"/>
            <a:r>
              <a:rPr/>
              <a:t>For individuated (“fractionated”) movements of fingers, toes, lips, but other muscles, too.</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www.annualreviews.org/docserver/fulltext/neuro/39/1/ne390081.f1.gif" id="0" name="Picture 1"/>
          <p:cNvPicPr>
            <a:picLocks noGrp="1" noChangeAspect="1"/>
          </p:cNvPicPr>
          <p:nvPr/>
        </p:nvPicPr>
        <p:blipFill>
          <a:blip r:embed="rId2"/>
          <a:stretch>
            <a:fillRect/>
          </a:stretch>
        </p:blipFill>
        <p:spPr bwMode="auto">
          <a:xfrm>
            <a:off x="2451100" y="1193800"/>
            <a:ext cx="4241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Nielsen (2016) Figure 1. Evidence of corticomotoneuronal connections in human subjects. Indirect, noninvasive evidence of the existence of monosynaptic connections between corticospinal neurons and spinal motoneurons may be obtained in awake human subjects by transcranial magnetic stimulation (TMS) (b,c) and coherence analysis of either cortical [electroencephalogram (EEG)] and muscular activity [electromyogram (EMG)] (d,e) or two separate recordings of muscular activity (f). (b,c) Corticospinal neurons can be excited by a brief magnetic pulse applied by a magnetic coil placed over the appropriate part of the motor cortex in awake human subjects. If the intensity of the magnetic pulse is adjusted appropriately, the evoked descending volley in the corticospinal tract may elicit a subthreshold excitatory postsynaptic potential (EPSP) in the relevant spinal motoneurons. This EPSP may be demonstrated as a change in the discharge probability of a single motor unit recorded from the muscle (b). In the illustrated example, the subject was asked to voluntarily activate the tibialis anterior (TA) muscle, and the discharges of a single motor unit were recorded by a needle electrode inserted into the muscle. TMS elicited a short-lasting (2-ms) increase of discharge probability at a latency of 45 ms (b). The short duration of this peak is consistent with the short rise time of a monosynaptic EPSP. This interpretation is further supported by the observation that stimulation of Ia afferents with known monosynaptic connections to the motoneurons elicits a peak with a similar short duration (c). Data in panels b and c modified with permission from Nielsen &amp; Petersen (1994). (d,e) EEG recorded from the motor cortex and EMG recorded from a voluntarily activated muscle (TA in the illustrated example) show rhythmic modulation of the recorded activity at a frequency of 15–35 Hz. As shown from a coherence analysis of the two signals in panel d, some of this activity is common for the two sites, suggesting a close link between cortical and muscular activity. Panel e shows the EEG and EMG activities are not always synchronous but may show a time lag, which is in the range expected for a fast-conducting direct pathway to the motoneurons. Data in panels d and e modified with permission from Hansen et al. (2002). (f) A monosynaptic origin of corticomuscular coherence is further supported by the observation of short-term synchrony between the discharges of pairs of TA motor units, which may be related to the coherence in the 15–35-Hz frequency band. The subject was asked to voluntarily activate the TA muscle, and the discharges of two different TA motor units were recorded with needle electrodes. The short duration of the central peak of synchronization suggests that the motor unit activities are modulated by a common (monosynaptic) input from collaterals of last-order neurons, which are in all likelihood identical to corticomotoneuronal cells. The secondary peaks at lags of approximately 50–60 ms on either side of the central peak suggest that this last-order input modulates the discharge of the motor units at a frequency of about 20–30 Hz, i.e., corresponding to the coherence observed in the paired EEG-EMG recordings in panels b and c. Data in panel f modified with permission from Nielsen &amp; Kagamihara (1994).</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Illustrative motor systems</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Behavioral repertoires</a:t>
            </a:r>
          </a:p>
        </p:txBody>
      </p:sp>
      <p:sp>
        <p:nvSpPr>
          <p:cNvPr id="3" name="Content Placeholder 2"/>
          <p:cNvSpPr>
            <a:spLocks noGrp="1"/>
          </p:cNvSpPr>
          <p:nvPr>
            <p:ph idx="1"/>
          </p:nvPr>
        </p:nvSpPr>
        <p:spPr/>
        <p:txBody>
          <a:bodyPr/>
          <a:lstStyle/>
          <a:p>
            <a:pPr lvl="0"/>
            <a:r>
              <a:rPr/>
              <a:t>Looking</a:t>
            </a:r>
          </a:p>
          <a:p>
            <a:pPr lvl="0"/>
            <a:r>
              <a:rPr/>
              <a:t>Locomotion</a:t>
            </a:r>
          </a:p>
          <a:p>
            <a:pPr lvl="0"/>
            <a:r>
              <a:rPr/>
              <a:t>Reaching &amp; grasping</a:t>
            </a:r>
          </a:p>
          <a:p>
            <a:pPr lvl="0"/>
            <a:r>
              <a:rPr/>
              <a:t>Speaking</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Approach</a:t>
            </a:r>
          </a:p>
        </p:txBody>
      </p:sp>
      <p:sp>
        <p:nvSpPr>
          <p:cNvPr id="3" name="Content Placeholder 2"/>
          <p:cNvSpPr>
            <a:spLocks noGrp="1"/>
          </p:cNvSpPr>
          <p:nvPr>
            <p:ph idx="1" sz="half"/>
          </p:nvPr>
        </p:nvSpPr>
        <p:spPr/>
        <p:txBody>
          <a:bodyPr/>
          <a:lstStyle/>
          <a:p>
            <a:pPr lvl="0"/>
            <a:r>
              <a:rPr/>
              <a:t>Computation</a:t>
            </a:r>
          </a:p>
          <a:p>
            <a:pPr lvl="0"/>
            <a:r>
              <a:rPr/>
              <a:t>Algorithm</a:t>
            </a:r>
          </a:p>
          <a:p>
            <a:pPr lvl="0"/>
            <a:r>
              <a:rPr/>
              <a:t>Hardware</a:t>
            </a:r>
          </a:p>
          <a:p>
            <a:pPr lvl="0"/>
            <a:r>
              <a:rPr b="1"/>
              <a:t>Physics</a:t>
            </a:r>
          </a:p>
        </p:txBody>
      </p:sp>
      <p:pic>
        <p:nvPicPr>
          <p:cNvPr descr="../include/img/eyeball-physics.png" id="0" name="Picture 1"/>
          <p:cNvPicPr>
            <a:picLocks noGrp="1" noChangeAspect="1"/>
          </p:cNvPicPr>
          <p:nvPr/>
        </p:nvPicPr>
        <p:blipFill>
          <a:blip r:embed="rId2"/>
          <a:stretch>
            <a:fillRect/>
          </a:stretch>
        </p:blipFill>
        <p:spPr bwMode="auto">
          <a:xfrm>
            <a:off x="4978400" y="1193800"/>
            <a:ext cx="3390900" cy="3390900"/>
          </a:xfrm>
          <a:prstGeom prst="rect">
            <a:avLst/>
          </a:prstGeom>
          <a:noFill/>
          <a:ln w="9525">
            <a:noFill/>
            <a:headEnd/>
            <a:tailEnd/>
          </a:ln>
        </p:spPr>
      </p:pic>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Looking</a:t>
            </a:r>
          </a:p>
        </p:txBody>
      </p:sp>
      <p:sp>
        <p:nvSpPr>
          <p:cNvPr id="3" name="Content Placeholder 2"/>
          <p:cNvSpPr>
            <a:spLocks noGrp="1"/>
          </p:cNvSpPr>
          <p:nvPr>
            <p:ph idx="1"/>
          </p:nvPr>
        </p:nvSpPr>
        <p:spPr/>
        <p:txBody>
          <a:bodyPr/>
          <a:lstStyle/>
          <a:p>
            <a:pPr lvl="0"/>
            <a:r>
              <a:rPr/>
              <a:t>Behavioral goals</a:t>
            </a:r>
          </a:p>
          <a:p>
            <a:pPr lvl="1"/>
            <a:r>
              <a:rPr/>
              <a:t>Direct gaze (eyes + head + body) toward goal-relevant targets</a:t>
            </a:r>
          </a:p>
          <a:p>
            <a:pPr lvl="1"/>
            <a:r>
              <a:rPr/>
              <a:t>Direct gaze toward emergent targets</a:t>
            </a:r>
          </a:p>
          <a:p>
            <a:pPr lvl="1"/>
            <a:r>
              <a:rPr/>
              <a:t>Track/pursue targets across observer/target motion</a:t>
            </a:r>
          </a:p>
          <a:p>
            <a:pPr lvl="1"/>
            <a:r>
              <a:rPr/>
              <a:t>Maximize quality of visual information about targets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upload.wikimedia.org/wikipedia/commons/thumb/1/1e/Schematic_diagram_of_the_human_eye_en.svg/960px-Schematic_diagram_of_the_human_eye_en.svg.pn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By Rhcastilhos. And Jmarchn. - Schematic_diagram_of_the_human_eye_with_English_annotations.svg, CC BY-SA 3.0, https://commons.wikimedia.org/w/index.php?curid=1597930</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upload.wikimedia.org/wikipedia/commons/thumb/2/27/AcuityHumanEye.svg/1280px-AcuityHumanEye.svg.pn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By Vanessa Ezekowitz - Hand-drawn based on File:AcuityHumanEye.jpg by Hans-Werner Hunziker, CC BY-SA 3.0, https://commons.wikimedia.org/w/index.php?curid=7327065</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Eye movement types</a:t>
            </a:r>
          </a:p>
        </p:txBody>
      </p:sp>
      <p:sp>
        <p:nvSpPr>
          <p:cNvPr id="3" name="Content Placeholder 2"/>
          <p:cNvSpPr>
            <a:spLocks noGrp="1"/>
          </p:cNvSpPr>
          <p:nvPr>
            <p:ph idx="1" sz="half"/>
          </p:nvPr>
        </p:nvSpPr>
        <p:spPr/>
        <p:txBody>
          <a:bodyPr/>
          <a:lstStyle/>
          <a:p>
            <a:pPr lvl="0"/>
            <a:r>
              <a:rPr/>
              <a:t>Voluntary</a:t>
            </a:r>
          </a:p>
          <a:p>
            <a:pPr lvl="1"/>
            <a:r>
              <a:rPr/>
              <a:t>Saccades</a:t>
            </a:r>
          </a:p>
          <a:p>
            <a:pPr lvl="1"/>
            <a:r>
              <a:rPr/>
              <a:t>Smooth pursuit</a:t>
            </a:r>
          </a:p>
          <a:p>
            <a:pPr lvl="1"/>
            <a:r>
              <a:rPr/>
              <a:t>Vergence</a:t>
            </a:r>
          </a:p>
        </p:txBody>
      </p:sp>
      <p:sp>
        <p:nvSpPr>
          <p:cNvPr id="4" name="Content Placeholder 3"/>
          <p:cNvSpPr>
            <a:spLocks noGrp="1"/>
          </p:cNvSpPr>
          <p:nvPr>
            <p:ph idx="2" sz="half"/>
          </p:nvPr>
        </p:nvSpPr>
        <p:spPr/>
        <p:txBody>
          <a:bodyPr/>
          <a:lstStyle/>
          <a:p>
            <a:pPr lvl="0"/>
            <a:r>
              <a:rPr/>
              <a:t>Involuntary</a:t>
            </a:r>
          </a:p>
          <a:p>
            <a:pPr lvl="1"/>
            <a:r>
              <a:rPr/>
              <a:t>Vestibulo-occular reflex (VOR)</a:t>
            </a:r>
          </a:p>
          <a:p>
            <a:pPr lvl="1"/>
            <a:r>
              <a:rPr/>
              <a:t>Optokinetic nystagmus</a:t>
            </a:r>
          </a:p>
          <a:p>
            <a:pPr lvl="1"/>
            <a:r>
              <a:rPr/>
              <a:t>Accommodation</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Saccades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Rapid, ballistic (no online feedback)</a:t>
                </a:r>
              </a:p>
              <a:p>
                <a:pPr lvl="0"/>
                <a:r>
                  <a:rPr/>
                  <a:t>~2-3/s</a:t>
                </a:r>
              </a:p>
              <a:p>
                <a:pPr lvl="0"/>
                <a:r>
                  <a:rPr/>
                  <a:t>~200 ms to initiate</a:t>
                </a:r>
              </a:p>
              <a:p>
                <a:pPr lvl="0"/>
                <a:r>
                  <a:rPr/>
                  <a:t>Amplitudes &gt;20 deg </a:t>
                </a:r>
                <a14:m>
                  <m:oMath xmlns:m="http://schemas.openxmlformats.org/officeDocument/2006/math">
                    <m:r>
                      <m:rPr>
                        <m:sty m:val="p"/>
                      </m:rPr>
                      <m:t>→</m:t>
                    </m:r>
                  </m:oMath>
                </a14:m>
                <a:r>
                  <a:rPr/>
                  <a:t> saccade + head movement</a:t>
                </a:r>
              </a:p>
            </p:txBody>
          </p:sp>
        </mc:Choice>
      </mc:AlternateContent>
      <p:sp>
        <p:nvSpPr>
          <p:cNvPr id="4" name="Content Placeholder 3"/>
          <p:cNvSpPr>
            <a:spLocks noGrp="1"/>
          </p:cNvSpPr>
          <p:nvPr>
            <p:ph idx="2" sz="half"/>
          </p:nvPr>
        </p:nvSpPr>
        <p:spPr/>
        <p:txBody>
          <a:bodyPr/>
          <a:lstStyle/>
          <a:p>
            <a:pPr lvl="0" indent="0" marL="0">
              <a:buNone/>
            </a:pPr>
            <a:r>
              <a:rPr>
                <a:hlinkClick r:id="rId2"/>
              </a:rPr>
              <a:t>https://upload.wikimedia.org/wikipedia/commons/e/e9/This_shows_a_recording_of_the_eye_movements_of_a_participant_looking_freely_at_a_picture.webm</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Wikipedia contributors (2025b)</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a.storyblok.com/f/149538/01b3d43e55/tobii-eye-movement-fovea.jpg/m/0x0:1500x1000/1200x0/filters:format(webp):quality(80).pn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https://www.tobii.com/resource-center/learn-articles/types-of-eye-movements</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Smooth pursuit</a:t>
            </a:r>
          </a:p>
        </p:txBody>
      </p:sp>
      <p:pic>
        <p:nvPicPr>
          <p:cNvPr descr="https://imotions.com/wp-content/uploads/2022/10/Smooth-pursuit-eye-tracking-2.pn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Farnsworth (2019)</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Vergence</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Eyes move disjointly</a:t>
                </a:r>
              </a:p>
              <a:p>
                <a:pPr lvl="0"/>
                <a:r>
                  <a:rPr/>
                  <a:t>Fixate on comparable locations</a:t>
                </a:r>
              </a:p>
              <a:p>
                <a:pPr lvl="0"/>
                <a:r>
                  <a:rPr/>
                  <a:t>Binocular vision </a:t>
                </a:r>
                <a14:m>
                  <m:oMath xmlns:m="http://schemas.openxmlformats.org/officeDocument/2006/math">
                    <m:r>
                      <m:rPr>
                        <m:sty m:val="p"/>
                      </m:rPr>
                      <m:t>→</m:t>
                    </m:r>
                  </m:oMath>
                </a14:m>
                <a:r>
                  <a:rPr/>
                  <a:t> 3D depth</a:t>
                </a:r>
              </a:p>
            </p:txBody>
          </p:sp>
        </mc:Choice>
      </mc:AlternateContent>
      <p:pic>
        <p:nvPicPr>
          <p:cNvPr descr="https://imotions.com/wp-content/uploads/2022/10/Vergence-2-1.png" id="0" name="Picture 1"/>
          <p:cNvPicPr>
            <a:picLocks noGrp="1" noChangeAspect="1"/>
          </p:cNvPicPr>
          <p:nvPr/>
        </p:nvPicPr>
        <p:blipFill>
          <a:blip r:embed="rId2"/>
          <a:stretch>
            <a:fillRect/>
          </a:stretch>
        </p:blipFill>
        <p:spPr bwMode="auto">
          <a:xfrm>
            <a:off x="4648200" y="1295400"/>
            <a:ext cx="4038600" cy="26924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Farnsworth (2019)</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Vestibulo-occular reflex (VOR)</a:t>
            </a:r>
          </a:p>
        </p:txBody>
      </p:sp>
      <p:sp>
        <p:nvSpPr>
          <p:cNvPr id="3" name="Content Placeholder 2"/>
          <p:cNvSpPr>
            <a:spLocks noGrp="1"/>
          </p:cNvSpPr>
          <p:nvPr>
            <p:ph idx="1" sz="half"/>
          </p:nvPr>
        </p:nvSpPr>
        <p:spPr/>
        <p:txBody>
          <a:bodyPr/>
          <a:lstStyle/>
          <a:p>
            <a:pPr lvl="0"/>
            <a:r>
              <a:rPr/>
              <a:t>Steady eyes when head moves</a:t>
            </a:r>
          </a:p>
          <a:p>
            <a:pPr lvl="0"/>
            <a:r>
              <a:rPr/>
              <a:t>Fast: response &lt; 10 ms</a:t>
            </a:r>
          </a:p>
          <a:p>
            <a:pPr lvl="0"/>
            <a:r>
              <a:rPr/>
              <a:t>Disturbed in vertigo</a:t>
            </a:r>
          </a:p>
        </p:txBody>
      </p:sp>
      <p:pic>
        <p:nvPicPr>
          <p:cNvPr descr="https://upload.wikimedia.org/wikipedia/commons/thumb/8/84/Vestibulo-ocular_reflex_EN.svg/1280px-Vestibulo-ocular_reflex_EN.svg.png" id="0" name="Picture 1"/>
          <p:cNvPicPr>
            <a:picLocks noGrp="1" noChangeAspect="1"/>
          </p:cNvPicPr>
          <p:nvPr/>
        </p:nvPicPr>
        <p:blipFill>
          <a:blip r:embed="rId2"/>
          <a:stretch>
            <a:fillRect/>
          </a:stretch>
        </p:blipFill>
        <p:spPr bwMode="auto">
          <a:xfrm>
            <a:off x="4648200" y="1295400"/>
            <a:ext cx="4038600" cy="26924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By .Koen - Own work based on: Simple vestibulo-ocular reflex.PNG and Image:ThreeNeuronArc.png, CC BY-SA 4.0, https://commons.wikimedia.org/w/index.php?curid=4130081</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Optokinetic nystagmus (OKN)</a:t>
            </a:r>
          </a:p>
        </p:txBody>
      </p:sp>
      <p:sp>
        <p:nvSpPr>
          <p:cNvPr id="3" name="Content Placeholder 2"/>
          <p:cNvSpPr>
            <a:spLocks noGrp="1"/>
          </p:cNvSpPr>
          <p:nvPr>
            <p:ph idx="1"/>
          </p:nvPr>
        </p:nvSpPr>
        <p:spPr/>
        <p:txBody>
          <a:bodyPr/>
          <a:lstStyle/>
          <a:p>
            <a:pPr lvl="0"/>
            <a:r>
              <a:rPr/>
              <a:t>Also called optokinetic response</a:t>
            </a:r>
          </a:p>
          <a:p>
            <a:pPr lvl="0"/>
            <a:r>
              <a:rPr/>
              <a:t>Fast tracking of whole field visual motion, then reset</a:t>
            </a:r>
          </a:p>
          <a:p>
            <a:pPr lvl="0" indent="0" marL="0">
              <a:buNone/>
            </a:pPr>
            <a:r>
              <a:rPr>
                <a:hlinkClick r:id="rId2"/>
              </a:rPr>
              <a:t>https://www.youtube.com/watch?v=CG5n516PCXM</a:t>
            </a:r>
          </a:p>
          <a:p>
            <a:pPr lvl="0" indent="0" marL="0">
              <a:buNone/>
            </a:pPr>
            <a:r>
              <a:rPr/>
              <a:t>– Stanton (2015)</a:t>
            </a:r>
          </a:p>
          <a:p>
            <a:pPr lvl="0" indent="0" marL="0">
              <a:buNone/>
            </a:pPr>
            <a:r>
              <a:rPr/>
              <a:t>By Student BSMU, CC BY-SA 3.0, </a:t>
            </a:r>
            <a:r>
              <a:rPr>
                <a:hlinkClick r:id="rId3"/>
              </a:rPr>
              <a:t>https://commons.wikimedia.org/w/index.php?curid=3004633</a:t>
            </a:r>
          </a:p>
          <a:p>
            <a:pPr lvl="0" indent="0" marL="0">
              <a:buNone/>
            </a:pPr>
            <a:r>
              <a:rPr/>
              <a:t>By Student BSMU, CC BY-SA 3.0, </a:t>
            </a:r>
            <a:r>
              <a:rPr>
                <a:hlinkClick r:id="rId4"/>
              </a:rPr>
              <a:t>https://commons.wikimedia.org/w/index.php?curid=3004633</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Pupil constriction/dilation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Bright light </a:t>
                </a:r>
                <a14:m>
                  <m:oMath xmlns:m="http://schemas.openxmlformats.org/officeDocument/2006/math">
                    <m:r>
                      <m:rPr>
                        <m:sty m:val="p"/>
                      </m:rPr>
                      <m:t>→</m:t>
                    </m:r>
                  </m:oMath>
                </a14:m>
                <a:r>
                  <a:rPr/>
                  <a:t> constriction</a:t>
                </a:r>
              </a:p>
              <a:p>
                <a:pPr lvl="1"/>
                <a:r>
                  <a:rPr/>
                  <a:t>Also by parasympathetic activation</a:t>
                </a:r>
              </a:p>
              <a:p>
                <a:pPr lvl="0"/>
                <a:r>
                  <a:rPr/>
                  <a:t>Dim light </a:t>
                </a:r>
                <a14:m>
                  <m:oMath xmlns:m="http://schemas.openxmlformats.org/officeDocument/2006/math">
                    <m:r>
                      <m:rPr>
                        <m:sty m:val="p"/>
                      </m:rPr>
                      <m:t>→</m:t>
                    </m:r>
                  </m:oMath>
                </a14:m>
                <a:r>
                  <a:rPr/>
                  <a:t> dilation</a:t>
                </a:r>
              </a:p>
              <a:p>
                <a:pPr lvl="1"/>
                <a:r>
                  <a:rPr/>
                  <a:t>Also by sympathetic activation</a:t>
                </a:r>
              </a:p>
            </p:txBody>
          </p:sp>
        </mc:Choice>
      </mc:AlternateContent>
      <p:pic>
        <p:nvPicPr>
          <p:cNvPr descr="https://upload.wikimedia.org/wikipedia/commons/a/a3/Eye_dilate.gif" id="0" name="Picture 1"/>
          <p:cNvPicPr>
            <a:picLocks noGrp="1" noChangeAspect="1"/>
          </p:cNvPicPr>
          <p:nvPr/>
        </p:nvPicPr>
        <p:blipFill>
          <a:blip r:embed="rId2"/>
          <a:stretch>
            <a:fillRect/>
          </a:stretch>
        </p:blipFill>
        <p:spPr bwMode="auto">
          <a:xfrm>
            <a:off x="4648200" y="1295400"/>
            <a:ext cx="4038600" cy="26924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By Greyson Orlando - Own work, Public Domain, https://commons.wikimedia.org/w/index.php?curid=1451923</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Eye muscles</a:t>
            </a:r>
          </a:p>
        </p:txBody>
      </p:sp>
      <p:pic>
        <p:nvPicPr>
          <p:cNvPr descr="https://upload.wikimedia.org/wikipedia/commons/3/3b/1412_Extraocular_Muscles.jp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By OpenStax College - Anatomy &amp; Physiology, Connexions Web site. http://cnx.org/content/col11496/1.6/, Jun 19, 2013., CC BY 3.0, https://commons.wikimedia.org/w/index.php?curid=30147999</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Eye muscles</a:t>
            </a:r>
          </a:p>
        </p:txBody>
      </p:sp>
      <p:pic>
        <p:nvPicPr>
          <p:cNvPr descr="https://pressbooks.library.torontomu.ca/assessmentnursingmain/wp-content/uploads/sites/421/2024/08/Extraocular-movement-via-cranial-nerves.jpg" id="0" name="Picture 1"/>
          <p:cNvPicPr>
            <a:picLocks noGrp="1" noChangeAspect="1"/>
          </p:cNvPicPr>
          <p:nvPr/>
        </p:nvPicPr>
        <p:blipFill>
          <a:blip r:embed="rId2"/>
          <a:stretch>
            <a:fillRect/>
          </a:stretch>
        </p:blipFill>
        <p:spPr bwMode="auto">
          <a:xfrm>
            <a:off x="584200" y="1193800"/>
            <a:ext cx="7962900" cy="3390900"/>
          </a:xfrm>
          <a:prstGeom prst="rect">
            <a:avLst/>
          </a:prstGeom>
          <a:noFill/>
          <a:ln w="9525">
            <a:noFill/>
            <a:headEnd/>
            <a:tailEnd/>
          </a:ln>
        </p:spPr>
      </p:pic>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Nerve</a:t>
                      </a:r>
                    </a:p>
                  </a:txBody>
                  <a:tcPr/>
                </a:tc>
                <a:tc>
                  <a:txBody>
                    <a:bodyPr/>
                    <a:lstStyle/>
                    <a:p>
                      <a:pPr lvl="0" indent="0" marL="0">
                        <a:buNone/>
                      </a:pPr>
                      <a:r>
                        <a:rPr/>
                        <a:t>Eye Muscle</a:t>
                      </a:r>
                    </a:p>
                  </a:txBody>
                  <a:tcPr/>
                </a:tc>
              </a:tr>
              <a:tr h="0">
                <a:tc>
                  <a:txBody>
                    <a:bodyPr/>
                    <a:lstStyle/>
                    <a:p>
                      <a:pPr lvl="0" indent="0" marL="0">
                        <a:buNone/>
                      </a:pPr>
                      <a:r>
                        <a:rPr/>
                        <a:t>CN III Oculomotor</a:t>
                      </a:r>
                    </a:p>
                  </a:txBody>
                </a:tc>
                <a:tc>
                  <a:txBody>
                    <a:bodyPr/>
                    <a:lstStyle/>
                    <a:p>
                      <a:pPr lvl="0" indent="0" marL="0">
                        <a:buNone/>
                      </a:pPr>
                      <a:r>
                        <a:rPr/>
                        <a:t>Superior rectus</a:t>
                      </a:r>
                    </a:p>
                  </a:txBody>
                </a:tc>
              </a:tr>
              <a:tr h="0">
                <a:tc>
                  <a:txBody>
                    <a:bodyPr/>
                    <a:lstStyle/>
                    <a:p>
                      <a:endParaRPr/>
                    </a:p>
                  </a:txBody>
                </a:tc>
                <a:tc>
                  <a:txBody>
                    <a:bodyPr/>
                    <a:lstStyle/>
                    <a:p>
                      <a:pPr lvl="0" indent="0" marL="0">
                        <a:buNone/>
                      </a:pPr>
                      <a:r>
                        <a:rPr/>
                        <a:t>Inferior rectus</a:t>
                      </a:r>
                    </a:p>
                  </a:txBody>
                </a:tc>
              </a:tr>
              <a:tr h="0">
                <a:tc>
                  <a:txBody>
                    <a:bodyPr/>
                    <a:lstStyle/>
                    <a:p>
                      <a:endParaRPr/>
                    </a:p>
                  </a:txBody>
                </a:tc>
                <a:tc>
                  <a:txBody>
                    <a:bodyPr/>
                    <a:lstStyle/>
                    <a:p>
                      <a:pPr lvl="0" indent="0" marL="0">
                        <a:buNone/>
                      </a:pPr>
                      <a:r>
                        <a:rPr/>
                        <a:t>Medial rectus</a:t>
                      </a:r>
                    </a:p>
                  </a:txBody>
                </a:tc>
              </a:tr>
              <a:tr h="0">
                <a:tc>
                  <a:txBody>
                    <a:bodyPr/>
                    <a:lstStyle/>
                    <a:p>
                      <a:endParaRPr/>
                    </a:p>
                  </a:txBody>
                </a:tc>
                <a:tc>
                  <a:txBody>
                    <a:bodyPr/>
                    <a:lstStyle/>
                    <a:p>
                      <a:pPr lvl="0" indent="0" marL="0">
                        <a:buNone/>
                      </a:pPr>
                      <a:r>
                        <a:rPr/>
                        <a:t>Inferior oblique</a:t>
                      </a:r>
                    </a:p>
                  </a:txBody>
                </a:tc>
              </a:tr>
              <a:tr h="0">
                <a:tc>
                  <a:txBody>
                    <a:bodyPr/>
                    <a:lstStyle/>
                    <a:p>
                      <a:endParaRPr/>
                    </a:p>
                  </a:txBody>
                </a:tc>
                <a:tc>
                  <a:txBody>
                    <a:bodyPr/>
                    <a:lstStyle/>
                    <a:p>
                      <a:pPr lvl="0" indent="0" marL="0">
                        <a:buNone/>
                      </a:pPr>
                      <a:r>
                        <a:rPr/>
                        <a:t>Iris (pupillary) sphincter</a:t>
                      </a:r>
                    </a:p>
                  </a:txBody>
                </a:tc>
              </a:tr>
              <a:tr h="0">
                <a:tc>
                  <a:txBody>
                    <a:bodyPr/>
                    <a:lstStyle/>
                    <a:p>
                      <a:pPr lvl="0" indent="0" marL="0">
                        <a:buNone/>
                      </a:pPr>
                      <a:r>
                        <a:rPr/>
                        <a:t>CN IV Trochlear</a:t>
                      </a:r>
                    </a:p>
                  </a:txBody>
                </a:tc>
                <a:tc>
                  <a:txBody>
                    <a:bodyPr/>
                    <a:lstStyle/>
                    <a:p>
                      <a:pPr lvl="0" indent="0" marL="0">
                        <a:buNone/>
                      </a:pPr>
                      <a:r>
                        <a:rPr/>
                        <a:t>Superior oblique</a:t>
                      </a:r>
                    </a:p>
                  </a:txBody>
                </a:tc>
              </a:tr>
              <a:tr h="0">
                <a:tc>
                  <a:txBody>
                    <a:bodyPr/>
                    <a:lstStyle/>
                    <a:p>
                      <a:pPr lvl="0" indent="0" marL="0">
                        <a:buNone/>
                      </a:pPr>
                      <a:r>
                        <a:rPr/>
                        <a:t>CN VI Abducens</a:t>
                      </a:r>
                    </a:p>
                  </a:txBody>
                </a:tc>
                <a:tc>
                  <a:txBody>
                    <a:bodyPr/>
                    <a:lstStyle/>
                    <a:p>
                      <a:pPr lvl="0" indent="0" marL="0">
                        <a:buNone/>
                      </a:pPr>
                      <a:r>
                        <a:rPr/>
                        <a:t>Lateral rectus</a:t>
                      </a:r>
                    </a:p>
                  </a:txBody>
                </a:tc>
              </a:tr>
              <a:tr h="0">
                <a:tc>
                  <a:txBody>
                    <a:bodyPr/>
                    <a:lstStyle/>
                    <a:p>
                      <a:pPr lvl="0" indent="0" marL="0">
                        <a:buNone/>
                      </a:pPr>
                      <a:r>
                        <a:rPr/>
                        <a:t>ANS sympathetic</a:t>
                      </a:r>
                    </a:p>
                  </a:txBody>
                </a:tc>
                <a:tc>
                  <a:txBody>
                    <a:bodyPr/>
                    <a:lstStyle/>
                    <a:p>
                      <a:pPr lvl="0" indent="0" marL="0">
                        <a:buNone/>
                      </a:pPr>
                      <a:r>
                        <a:rPr/>
                        <a:t>Iris (pupillary) dilator</a:t>
                      </a:r>
                    </a:p>
                  </a:txBody>
                </a:tc>
              </a:tr>
            </a:tbl>
          </a:graphicData>
        </a:graphic>
      </p:graphicFrame>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Inputs to CN III</a:t>
            </a:r>
          </a:p>
        </p:txBody>
      </p:sp>
      <p:pic>
        <p:nvPicPr>
          <p:cNvPr descr="wk-03-2026-01-29-action_files/figure-pptx/mermaid-figure-3.png" id="0" name="Picture 1"/>
          <p:cNvPicPr>
            <a:picLocks noGrp="1" noChangeAspect="1"/>
          </p:cNvPicPr>
          <p:nvPr/>
        </p:nvPicPr>
        <p:blipFill>
          <a:blip r:embed="rId2"/>
          <a:stretch>
            <a:fillRect/>
          </a:stretch>
        </p:blipFill>
        <p:spPr bwMode="auto">
          <a:xfrm>
            <a:off x="457200" y="1765300"/>
            <a:ext cx="8229600" cy="2235200"/>
          </a:xfrm>
          <a:prstGeom prst="rect">
            <a:avLst/>
          </a:prstGeom>
          <a:noFill/>
          <a:ln w="9525">
            <a:noFill/>
            <a:headEnd/>
            <a:tailEnd/>
          </a:ln>
        </p:spPr>
      </p:pic>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Inputs to CN III.</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Considerations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Sensory feedback</a:t>
                </a:r>
              </a:p>
              <a:p>
                <a:pPr lvl="1"/>
                <a:r>
                  <a:rPr/>
                  <a:t>Move eyes </a:t>
                </a:r>
                <a14:m>
                  <m:oMath xmlns:m="http://schemas.openxmlformats.org/officeDocument/2006/math">
                    <m:r>
                      <m:rPr>
                        <m:sty m:val="p"/>
                      </m:rPr>
                      <m:t>→</m:t>
                    </m:r>
                  </m:oMath>
                </a14:m>
                <a:r>
                  <a:rPr/>
                  <a:t> shift visual field</a:t>
                </a:r>
              </a:p>
              <a:p>
                <a:pPr lvl="1"/>
                <a:r>
                  <a:rPr/>
                  <a:t>Change vergence or lens thickness </a:t>
                </a:r>
                <a14:m>
                  <m:oMath xmlns:m="http://schemas.openxmlformats.org/officeDocument/2006/math">
                    <m:r>
                      <m:rPr>
                        <m:sty m:val="p"/>
                      </m:rPr>
                      <m:t>→</m:t>
                    </m:r>
                  </m:oMath>
                </a14:m>
                <a:r>
                  <a:rPr/>
                  <a:t> change image focus</a:t>
                </a:r>
              </a:p>
              <a:p>
                <a:pPr lvl="1"/>
                <a:r>
                  <a:rPr/>
                  <a:t>Eye muscles (probably) have proprioceptors analogous to spindles in skeletal muscles</a:t>
                </a:r>
              </a:p>
            </p:txBody>
          </p:sp>
        </mc:Choice>
      </mc:AlternateContent>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Considerations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Relatively simple physics:</a:t>
                </a:r>
              </a:p>
              <a:p>
                <a:pPr lvl="1"/>
                <a:r>
                  <a:rPr/>
                  <a:t>Limited influence of gravity, friction</a:t>
                </a:r>
              </a:p>
              <a:p>
                <a:pPr lvl="0"/>
                <a:r>
                  <a:rPr/>
                  <a:t>Small # of muscles </a:t>
                </a:r>
                <a14:m>
                  <m:oMath xmlns:m="http://schemas.openxmlformats.org/officeDocument/2006/math">
                    <m:r>
                      <m:rPr>
                        <m:sty m:val="p"/>
                      </m:rPr>
                      <m:t>→</m:t>
                    </m:r>
                  </m:oMath>
                </a14:m>
                <a:r>
                  <a:rPr/>
                  <a:t> “model” motor system?</a:t>
                </a:r>
              </a:p>
              <a:p>
                <a:pPr lvl="0"/>
                <a:r>
                  <a:rPr b="1"/>
                  <a:t>DEMO</a:t>
                </a:r>
                <a:r>
                  <a:rPr/>
                  <a:t>: Illustration of “forward”/generative model/</a:t>
                </a:r>
                <a:r>
                  <a:rPr>
                    <a:hlinkClick r:id="rId2"/>
                  </a:rPr>
                  <a:t>unconscious inference</a:t>
                </a:r>
                <a:r>
                  <a:rPr/>
                  <a:t>?</a:t>
                </a:r>
              </a:p>
              <a:p>
                <a:pPr lvl="1"/>
                <a:r>
                  <a:rPr/>
                  <a:t>Predicting future/interpreting current sensory states</a:t>
                </a:r>
              </a:p>
              <a:p>
                <a:pPr lvl="0"/>
                <a:r>
                  <a:rPr/>
                  <a:t>Converging inputs: voluntary and involuntary control</a:t>
                </a:r>
              </a:p>
            </p:txBody>
          </p:sp>
        </mc:Choice>
      </mc:AlternateContent>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Locomotion: Goals</a:t>
            </a:r>
          </a:p>
        </p:txBody>
      </p:sp>
      <p:sp>
        <p:nvSpPr>
          <p:cNvPr id="3" name="Content Placeholder 2"/>
          <p:cNvSpPr>
            <a:spLocks noGrp="1"/>
          </p:cNvSpPr>
          <p:nvPr>
            <p:ph idx="1" sz="half"/>
          </p:nvPr>
        </p:nvSpPr>
        <p:spPr/>
        <p:txBody>
          <a:bodyPr/>
          <a:lstStyle/>
          <a:p>
            <a:pPr lvl="0"/>
            <a:r>
              <a:rPr/>
              <a:t>Keep balance</a:t>
            </a:r>
          </a:p>
          <a:p>
            <a:pPr lvl="0"/>
            <a:r>
              <a:rPr/>
              <a:t>Control speed</a:t>
            </a:r>
          </a:p>
          <a:p>
            <a:pPr lvl="0"/>
            <a:r>
              <a:rPr/>
              <a:t>Steer</a:t>
            </a:r>
          </a:p>
          <a:p>
            <a:pPr lvl="1"/>
            <a:r>
              <a:rPr/>
              <a:t>Toward</a:t>
            </a:r>
          </a:p>
          <a:p>
            <a:pPr lvl="1"/>
            <a:r>
              <a:rPr/>
              <a:t>Away</a:t>
            </a:r>
          </a:p>
        </p:txBody>
      </p:sp>
      <p:sp>
        <p:nvSpPr>
          <p:cNvPr id="4" name="Content Placeholder 3"/>
          <p:cNvSpPr>
            <a:spLocks noGrp="1"/>
          </p:cNvSpPr>
          <p:nvPr>
            <p:ph idx="2" sz="half"/>
          </p:nvPr>
        </p:nvSpPr>
        <p:spPr/>
        <p:txBody>
          <a:bodyPr/>
          <a:lstStyle/>
          <a:p>
            <a:pPr lvl="0" indent="0" marL="0">
              <a:buNone/>
            </a:pPr>
            <a:r>
              <a:rPr>
                <a:hlinkClick r:id="rId2"/>
              </a:rPr>
              <a:t>https://www.youtube.com/shorts/pxWIauT1WaM</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Physics of balance</a:t>
            </a:r>
          </a:p>
        </p:txBody>
      </p:sp>
      <p:sp>
        <p:nvSpPr>
          <p:cNvPr id="3" name="Content Placeholder 2"/>
          <p:cNvSpPr>
            <a:spLocks noGrp="1"/>
          </p:cNvSpPr>
          <p:nvPr>
            <p:ph idx="1" sz="half"/>
          </p:nvPr>
        </p:nvSpPr>
        <p:spPr/>
        <p:txBody>
          <a:bodyPr/>
          <a:lstStyle/>
          <a:p>
            <a:pPr lvl="0"/>
            <a:r>
              <a:rPr/>
              <a:t>Body ~ inverted pendulum</a:t>
            </a:r>
          </a:p>
          <a:p>
            <a:pPr lvl="1"/>
            <a:r>
              <a:rPr/>
              <a:t>Inherently unstable</a:t>
            </a:r>
          </a:p>
          <a:p>
            <a:pPr lvl="1"/>
            <a:r>
              <a:rPr/>
              <a:t>Requires </a:t>
            </a:r>
            <a:r>
              <a:rPr i="1"/>
              <a:t>control</a:t>
            </a:r>
          </a:p>
        </p:txBody>
      </p:sp>
      <p:sp>
        <p:nvSpPr>
          <p:cNvPr id="4" name="Content Placeholder 3"/>
          <p:cNvSpPr>
            <a:spLocks noGrp="1"/>
          </p:cNvSpPr>
          <p:nvPr>
            <p:ph idx="2" sz="half"/>
          </p:nvPr>
        </p:nvSpPr>
        <p:spPr/>
        <p:txBody>
          <a:bodyPr/>
          <a:lstStyle/>
          <a:p>
            <a:pPr lvl="0" indent="0" marL="0">
              <a:buNone/>
            </a:pPr>
            <a:r>
              <a:rPr>
                <a:hlinkClick r:id="rId2"/>
              </a:rPr>
              <a:t>https://www.youtube.com/watch?v=Rh7JuL3PRSY</a:t>
            </a:r>
          </a:p>
          <a:p>
            <a:pPr lvl="0" indent="0" marL="0">
              <a:buNone/>
            </a:pPr>
            <a:r>
              <a:rPr/>
              <a:t>– Lab. (2022)</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Keep Center of Mass (COM) within base of support</a:t>
            </a:r>
          </a:p>
          <a:p>
            <a:pPr lvl="0" indent="0" marL="0">
              <a:buNone/>
            </a:pPr>
            <a:r>
              <a:rPr>
                <a:hlinkClick r:id="rId2"/>
              </a:rPr>
              <a:t>https://www.youtube.com/watch?v=5s1gEi5wfLg&amp;t=11s</a:t>
            </a:r>
          </a:p>
          <a:p>
            <a:pPr lvl="0" indent="0" marL="0">
              <a:buNone/>
            </a:pPr>
            <a:r>
              <a:rPr/>
              <a:t>– Motion (2024)</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Locomotion: Physics</a:t>
            </a:r>
          </a:p>
        </p:txBody>
      </p:sp>
      <p:sp>
        <p:nvSpPr>
          <p:cNvPr id="3" name="Content Placeholder 2"/>
          <p:cNvSpPr>
            <a:spLocks noGrp="1"/>
          </p:cNvSpPr>
          <p:nvPr>
            <p:ph idx="1" sz="half"/>
          </p:nvPr>
        </p:nvSpPr>
        <p:spPr/>
        <p:txBody>
          <a:bodyPr/>
          <a:lstStyle/>
          <a:p>
            <a:pPr lvl="0"/>
            <a:r>
              <a:rPr/>
              <a:t>Rhythmic/periodic movement of limbs</a:t>
            </a:r>
          </a:p>
          <a:p>
            <a:pPr lvl="1"/>
            <a:r>
              <a:rPr/>
              <a:t>Sequence of left/right leg flexions/extensions</a:t>
            </a:r>
          </a:p>
          <a:p>
            <a:pPr lvl="1"/>
            <a:r>
              <a:rPr/>
              <a:t>arm swing</a:t>
            </a:r>
          </a:p>
          <a:p>
            <a:pPr lvl="1"/>
            <a:r>
              <a:rPr/>
              <a:t>hips/trunk/neck movements</a:t>
            </a:r>
          </a:p>
          <a:p>
            <a:pPr lvl="0"/>
            <a:r>
              <a:rPr/>
              <a:t>Legs, hips can be modeled as generalized spring-loaded inverted pendulum (G-SLIP)</a:t>
            </a:r>
          </a:p>
        </p:txBody>
      </p:sp>
      <p:pic>
        <p:nvPicPr>
          <p:cNvPr descr="https://content.cld.iop.org/journals/1748-3190/19/2/026017/revision2/bbad2869f1_lr.jpg" id="0" name="Picture 1"/>
          <p:cNvPicPr>
            <a:picLocks noGrp="1" noChangeAspect="1"/>
          </p:cNvPicPr>
          <p:nvPr/>
        </p:nvPicPr>
        <p:blipFill>
          <a:blip r:embed="rId2"/>
          <a:stretch>
            <a:fillRect/>
          </a:stretch>
        </p:blipFill>
        <p:spPr bwMode="auto">
          <a:xfrm>
            <a:off x="5181600" y="1193800"/>
            <a:ext cx="2984500" cy="28829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Lu &amp; Lin (2024)</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Locomotion: Neural signalling</a:t>
            </a:r>
          </a:p>
        </p:txBody>
      </p:sp>
      <p:sp>
        <p:nvSpPr>
          <p:cNvPr id="3" name="Content Placeholder 2"/>
          <p:cNvSpPr>
            <a:spLocks noGrp="1"/>
          </p:cNvSpPr>
          <p:nvPr>
            <p:ph idx="1"/>
          </p:nvPr>
        </p:nvSpPr>
        <p:spPr/>
        <p:txBody>
          <a:bodyPr/>
          <a:lstStyle/>
          <a:p>
            <a:pPr lvl="0"/>
            <a:r>
              <a:rPr/>
              <a:t>Central pattern generators (CPG) in spinal cord?</a:t>
            </a:r>
          </a:p>
          <a:p>
            <a:pPr lvl="0" indent="0" marL="0">
              <a:buNone/>
            </a:pPr>
            <a:r>
              <a:rPr>
                <a:hlinkClick r:id="rId2"/>
              </a:rPr>
              <a:t>https://www.youtube.com/shorts/pxWIauT1WaM</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Or “rotational” patterns…</a:t>
            </a:r>
          </a:p>
        </p:txBody>
      </p:sp>
      <p:pic>
        <p:nvPicPr>
          <p:cNvPr descr="https://media.nature.com/lw767/magazine-assets/d41586-022-02238-1/d41586-022-02238-1_23580834.png?as=webp" id="0" name="Picture 1"/>
          <p:cNvPicPr>
            <a:picLocks noGrp="1" noChangeAspect="1"/>
          </p:cNvPicPr>
          <p:nvPr/>
        </p:nvPicPr>
        <p:blipFill>
          <a:blip r:embed="rId2"/>
          <a:stretch>
            <a:fillRect/>
          </a:stretch>
        </p:blipFill>
        <p:spPr bwMode="auto">
          <a:xfrm>
            <a:off x="2819400" y="1193800"/>
            <a:ext cx="35052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Bagnall (2022)</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Reaching: Goals</a:t>
            </a:r>
          </a:p>
        </p:txBody>
      </p:sp>
      <p:sp>
        <p:nvSpPr>
          <p:cNvPr id="3" name="Content Placeholder 2"/>
          <p:cNvSpPr>
            <a:spLocks noGrp="1"/>
          </p:cNvSpPr>
          <p:nvPr>
            <p:ph idx="1" sz="half"/>
          </p:nvPr>
        </p:nvSpPr>
        <p:spPr/>
        <p:txBody>
          <a:bodyPr/>
          <a:lstStyle/>
          <a:p>
            <a:pPr lvl="0"/>
            <a:r>
              <a:rPr/>
              <a:t>Move hand (foot/mouth) to contact target</a:t>
            </a:r>
          </a:p>
          <a:p>
            <a:pPr lvl="0"/>
            <a:r>
              <a:rPr/>
              <a:t>Avoid obstacles</a:t>
            </a:r>
          </a:p>
        </p:txBody>
      </p:sp>
      <p:sp>
        <p:nvSpPr>
          <p:cNvPr id="4" name="Content Placeholder 3"/>
          <p:cNvSpPr>
            <a:spLocks noGrp="1"/>
          </p:cNvSpPr>
          <p:nvPr>
            <p:ph idx="2" sz="half"/>
          </p:nvPr>
        </p:nvSpPr>
        <p:spPr/>
        <p:txBody>
          <a:bodyPr/>
          <a:lstStyle/>
          <a:p>
            <a:pPr lvl="0" indent="0" marL="0">
              <a:buNone/>
            </a:pPr>
            <a:r>
              <a:rPr/>
              <a:t>Content</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Speech: Goals</a:t>
            </a:r>
          </a:p>
        </p:txBody>
      </p:sp>
      <p:sp>
        <p:nvSpPr>
          <p:cNvPr id="3" name="Content Placeholder 2"/>
          <p:cNvSpPr>
            <a:spLocks noGrp="1"/>
          </p:cNvSpPr>
          <p:nvPr>
            <p:ph idx="1"/>
          </p:nvPr>
        </p:nvSpPr>
        <p:spPr/>
        <p:txBody>
          <a:bodyPr/>
          <a:lstStyle/>
          <a:p>
            <a:pPr lvl="0"/>
            <a:r>
              <a:rPr/>
              <a:t>Involuntary vs. voluntary</a:t>
            </a:r>
          </a:p>
          <a:p>
            <a:pPr lvl="0"/>
            <a:r>
              <a:rPr/>
              <a:t>Vocalizations types</a:t>
            </a:r>
          </a:p>
          <a:p>
            <a:pPr lvl="1"/>
            <a:r>
              <a:rPr/>
              <a:t>Linguistic</a:t>
            </a:r>
          </a:p>
          <a:p>
            <a:pPr lvl="1"/>
            <a:r>
              <a:rPr/>
              <a:t>Paralinguistic</a:t>
            </a:r>
          </a:p>
          <a:p>
            <a:pPr lvl="2"/>
            <a:r>
              <a:rPr/>
              <a:t>Pitch, tone, rhythm, tempo, etc.</a:t>
            </a:r>
          </a:p>
          <a:p>
            <a:pPr lvl="1"/>
            <a:r>
              <a:rPr/>
              <a:t>Non-linguistic</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Components</a:t>
            </a:r>
          </a:p>
        </p:txBody>
      </p:sp>
      <p:sp>
        <p:nvSpPr>
          <p:cNvPr id="3" name="Content Placeholder 2"/>
          <p:cNvSpPr>
            <a:spLocks noGrp="1"/>
          </p:cNvSpPr>
          <p:nvPr>
            <p:ph idx="1"/>
          </p:nvPr>
        </p:nvSpPr>
        <p:spPr/>
        <p:txBody>
          <a:bodyPr/>
          <a:lstStyle/>
          <a:p>
            <a:pPr lvl="0"/>
            <a:r>
              <a:rPr/>
              <a:t>Lips, tongue, mouth</a:t>
            </a:r>
          </a:p>
          <a:p>
            <a:pPr lvl="0"/>
            <a:r>
              <a:rPr/>
              <a:t>Pharynx</a:t>
            </a:r>
          </a:p>
          <a:p>
            <a:pPr lvl="0"/>
            <a:r>
              <a:rPr/>
              <a:t>Larynx</a:t>
            </a:r>
          </a:p>
          <a:p>
            <a:pPr lvl="0"/>
            <a:r>
              <a:rPr/>
              <a:t>Lungs</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nci-media.cancer.gov/pdq/media/images/713970.jpg" id="0" name="Picture 1"/>
          <p:cNvPicPr>
            <a:picLocks noGrp="1" noChangeAspect="1"/>
          </p:cNvPicPr>
          <p:nvPr/>
        </p:nvPicPr>
        <p:blipFill>
          <a:blip r:embed="rId2"/>
          <a:stretch>
            <a:fillRect/>
          </a:stretch>
        </p:blipFill>
        <p:spPr bwMode="auto">
          <a:xfrm>
            <a:off x="2768600" y="1193800"/>
            <a:ext cx="3606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https://www.cancer.gov/publications/dictionaries/cancer-terms/def/pharynx</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https://en.wikipedia.org/wiki/File:Real-time_MRI_-_Speaking_(English).ogv</a:t>
            </a:r>
          </a:p>
          <a:p>
            <a:pPr lvl="0" indent="0" marL="0">
              <a:buNone/>
            </a:pPr>
            <a:r>
              <a:rPr/>
              <a:t>– Wikipedia contributors (2026)</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Consonants</a:t>
            </a:r>
          </a:p>
        </p:txBody>
      </p:sp>
      <p:sp>
        <p:nvSpPr>
          <p:cNvPr id="3" name="Content Placeholder 2"/>
          <p:cNvSpPr>
            <a:spLocks noGrp="1"/>
          </p:cNvSpPr>
          <p:nvPr>
            <p:ph idx="1"/>
          </p:nvPr>
        </p:nvSpPr>
        <p:spPr/>
        <p:txBody>
          <a:bodyPr/>
          <a:lstStyle/>
          <a:p>
            <a:pPr lvl="0"/>
            <a:r>
              <a:rPr/>
              <a:t>Place and manner of articulation</a:t>
            </a:r>
          </a:p>
          <a:p>
            <a:pPr lvl="0"/>
            <a:r>
              <a:rPr/>
              <a:t>Voicing</a:t>
            </a:r>
          </a:p>
          <a:p>
            <a:pPr lvl="1"/>
            <a:r>
              <a:rPr/>
              <a:t>“B” vs. “P”</a:t>
            </a:r>
          </a:p>
          <a:p>
            <a:pPr lvl="1"/>
            <a:r>
              <a:rPr/>
              <a:t>“D” vs. “T”</a:t>
            </a:r>
          </a:p>
          <a:p>
            <a:pPr lvl="1"/>
            <a:r>
              <a:rPr/>
              <a:t>“G” vs. “K”</a:t>
            </a:r>
          </a:p>
          <a:p>
            <a:pPr lvl="1"/>
            <a:r>
              <a:rPr/>
              <a:t>“Z” vs. “S”</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upload.wikimedia.org/wikipedia/commons/thumb/7/75/Places_of_articulation.svg/1280px-Places_of_articulation.svg.pn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By created by User:ish shwar (original .png deleted), .svg by Rohieb - sagittal section image based on Minifie et al. (1973:); articulation places are from Catford (1977), CC BY-SA 3.0, https://commons.wikimedia.org/w/index.php?curid=1771968</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www.jneurosci.org/content/jneuro/36/45/11440/F1.large.jp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Simonyan et al. (2016) Figure 1</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wk-03-2026-01-29-action_files/figure-pptx/mermaid-figure-2.png" id="0" name="Picture 1"/>
          <p:cNvPicPr>
            <a:picLocks noGrp="1" noChangeAspect="1"/>
          </p:cNvPicPr>
          <p:nvPr/>
        </p:nvPicPr>
        <p:blipFill>
          <a:blip r:embed="rId2"/>
          <a:stretch>
            <a:fillRect/>
          </a:stretch>
        </p:blipFill>
        <p:spPr bwMode="auto">
          <a:xfrm>
            <a:off x="457200" y="1612900"/>
            <a:ext cx="8229600" cy="2552700"/>
          </a:xfrm>
          <a:prstGeom prst="rect">
            <a:avLst/>
          </a:prstGeom>
          <a:noFill/>
          <a:ln w="9525">
            <a:noFill/>
            <a:headEnd/>
            <a:tailEnd/>
          </a:ln>
        </p:spPr>
      </p:pic>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Inputs to cranial nerve nuclei involved in speech from cortex and midbrain.</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a:t>
            </a:r>
          </a:p>
        </p:txBody>
      </p:sp>
      <p:sp>
        <p:nvSpPr>
          <p:cNvPr id="3" name="Content Placeholder 2"/>
          <p:cNvSpPr>
            <a:spLocks noGrp="1"/>
          </p:cNvSpPr>
          <p:nvPr>
            <p:ph idx="1"/>
          </p:nvPr>
        </p:nvSpPr>
        <p:spPr/>
        <p:txBody>
          <a:bodyPr/>
          <a:lstStyle/>
          <a:p>
            <a:pPr lvl="0" indent="0" marL="0">
              <a:buNone/>
            </a:pPr>
            <a:r>
              <a:rPr>
                <a:hlinkClick r:id="rId2"/>
              </a:rPr>
              <a:t>https://www.youtube.com/watch?v=4X4Fy8YqysY</a:t>
            </a:r>
          </a:p>
          <a:p>
            <a:pPr lvl="0" indent="0" marL="0">
              <a:buNone/>
            </a:pPr>
            <a:r>
              <a:rPr/>
              <a:t>– VideoCollectables (2014)</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Considerations</a:t>
            </a:r>
          </a:p>
        </p:txBody>
      </p:sp>
      <p:sp>
        <p:nvSpPr>
          <p:cNvPr id="3" name="Content Placeholder 2"/>
          <p:cNvSpPr>
            <a:spLocks noGrp="1"/>
          </p:cNvSpPr>
          <p:nvPr>
            <p:ph idx="1"/>
          </p:nvPr>
        </p:nvSpPr>
        <p:spPr/>
        <p:txBody>
          <a:bodyPr/>
          <a:lstStyle/>
          <a:p>
            <a:pPr lvl="0"/>
            <a:r>
              <a:rPr/>
              <a:t>Hierarchical, parallel control</a:t>
            </a:r>
          </a:p>
          <a:p>
            <a:pPr lvl="0"/>
            <a:r>
              <a:rPr/>
              <a:t>Sensory feedback</a:t>
            </a:r>
          </a:p>
          <a:p>
            <a:pPr lvl="1"/>
            <a:r>
              <a:rPr/>
              <a:t>Vocal muscle stretch receptors</a:t>
            </a:r>
          </a:p>
          <a:p>
            <a:pPr lvl="1"/>
            <a:r>
              <a:rPr/>
              <a:t>Auditory</a:t>
            </a:r>
          </a:p>
          <a:p>
            <a:pPr lvl="0"/>
            <a:r>
              <a:rPr/>
              <a:t>Vocal muscles like fingers</a:t>
            </a:r>
          </a:p>
          <a:p>
            <a:pPr lvl="1"/>
            <a:r>
              <a:rPr/>
              <a:t>Large area of M1</a:t>
            </a:r>
          </a:p>
          <a:p>
            <a:pPr lvl="1"/>
            <a:r>
              <a:rPr/>
              <a:t>Individuated control over</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www.jneurosci.org/content/jneuro/36/45/11440/F2.large.jp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Simonyan et al. (2016) Figure 2</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Illustrative motor systems: Interim summary</a:t>
            </a:r>
          </a:p>
        </p:txBody>
      </p:sp>
      <p:sp>
        <p:nvSpPr>
          <p:cNvPr id="3" name="Content Placeholder 2"/>
          <p:cNvSpPr>
            <a:spLocks noGrp="1"/>
          </p:cNvSpPr>
          <p:nvPr>
            <p:ph idx="1"/>
          </p:nvPr>
        </p:nvSpPr>
        <p:spPr/>
        <p:txBody>
          <a:bodyPr/>
          <a:lstStyle/>
          <a:p>
            <a:pPr lvl="0"/>
            <a:r>
              <a:rPr/>
              <a:t>Many (most?) behaviors involve sequences of</a:t>
            </a:r>
          </a:p>
          <a:p>
            <a:pPr lvl="1"/>
            <a:r>
              <a:rPr/>
              <a:t>looking/orienting + locomotion + reaching/manipulation + vocalization</a:t>
            </a:r>
          </a:p>
          <a:p>
            <a:pPr lvl="0"/>
            <a:r>
              <a:rPr/>
              <a:t>Parallel, coordinated, sequential outputs to multiple motor systems</a:t>
            </a:r>
          </a:p>
          <a:p>
            <a:pPr lvl="0"/>
            <a:r>
              <a:rPr/>
              <a:t>Direct (cerebral) cortical control over muscles of eyes, fingers, vocal apparatus</a:t>
            </a:r>
          </a:p>
          <a:p>
            <a:pPr lvl="0"/>
            <a:r>
              <a:rPr/>
              <a:t>Feedback critical, often multisensory</a:t>
            </a:r>
          </a:p>
          <a:p>
            <a:pPr lvl="0"/>
            <a:r>
              <a:rPr/>
              <a:t>NS exploits physics of body</a:t>
            </a:r>
          </a:p>
          <a:p>
            <a:pPr lvl="0" indent="0" marL="0">
              <a:buNone/>
            </a:pPr>
            <a:r>
              <a:rPr/>
              <a:t>By The original uploader was Davigoli at English Wikipedia. - Transferred from en.wikipedia to Commons., https://at.or.at/hans/solitude/, GPLv2, https://commons.wikimedia.org/w/index.php?curid=3939703</a:t>
            </a:r>
          </a:p>
          <a:p>
            <a:pPr lvl="0" indent="0" marL="0">
              <a:buNone/>
            </a:pPr>
            <a:r>
              <a:rPr/>
              <a:t>By The original uploader was Davigoli at English Wikipedia. - Transferred from en.wikipedia to Commons., https://at.or.at/hans/solitude/, GPLv2, https://commons.wikimedia.org/w/index.php?curid=3939703</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Wrap-up</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Main points</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Next time</a:t>
            </a:r>
          </a:p>
        </p:txBody>
      </p:sp>
      <p:sp>
        <p:nvSpPr>
          <p:cNvPr id="3" name="Content Placeholder 2"/>
          <p:cNvSpPr>
            <a:spLocks noGrp="1"/>
          </p:cNvSpPr>
          <p:nvPr>
            <p:ph idx="1"/>
          </p:nvPr>
        </p:nvSpPr>
        <p:spPr/>
        <p:txBody>
          <a:bodyPr/>
          <a:lstStyle/>
          <a:p>
            <a:pPr lvl="0"/>
            <a:r>
              <a:rPr/>
              <a:t>Perception</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Resources</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About</a:t>
            </a:r>
          </a:p>
        </p:txBody>
      </p:sp>
      <p:sp>
        <p:nvSpPr>
          <p:cNvPr id="3" name="Content Placeholder 2"/>
          <p:cNvSpPr>
            <a:spLocks noGrp="1"/>
          </p:cNvSpPr>
          <p:nvPr>
            <p:ph idx="1"/>
          </p:nvPr>
        </p:nvSpPr>
        <p:spPr/>
        <p:txBody>
          <a:bodyPr/>
          <a:lstStyle/>
          <a:p>
            <a:pPr lvl="0" indent="0" marL="0">
              <a:buNone/>
            </a:pPr>
            <a:r>
              <a:rPr/>
              <a:t>This talk was produced using </a:t>
            </a:r>
            <a:r>
              <a:rPr>
                <a:hlinkClick r:id="rId2"/>
              </a:rPr>
              <a:t>Quarto</a:t>
            </a:r>
            <a:r>
              <a:rPr/>
              <a:t>, using the </a:t>
            </a:r>
            <a:r>
              <a:rPr>
                <a:hlinkClick r:id="rId3"/>
              </a:rPr>
              <a:t>RStudio</a:t>
            </a:r>
            <a:r>
              <a:rPr/>
              <a:t> Integrated Development Environment (IDE), version 2026.1.0.392.</a:t>
            </a:r>
          </a:p>
          <a:p>
            <a:pPr lvl="0" indent="0" marL="0">
              <a:buNone/>
            </a:pPr>
            <a:r>
              <a:rPr/>
              <a:t>The source files are in R and R Markdown, then rendered to HTML using the </a:t>
            </a:r>
            <a:r>
              <a:rPr>
                <a:hlinkClick r:id="rId4"/>
              </a:rPr>
              <a:t>revealJS</a:t>
            </a:r>
            <a:r>
              <a:rPr/>
              <a:t> framework. The HTML slides are hosted in a </a:t>
            </a:r>
            <a:r>
              <a:rPr>
                <a:hlinkClick r:id="rId5"/>
              </a:rPr>
              <a:t>GitHub repo</a:t>
            </a:r>
            <a:r>
              <a:rPr/>
              <a:t> and served by GitHub pages: </a:t>
            </a:r>
            <a:r>
              <a:rPr>
                <a:hlinkClick r:id="rId6"/>
              </a:rPr>
              <a:t>https://psu-psychology.github.io/psy-511-scan-fdns-2026-spring/</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Bagnall, M. W. (2022). Neurons that control walking go round in circles. </a:t>
            </a:r>
            <a:r>
              <a:rPr i="1"/>
              <a:t>Nature</a:t>
            </a:r>
            <a:r>
              <a:rPr/>
              <a:t>, </a:t>
            </a:r>
            <a:r>
              <a:rPr i="1"/>
              <a:t>610</a:t>
            </a:r>
            <a:r>
              <a:rPr/>
              <a:t>, 453–454. </a:t>
            </a:r>
            <a:r>
              <a:rPr>
                <a:hlinkClick r:id="rId2"/>
              </a:rPr>
              <a:t>https://doi.org/10.1038/d41586-022-02238-1</a:t>
            </a:r>
          </a:p>
          <a:p>
            <a:pPr lvl="0" indent="0" marL="0">
              <a:buNone/>
            </a:pPr>
            <a:r>
              <a:rPr/>
              <a:t>Blumberg, M. S., &amp; Adolph, K. E. (2023). Infant action and cognition: What’s at stake? </a:t>
            </a:r>
            <a:r>
              <a:rPr i="1"/>
              <a:t>Trends in Cognitive Sciences</a:t>
            </a:r>
            <a:r>
              <a:rPr/>
              <a:t>, </a:t>
            </a:r>
            <a:r>
              <a:rPr i="1"/>
              <a:t>27</a:t>
            </a:r>
            <a:r>
              <a:rPr/>
              <a:t>(8), 696–698. </a:t>
            </a:r>
            <a:r>
              <a:rPr>
                <a:hlinkClick r:id="rId3"/>
              </a:rPr>
              <a:t>https://doi.org/10.1016/j.tics.2023.05.008</a:t>
            </a:r>
          </a:p>
          <a:p>
            <a:pPr lvl="0" indent="0" marL="0">
              <a:buNone/>
            </a:pPr>
            <a:r>
              <a:rPr/>
              <a:t>Bress, K. S., &amp; Cascio, C. J. (2024). Sensorimotor regulation of facial expression - an untouched frontier. </a:t>
            </a:r>
            <a:r>
              <a:rPr i="1"/>
              <a:t>Neuroscience and Biobehavioral Reviews</a:t>
            </a:r>
            <a:r>
              <a:rPr/>
              <a:t>, </a:t>
            </a:r>
            <a:r>
              <a:rPr i="1"/>
              <a:t>162</a:t>
            </a:r>
            <a:r>
              <a:rPr/>
              <a:t>, 105684. </a:t>
            </a:r>
            <a:r>
              <a:rPr>
                <a:hlinkClick r:id="rId4"/>
              </a:rPr>
              <a:t>https://doi.org/10.1016/j.neubiorev.2024.105684</a:t>
            </a:r>
          </a:p>
          <a:p>
            <a:pPr lvl="0" indent="0" marL="0">
              <a:buNone/>
            </a:pPr>
            <a:r>
              <a:rPr/>
              <a:t>Cantú, H., Nantel, J., Millán, M., Paquette, C., &amp; Côté, J. N. (2019). Abnormal muscle activity and variability before, during, and after the occurrence of freezing in parkinson’s disease. </a:t>
            </a:r>
            <a:r>
              <a:rPr i="1"/>
              <a:t>Frontiers in Neurology</a:t>
            </a:r>
            <a:r>
              <a:rPr/>
              <a:t>, </a:t>
            </a:r>
            <a:r>
              <a:rPr i="1"/>
              <a:t>10</a:t>
            </a:r>
            <a:r>
              <a:rPr/>
              <a:t>, 951. </a:t>
            </a:r>
            <a:r>
              <a:rPr>
                <a:hlinkClick r:id="rId5"/>
              </a:rPr>
              <a:t>https://doi.org/10.3389/fneur.2019.00951</a:t>
            </a:r>
          </a:p>
          <a:p>
            <a:pPr lvl="0" indent="0" marL="0">
              <a:buNone/>
            </a:pPr>
            <a:r>
              <a:rPr/>
              <a:t>Cullen, K. E. (2022, May 31). The neuroscience of balance. Retrieved January 5, 2026, from </a:t>
            </a:r>
            <a:r>
              <a:rPr>
                <a:hlinkClick r:id="rId6"/>
              </a:rPr>
              <a:t>https://www.physoc.org/magazine-articles/the-neuroscience-of-balance/</a:t>
            </a:r>
          </a:p>
          <a:p>
            <a:pPr lvl="0" indent="0" marL="0">
              <a:buNone/>
            </a:pPr>
            <a:r>
              <a:rPr/>
              <a:t>Di Caro, V., Cesari, P., Sala, F., &amp; Cattaneo, L. (2025). The neural bases of the reach-grasp movement in humans: Quantitative evidence from brain lesions. </a:t>
            </a:r>
            <a:r>
              <a:rPr i="1"/>
              <a:t>Proceedings of the National Academy of Sciences of the United States of America</a:t>
            </a:r>
            <a:r>
              <a:rPr/>
              <a:t>, </a:t>
            </a:r>
            <a:r>
              <a:rPr i="1"/>
              <a:t>122</a:t>
            </a:r>
            <a:r>
              <a:rPr/>
              <a:t>, e2419801122. </a:t>
            </a:r>
            <a:r>
              <a:rPr>
                <a:hlinkClick r:id="rId7"/>
              </a:rPr>
              <a:t>https://doi.org/10.1073/pnas.2419801122</a:t>
            </a:r>
          </a:p>
          <a:p>
            <a:pPr lvl="0" indent="0" marL="0">
              <a:buNone/>
            </a:pPr>
            <a:r>
              <a:rPr/>
              <a:t>Farnsworth, B. (2019, January 8). Eye movements explained: Understanding saccades, smooth pursuits, and fixations. Retrieved January 16, 2026, from </a:t>
            </a:r>
            <a:r>
              <a:rPr>
                <a:hlinkClick r:id="rId8"/>
              </a:rPr>
              <a:t>https://imotions.com/blog/learning/best-practice/types-of-eye-movements/</a:t>
            </a:r>
          </a:p>
          <a:p>
            <a:pPr lvl="0" indent="0" marL="0">
              <a:buNone/>
            </a:pPr>
            <a:r>
              <a:rPr/>
              <a:t>Favela, L. H. (2020). Cognitive science as complexity science. </a:t>
            </a:r>
            <a:r>
              <a:rPr i="1"/>
              <a:t>Wiley Interdisciplinary Reviews. Cognitive Science</a:t>
            </a:r>
            <a:r>
              <a:rPr/>
              <a:t>, </a:t>
            </a:r>
            <a:r>
              <a:rPr i="1"/>
              <a:t>11</a:t>
            </a:r>
            <a:r>
              <a:rPr/>
              <a:t>(4), e1525. </a:t>
            </a:r>
            <a:r>
              <a:rPr>
                <a:hlinkClick r:id="rId9"/>
              </a:rPr>
              <a:t>https://doi.org/10.1002/wcs.1525</a:t>
            </a:r>
          </a:p>
          <a:p>
            <a:pPr lvl="0" indent="0" marL="0">
              <a:buNone/>
            </a:pPr>
            <a:r>
              <a:rPr/>
              <a:t>Griffin, Z. M. (2024). Language production. In </a:t>
            </a:r>
            <a:r>
              <a:rPr i="1"/>
              <a:t>Open encyclopedia of cognitive science</a:t>
            </a:r>
            <a:r>
              <a:rPr/>
              <a:t>. MIT Press. </a:t>
            </a:r>
            <a:r>
              <a:rPr>
                <a:hlinkClick r:id="rId10"/>
              </a:rPr>
              <a:t>https://doi.org/10.21428/e2759450.b076f599</a:t>
            </a:r>
          </a:p>
          <a:p>
            <a:pPr lvl="0" indent="0" marL="0">
              <a:buNone/>
            </a:pPr>
            <a:r>
              <a:rPr/>
              <a:t>Khanna, A. R., Muñoz, W., Kim, Y. J., Kfir, Y., Paulk, A. C., Jamali, M., … Williams, Z. M. (2024). Single-neuronal elements of speech production in humans. </a:t>
            </a:r>
            <a:r>
              <a:rPr i="1"/>
              <a:t>Nature</a:t>
            </a:r>
            <a:r>
              <a:rPr/>
              <a:t>, </a:t>
            </a:r>
            <a:r>
              <a:rPr i="1"/>
              <a:t>626</a:t>
            </a:r>
            <a:r>
              <a:rPr/>
              <a:t>, 603–610. </a:t>
            </a:r>
            <a:r>
              <a:rPr>
                <a:hlinkClick r:id="rId11"/>
              </a:rPr>
              <a:t>https://doi.org/10.1038/s41586-023-06982-w</a:t>
            </a:r>
          </a:p>
          <a:p>
            <a:pPr lvl="0" indent="0" marL="0">
              <a:buNone/>
            </a:pPr>
            <a:r>
              <a:rPr/>
              <a:t>Kim, H. E., Avraham, G., &amp; Ivry, R. B. (2021). The psychology of reaching: Action selection, movement implementation, and sensorimotor learning. </a:t>
            </a:r>
            <a:r>
              <a:rPr i="1"/>
              <a:t>Annual Review of Psychology</a:t>
            </a:r>
            <a:r>
              <a:rPr/>
              <a:t>, </a:t>
            </a:r>
            <a:r>
              <a:rPr i="1"/>
              <a:t>72</a:t>
            </a:r>
            <a:r>
              <a:rPr/>
              <a:t>, 61–95. </a:t>
            </a:r>
            <a:r>
              <a:rPr>
                <a:hlinkClick r:id="rId12"/>
              </a:rPr>
              <a:t>https://doi.org/10.1146/annurev-psych-010419-051053</a:t>
            </a:r>
          </a:p>
          <a:p>
            <a:pPr lvl="0" indent="0" marL="0">
              <a:buNone/>
            </a:pPr>
            <a:r>
              <a:rPr/>
              <a:t>Lab., E. C. (2022). </a:t>
            </a:r>
            <a:r>
              <a:rPr i="1"/>
              <a:t>Triple inverted pendulum (transition control)</a:t>
            </a:r>
            <a:r>
              <a:rPr/>
              <a:t>. YouTube. Retrieved from </a:t>
            </a:r>
            <a:r>
              <a:rPr>
                <a:hlinkClick r:id="rId13"/>
              </a:rPr>
              <a:t>https://www.youtube.com/watch?v=Rh7JuL3PRSY</a:t>
            </a:r>
          </a:p>
          <a:p>
            <a:pPr lvl="0" indent="0" marL="0">
              <a:buNone/>
            </a:pPr>
            <a:r>
              <a:rPr/>
              <a:t>Locomotion. (n.d.). Retrieved January 5, 2026, from </a:t>
            </a:r>
            <a:r>
              <a:rPr>
                <a:hlinkClick r:id="rId14"/>
              </a:rPr>
              <a:t>https://www.sciencedirect.com/topics/neuroscience/locomotion</a:t>
            </a:r>
          </a:p>
          <a:p>
            <a:pPr lvl="0" indent="0" marL="0">
              <a:buNone/>
            </a:pPr>
            <a:r>
              <a:rPr/>
              <a:t>Lu, W.-C., &amp; Lin, P.-C. (2024). The generalized spring-loaded inverted pendulum model for analysis of various planar reduced-order models and for optimal robot leg design. </a:t>
            </a:r>
            <a:r>
              <a:rPr i="1"/>
              <a:t>Bioinspiration &amp; Biomimetics</a:t>
            </a:r>
            <a:r>
              <a:rPr/>
              <a:t>, </a:t>
            </a:r>
            <a:r>
              <a:rPr i="1"/>
              <a:t>19</a:t>
            </a:r>
            <a:r>
              <a:rPr/>
              <a:t>, 026017. </a:t>
            </a:r>
            <a:r>
              <a:rPr>
                <a:hlinkClick r:id="rId15"/>
              </a:rPr>
              <a:t>https://doi.org/10.1088/1748-3190/ad2869</a:t>
            </a:r>
          </a:p>
          <a:p>
            <a:pPr lvl="0" indent="0" marL="0">
              <a:buNone/>
            </a:pPr>
            <a:r>
              <a:rPr/>
              <a:t>Motion, M. A. (2024). </a:t>
            </a:r>
            <a:r>
              <a:rPr i="1"/>
              <a:t>Mastering balance: The science of center of gravity and base of support</a:t>
            </a:r>
            <a:r>
              <a:rPr/>
              <a:t>. Youtube. Retrieved from </a:t>
            </a:r>
            <a:r>
              <a:rPr>
                <a:hlinkClick r:id="rId16"/>
              </a:rPr>
              <a:t>https://www.youtube.com/watch?v=5s1gEi5wfLg&amp;t=11s</a:t>
            </a:r>
          </a:p>
          <a:p>
            <a:pPr lvl="0" indent="0" marL="0">
              <a:buNone/>
            </a:pPr>
            <a:r>
              <a:rPr/>
              <a:t>Nielsen, J. B. (2016). Human spinal motor control. </a:t>
            </a:r>
            <a:r>
              <a:rPr i="1"/>
              <a:t>Annual Review of Neuroscience</a:t>
            </a:r>
            <a:r>
              <a:rPr/>
              <a:t>, </a:t>
            </a:r>
            <a:r>
              <a:rPr i="1"/>
              <a:t>39</a:t>
            </a:r>
            <a:r>
              <a:rPr/>
              <a:t>, 81–101. </a:t>
            </a:r>
            <a:r>
              <a:rPr>
                <a:hlinkClick r:id="rId17"/>
              </a:rPr>
              <a:t>https://doi.org/10.1146/annurev-neuro-070815-013913</a:t>
            </a:r>
          </a:p>
          <a:p>
            <a:pPr lvl="0" indent="0" marL="0">
              <a:buNone/>
            </a:pPr>
            <a:r>
              <a:rPr/>
              <a:t>Purves, D., Augustine, G. J., Fitzpatrick, D., Katz, L. C., LaMantia, A.-S., McNamara, J. O., &amp; Mark Williams, S. (2001). Spinal cord circuitry and locomotion. In </a:t>
            </a:r>
            <a:r>
              <a:rPr i="1"/>
              <a:t>Neuroscience. 2nd edition</a:t>
            </a:r>
            <a:r>
              <a:rPr/>
              <a:t>. Sinauer Associates. Retrieved from </a:t>
            </a:r>
            <a:r>
              <a:rPr>
                <a:hlinkClick r:id="rId18"/>
              </a:rPr>
              <a:t>https://www.ncbi.nlm.nih.gov/books/NBK11015/</a:t>
            </a:r>
          </a:p>
          <a:p>
            <a:pPr lvl="0" indent="0" marL="0">
              <a:buNone/>
            </a:pPr>
            <a:r>
              <a:rPr/>
              <a:t>Quote origin: “To be is to do” “to do is to be” “do be do be do.” (n.d.). Retrieved January 12, 2026, from </a:t>
            </a:r>
            <a:r>
              <a:rPr>
                <a:hlinkClick r:id="rId19"/>
              </a:rPr>
              <a:t>https://quoteinvestigator.com/2013/09/16/do-be-do/</a:t>
            </a:r>
          </a:p>
          <a:p>
            <a:pPr lvl="0" indent="0" marL="0">
              <a:buNone/>
            </a:pPr>
            <a:r>
              <a:rPr/>
              <a:t>Reviews, B. &amp;. T. (2012). </a:t>
            </a:r>
            <a:r>
              <a:rPr i="1"/>
              <a:t>I like to move it (original video) madagascar HD</a:t>
            </a:r>
            <a:r>
              <a:rPr/>
              <a:t>. YouTube. Retrieved from </a:t>
            </a:r>
            <a:r>
              <a:rPr>
                <a:hlinkClick r:id="rId20"/>
              </a:rPr>
              <a:t>https://www.youtube.com/watch?v=hdcTmpvDO0I</a:t>
            </a:r>
          </a:p>
          <a:p>
            <a:pPr lvl="0" indent="0" marL="0">
              <a:buNone/>
            </a:pPr>
            <a:r>
              <a:rPr/>
              <a:t>Simonyan, K., Ackermann, H., Chang, E. F., &amp; Greenlee, J. D. (2016). New developments in understanding the complexity of human speech production. </a:t>
            </a:r>
            <a:r>
              <a:rPr i="1"/>
              <a:t>The Journal of Neuroscience: The Official Journal of the Society for Neuroscience</a:t>
            </a:r>
            <a:r>
              <a:rPr/>
              <a:t>, </a:t>
            </a:r>
            <a:r>
              <a:rPr i="1"/>
              <a:t>36</a:t>
            </a:r>
            <a:r>
              <a:rPr/>
              <a:t>, 11440–11448. </a:t>
            </a:r>
            <a:r>
              <a:rPr>
                <a:hlinkClick r:id="rId21"/>
              </a:rPr>
              <a:t>https://doi.org/10.1523/JNEUROSCI.2424-16.2016</a:t>
            </a:r>
          </a:p>
          <a:p>
            <a:pPr lvl="0" indent="0" marL="0">
              <a:buNone/>
            </a:pPr>
            <a:r>
              <a:rPr/>
              <a:t>Stanton, J. (2015). </a:t>
            </a:r>
            <a:r>
              <a:rPr i="1"/>
              <a:t>Optokinetic to the right for projection</a:t>
            </a:r>
            <a:r>
              <a:rPr/>
              <a:t>. YouTube. Retrieved from </a:t>
            </a:r>
            <a:r>
              <a:rPr>
                <a:hlinkClick r:id="rId22"/>
              </a:rPr>
              <a:t>https://www.youtube.com/watch?v=CG5n516PCXM</a:t>
            </a:r>
          </a:p>
          <a:p>
            <a:pPr lvl="0" indent="0" marL="0">
              <a:buNone/>
            </a:pPr>
            <a:r>
              <a:rPr/>
              <a:t>VideoCollectables. (2014). </a:t>
            </a:r>
            <a:r>
              <a:rPr i="1"/>
              <a:t>World’s fastest talking man sings michael jackson’s BAD in 20 seconds @VideoScrapbookOfOurTimes</a:t>
            </a:r>
            <a:r>
              <a:rPr/>
              <a:t>. Youtube. Retrieved from </a:t>
            </a:r>
            <a:r>
              <a:rPr>
                <a:hlinkClick r:id="rId23"/>
              </a:rPr>
              <a:t>https://www.youtube.com/watch?v=4X4Fy8YqysY</a:t>
            </a:r>
          </a:p>
          <a:p>
            <a:pPr lvl="0" indent="0" marL="0">
              <a:buNone/>
            </a:pPr>
            <a:r>
              <a:rPr/>
              <a:t>Wikipedia contributors. (2025a, August 30). Nerve conduction velocity. Retrieved from </a:t>
            </a:r>
            <a:r>
              <a:rPr>
                <a:hlinkClick r:id="rId24"/>
              </a:rPr>
              <a:t>https://en.wikipedia.org/wiki/Nerve_conduction_velocity</a:t>
            </a:r>
          </a:p>
          <a:p>
            <a:pPr lvl="0" indent="0" marL="0">
              <a:buNone/>
            </a:pPr>
            <a:r>
              <a:rPr/>
              <a:t>Wikipedia contributors. (2025b, December 19). Saccade. Retrieved from </a:t>
            </a:r>
            <a:r>
              <a:rPr>
                <a:hlinkClick r:id="rId25"/>
              </a:rPr>
              <a:t>https://en.wikipedia.org/wiki/Saccade</a:t>
            </a:r>
          </a:p>
          <a:p>
            <a:pPr lvl="0" indent="0" marL="0">
              <a:buNone/>
            </a:pPr>
            <a:r>
              <a:rPr/>
              <a:t>Wikipedia contributors. (2026, January 11). Articulatory phonetics. Retrieved from </a:t>
            </a:r>
            <a:r>
              <a:rPr>
                <a:hlinkClick r:id="rId26"/>
              </a:rPr>
              <a:t>https://en.wikipedia.org/wiki/Articulatory_phonetics</a:t>
            </a:r>
          </a:p>
          <a:p>
            <a:pPr lvl="0" indent="0" marL="0">
              <a:buNone/>
            </a:pPr>
            <a:r>
              <a:rPr/>
              <a:t>Wolpert, D. (2011). </a:t>
            </a:r>
            <a:r>
              <a:rPr i="1"/>
              <a:t>Daniel wolpert: The real reason for brains</a:t>
            </a:r>
            <a:r>
              <a:rPr/>
              <a:t>. YouTube. Retrieved from </a:t>
            </a:r>
            <a:r>
              <a:rPr>
                <a:hlinkClick r:id="rId27"/>
              </a:rPr>
              <a:t>https://www.youtube.com/watch?v=7s0CpRfyYp8</a:t>
            </a:r>
          </a:p>
          <a:p>
            <a:pPr lvl="0" indent="0" marL="0">
              <a:buNone/>
            </a:pPr>
            <a:r>
              <a:rPr/>
              <a:t>Xing, D., Truccolo, W., &amp; Borton, D. A. (2022). Emergence of distinct neural subspaces in motor cortical dynamics during volitional adjustments of ongoing locomotion. </a:t>
            </a:r>
            <a:r>
              <a:rPr i="1"/>
              <a:t>The Journal of Neuroscience: The Official Journal of the Society for Neuroscience</a:t>
            </a:r>
            <a:r>
              <a:rPr/>
              <a:t>, </a:t>
            </a:r>
            <a:r>
              <a:rPr i="1"/>
              <a:t>42</a:t>
            </a:r>
            <a:r>
              <a:rPr/>
              <a:t>, 9142–9157. </a:t>
            </a:r>
            <a:r>
              <a:rPr>
                <a:hlinkClick r:id="rId28"/>
              </a:rPr>
              <a:t>https://doi.org/10.1523/JNEUROSCI.0746-22.2022</a:t>
            </a:r>
          </a:p>
          <a:p>
            <a:pPr lvl="0" indent="0" marL="0">
              <a:buNone/>
            </a:pPr>
            <a:r>
              <a:rPr/>
              <a:t>Zada, Z., Nastase, S. A., Speer, S., Mwilambwe-Tshilobo, L., Tsoi, L., Burns, S. M., … Tamir, D. I. (2025). Linguistic coupling between neural systems for speech production and comprehension during real-time dyadic conversations. </a:t>
            </a:r>
            <a:r>
              <a:rPr i="1"/>
              <a:t>Neuron</a:t>
            </a:r>
            <a:r>
              <a:rPr/>
              <a:t>, </a:t>
            </a:r>
            <a:r>
              <a:rPr i="1"/>
              <a:t>0</a:t>
            </a:r>
            <a:r>
              <a:rPr/>
              <a:t>. </a:t>
            </a:r>
            <a:r>
              <a:rPr>
                <a:hlinkClick r:id="rId29"/>
              </a:rPr>
              <a:t>https://doi.org/10.1016/j.neuron.2025.11.004</a:t>
            </a:r>
          </a:p>
          <a:p>
            <a:pPr lvl="0" indent="0" marL="0">
              <a:buNone/>
            </a:pPr>
            <a:r>
              <a:rPr/>
              <a:t>牛津基礎生物學O. M. B. (2021). </a:t>
            </a:r>
            <a:r>
              <a:rPr i="1"/>
              <a:t>Animation 16.3 knee jerk reflex</a:t>
            </a:r>
            <a:r>
              <a:rPr/>
              <a:t>. Youtube. Retrieved from </a:t>
            </a:r>
            <a:r>
              <a:rPr>
                <a:hlinkClick r:id="rId30"/>
              </a:rPr>
              <a:t>https://www.youtube.com/watch?v=DJLmVSeZ5-c</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Action</dc:title>
  <dc:creator/>
  <cp:keywords/>
  <dcterms:created xsi:type="dcterms:W3CDTF">2026-01-21T14:52:19Z</dcterms:created>
  <dcterms:modified xsi:type="dcterms:W3CDTF">2026-01-21T14:52:19Z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bibliography">
    <vt:lpwstr/>
  </property>
  <property fmtid="{D5CDD505-2E9C-101B-9397-08002B2CF9AE}" pid="4" name="bibliographystyle">
    <vt:lpwstr>apa</vt:lpwstr>
  </property>
  <property fmtid="{D5CDD505-2E9C-101B-9397-08002B2CF9AE}" pid="5" name="csl">
    <vt:lpwstr>../include/bib/apa.csl</vt:lpwstr>
  </property>
  <property fmtid="{D5CDD505-2E9C-101B-9397-08002B2CF9AE}" pid="6" name="editor">
    <vt:lpwstr>source</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knitr">
    <vt:lpwstr/>
  </property>
  <property fmtid="{D5CDD505-2E9C-101B-9397-08002B2CF9AE}" pid="11" name="labels">
    <vt:lpwstr/>
  </property>
  <property fmtid="{D5CDD505-2E9C-101B-9397-08002B2CF9AE}" pid="12" name="lightbox">
    <vt:lpwstr>True</vt:lpwstr>
  </property>
  <property fmtid="{D5CDD505-2E9C-101B-9397-08002B2CF9AE}" pid="13" name="subtitle">
    <vt:lpwstr>PSY 511.001 Spr 2026</vt:lpwstr>
  </property>
  <property fmtid="{D5CDD505-2E9C-101B-9397-08002B2CF9AE}" pid="14" name="toc-title">
    <vt:lpwstr>Table of contents</vt:lpwstr>
  </property>
</Properties>
</file>