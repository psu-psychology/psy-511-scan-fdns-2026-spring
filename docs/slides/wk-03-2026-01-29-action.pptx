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youtube.com/watch?v=hdcTmpvDO0I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su.instructure.com/courses/2441266/assignments/17981392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" TargetMode="External" /><Relationship Id="rId3" Type="http://schemas.openxmlformats.org/officeDocument/2006/relationships/hyperlink" Target="https://posit.co/products/open-source/rstudio/" TargetMode="External" /><Relationship Id="rId4" Type="http://schemas.openxmlformats.org/officeDocument/2006/relationships/hyperlink" Target="https://revealjs.com" TargetMode="External" /><Relationship Id="rId5" Type="http://schemas.openxmlformats.org/officeDocument/2006/relationships/hyperlink" Target="https://github.com/psu-psychology/psy-511-scan-fdns-2026-spring" TargetMode="External" /><Relationship Id="rId6" Type="http://schemas.openxmlformats.org/officeDocument/2006/relationships/hyperlink" Target="https://psu-psychology.github.io/psy-511-scan-fdns-2026-spring/" TargetMode="Externa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neubiorev.2024.105684" TargetMode="External" /><Relationship Id="rId3" Type="http://schemas.openxmlformats.org/officeDocument/2006/relationships/hyperlink" Target="https://www.physoc.org/magazine-articles/the-neuroscience-of-balance/" TargetMode="External" /><Relationship Id="rId4" Type="http://schemas.openxmlformats.org/officeDocument/2006/relationships/hyperlink" Target="https://doi.org/10.1073/pnas.2419801122" TargetMode="External" /><Relationship Id="rId5" Type="http://schemas.openxmlformats.org/officeDocument/2006/relationships/hyperlink" Target="https://doi.org/10.21428/e2759450.b076f599" TargetMode="External" /><Relationship Id="rId6" Type="http://schemas.openxmlformats.org/officeDocument/2006/relationships/hyperlink" Target="https://doi.org/10.1038/s41586-023-06982-w" TargetMode="External" /><Relationship Id="rId7" Type="http://schemas.openxmlformats.org/officeDocument/2006/relationships/hyperlink" Target="https://doi.org/10.1146/annurev-psych-010419-051053" TargetMode="External" /><Relationship Id="rId8" Type="http://schemas.openxmlformats.org/officeDocument/2006/relationships/hyperlink" Target="https://www.sciencedirect.com/topics/neuroscience/locomotion" TargetMode="External" /><Relationship Id="rId9" Type="http://schemas.openxmlformats.org/officeDocument/2006/relationships/hyperlink" Target="https://www.ncbi.nlm.nih.gov/books/NBK11015/" TargetMode="External" /><Relationship Id="rId10" Type="http://schemas.openxmlformats.org/officeDocument/2006/relationships/hyperlink" Target="https://quoteinvestigator.com/2013/09/16/do-be-do/" TargetMode="External" /><Relationship Id="rId11" Type="http://schemas.openxmlformats.org/officeDocument/2006/relationships/hyperlink" Target="https://www.youtube.com/watch?v=hdcTmpvDO0I" TargetMode="External" /><Relationship Id="rId12" Type="http://schemas.openxmlformats.org/officeDocument/2006/relationships/hyperlink" Target="https://doi.org/10.1523/JNEUROSCI.0746-22.2022" TargetMode="External" /><Relationship Id="rId13" Type="http://schemas.openxmlformats.org/officeDocument/2006/relationships/hyperlink" Target="https://doi.org/10.1016/j.neuron.2025.11.004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PSY 511.001 Spr 2026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Prelude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https://www.youtube.com/watch?v=hdcTmpvDO0I</a:t>
            </a:r>
          </a:p>
          <a:p>
            <a:pPr lvl="0" indent="0" marL="0">
              <a:buNone/>
            </a:pPr>
            <a:r>
              <a:rPr/>
              <a:t>– Reviews (2012)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Announcements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Exercise ANAT due </a:t>
            </a:r>
            <a:r>
              <a:rPr b="1"/>
              <a:t>today</a:t>
            </a:r>
            <a:r>
              <a:rPr/>
              <a:t>.</a:t>
            </a:r>
          </a:p>
          <a:p>
            <a:pPr lvl="1"/>
            <a:r>
              <a:rPr>
                <a:hlinkClick r:id="rId2"/>
              </a:rPr>
              <a:t>Canvas dropbox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On action</a:t>
            </a:r>
          </a:p>
          <a:p>
            <a:pPr lvl="0"/>
            <a:r>
              <a:rPr/>
              <a:t>How muscles work</a:t>
            </a:r>
          </a:p>
          <a:p>
            <a:pPr lvl="0"/>
            <a:r>
              <a:rPr/>
              <a:t>Controlling muscles</a:t>
            </a:r>
          </a:p>
          <a:p>
            <a:pPr lvl="0"/>
            <a:r>
              <a:rPr/>
              <a:t>Illustrative motor systems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Warm-up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 action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 way to do is to be.</a:t>
            </a:r>
          </a:p>
          <a:p>
            <a:pPr lvl="0" indent="0" marL="0">
              <a:buNone/>
            </a:pPr>
            <a:r>
              <a:rPr/>
              <a:t>– Lao-tse, Chinese philosopher</a:t>
            </a:r>
          </a:p>
          <a:p>
            <a:pPr lvl="0" indent="0" marL="1270000">
              <a:buNone/>
            </a:pPr>
            <a:r>
              <a:rPr sz="2000"/>
              <a:t>The way to be is to do.</a:t>
            </a:r>
          </a:p>
          <a:p>
            <a:pPr lvl="0" indent="0" marL="0">
              <a:buNone/>
            </a:pPr>
            <a:r>
              <a:rPr/>
              <a:t>– Dale Carnegie</a:t>
            </a:r>
          </a:p>
          <a:p>
            <a:pPr lvl="0" indent="0" marL="1270000">
              <a:buNone/>
            </a:pPr>
            <a:r>
              <a:rPr sz="2000"/>
              <a:t>Do be, do be, do.</a:t>
            </a:r>
          </a:p>
          <a:p>
            <a:pPr lvl="0" indent="0" marL="0">
              <a:buNone/>
            </a:pPr>
            <a:r>
              <a:rPr/>
              <a:t>– Frank Sinatra</a:t>
            </a:r>
          </a:p>
          <a:p>
            <a:pPr lvl="0" indent="0" marL="0">
              <a:buNone/>
            </a:pPr>
            <a:r>
              <a:rPr/>
              <a:t>“Quote origin” (n.d.)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Animals are </a:t>
            </a:r>
            <a:r>
              <a:rPr i="1"/>
              <a:t>animate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/>
                <a:r>
                  <a:rPr/>
                  <a:t>Animal actions influence</a:t>
                </a:r>
              </a:p>
              <a:p>
                <a:pPr lvl="1"/>
                <a:r>
                  <a:rPr/>
                  <a:t>The external world, </a:t>
                </a:r>
                <a14:m>
                  <m:oMath xmlns:m="http://schemas.openxmlformats.org/officeDocument/2006/math">
                    <m:r>
                      <m:t>W</m:t>
                    </m:r>
                  </m:oMath>
                </a14:m>
              </a:p>
              <a:p>
                <a:pPr lvl="1"/>
                <a:r>
                  <a:rPr/>
                  <a:t>Their own bodies,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</a:p>
            </p:txBody>
          </p:sp>
        </mc:Choice>
      </mc:AlternateContent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pic>
        <p:nvPicPr>
          <p:cNvPr descr="wk-03-2026-01-29-action_files/figure-pptx/mermaid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651500" y="1625600"/>
            <a:ext cx="20066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Nervous system </a:t>
            </a:r>
            <a:r>
              <a:rPr i="1"/>
              <a:t>outputs</a:t>
            </a:r>
          </a:p>
          <a:p>
            <a:pPr lvl="1"/>
            <a:r>
              <a:rPr/>
              <a:t>Autonomic</a:t>
            </a:r>
          </a:p>
          <a:p>
            <a:pPr lvl="1"/>
            <a:r>
              <a:rPr/>
              <a:t>Endocrine</a:t>
            </a:r>
          </a:p>
          <a:p>
            <a:pPr lvl="1"/>
            <a:r>
              <a:rPr/>
              <a:t>Somatic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pic>
        <p:nvPicPr>
          <p:cNvPr descr="wk-03-2026-01-29-action_files/figure-pptx/mermaid-figure-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37100" y="1625600"/>
            <a:ext cx="38354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Nervous system </a:t>
            </a:r>
            <a:r>
              <a:rPr i="1"/>
              <a:t>inputs</a:t>
            </a:r>
            <a:r>
              <a:rPr/>
              <a:t> fall into two broad classes.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pic>
        <p:nvPicPr>
          <p:cNvPr descr="wk-03-2026-01-29-action_files/figure-pptx/mermaid-figure-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70500" y="1625600"/>
            <a:ext cx="27813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pic>
        <p:nvPicPr>
          <p:cNvPr descr="wk-03-2026-01-29-action_files/figure-pptx/mermaid-figure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81400" y="203200"/>
            <a:ext cx="50927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actions must animals perform?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long enough to reproduce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Living long enough…</a:t>
            </a:r>
          </a:p>
          <a:p>
            <a:pPr lvl="1"/>
            <a:r>
              <a:rPr/>
              <a:t>Avoid injury &amp; predation</a:t>
            </a:r>
          </a:p>
          <a:p>
            <a:pPr lvl="1"/>
            <a:r>
              <a:rPr/>
              <a:t>Secure sustenance</a:t>
            </a:r>
          </a:p>
          <a:p>
            <a:pPr lvl="1"/>
            <a:r>
              <a:rPr/>
              <a:t>Maintain health</a:t>
            </a:r>
          </a:p>
          <a:p>
            <a:pPr lvl="0"/>
            <a:r>
              <a:rPr/>
              <a:t>Reproducing…</a:t>
            </a:r>
          </a:p>
          <a:p>
            <a:pPr lvl="1"/>
            <a:r>
              <a:rPr/>
              <a:t>Finde a mate</a:t>
            </a:r>
          </a:p>
          <a:p>
            <a:pPr lvl="1"/>
            <a:r>
              <a:rPr/>
              <a:t>Mate</a:t>
            </a:r>
          </a:p>
          <a:p>
            <a:pPr lvl="1"/>
            <a:r>
              <a:rPr/>
              <a:t>Ensure the well-being of offspring</a:t>
            </a:r>
          </a:p>
          <a:p>
            <a:pPr lvl="0"/>
            <a:r>
              <a:rPr/>
              <a:t>In other words, </a:t>
            </a:r>
            <a:r>
              <a:rPr i="1"/>
              <a:t>behaving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Behaviors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Orienting</a:t>
            </a:r>
          </a:p>
          <a:p>
            <a:pPr lvl="0"/>
            <a:r>
              <a:rPr/>
              <a:t>Maintaining balance</a:t>
            </a:r>
          </a:p>
          <a:p>
            <a:pPr lvl="0"/>
            <a:r>
              <a:rPr/>
              <a:t>Reaching &amp; grasping</a:t>
            </a:r>
          </a:p>
          <a:p>
            <a:pPr lvl="0"/>
            <a:r>
              <a:rPr/>
              <a:t>Locomotion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Mating &amp; caregiving</a:t>
            </a:r>
          </a:p>
          <a:p>
            <a:pPr lvl="0"/>
            <a:r>
              <a:rPr/>
              <a:t>Ingestion &amp; elimination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Orienting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Eye movements</a:t>
            </a:r>
          </a:p>
          <a:p>
            <a:pPr lvl="0"/>
            <a:r>
              <a:rPr/>
              <a:t>Head movements</a:t>
            </a:r>
          </a:p>
          <a:p>
            <a:pPr lvl="0"/>
            <a:r>
              <a:rPr/>
              <a:t>Active touch</a:t>
            </a:r>
          </a:p>
          <a:p>
            <a:pPr lvl="0"/>
            <a:r>
              <a:rPr/>
              <a:t>Sniffing &amp; tasting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Cullen (2022);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Reaching &amp; grasping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Kim, Avraham, &amp; Ivry (2021); Di Caro, Cesari, Sala, &amp; Cattaneo (2025)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Locomotion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Purves et al. (2001); “Locomotion” (n.d.); Xing, Truccolo, &amp; Borton (2022)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Speech</a:t>
            </a:r>
          </a:p>
          <a:p>
            <a:pPr lvl="1"/>
            <a:r>
              <a:rPr/>
              <a:t>Khanna et al. (2024); Griffin (2024)</a:t>
            </a:r>
          </a:p>
          <a:p>
            <a:pPr lvl="1"/>
            <a:r>
              <a:rPr/>
              <a:t>Zada et al. (2025)</a:t>
            </a:r>
          </a:p>
          <a:p>
            <a:pPr lvl="0"/>
            <a:r>
              <a:rPr/>
              <a:t>Facial expression</a:t>
            </a:r>
          </a:p>
          <a:p>
            <a:pPr lvl="1"/>
            <a:r>
              <a:rPr/>
              <a:t>Bress &amp; Cascio (2024)</a:t>
            </a:r>
          </a:p>
          <a:p>
            <a:pPr lvl="0"/>
            <a:r>
              <a:rPr/>
              <a:t>Gesture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muscles work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Controlling muscles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Illustrative motor systems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Eye movements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Reaching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Locomotion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Speech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points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Next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Perception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talk was produced using </a:t>
            </a:r>
            <a:r>
              <a:rPr>
                <a:hlinkClick r:id="rId2"/>
              </a:rPr>
              <a:t>Quarto</a:t>
            </a:r>
            <a:r>
              <a:rPr/>
              <a:t>, using the </a:t>
            </a:r>
            <a:r>
              <a:rPr>
                <a:hlinkClick r:id="rId3"/>
              </a:rPr>
              <a:t>RStudio</a:t>
            </a:r>
            <a:r>
              <a:rPr/>
              <a:t> Integrated Development Environment (IDE), version 2026.1.0.392.</a:t>
            </a:r>
          </a:p>
          <a:p>
            <a:pPr lvl="0" indent="0" marL="0">
              <a:buNone/>
            </a:pPr>
            <a:r>
              <a:rPr/>
              <a:t>The source files are in R and R Markdown, then rendered to HTML using the </a:t>
            </a:r>
            <a:r>
              <a:rPr>
                <a:hlinkClick r:id="rId4"/>
              </a:rPr>
              <a:t>revealJS</a:t>
            </a:r>
            <a:r>
              <a:rPr/>
              <a:t> framework. The HTML slides are hosted in a </a:t>
            </a:r>
            <a:r>
              <a:rPr>
                <a:hlinkClick r:id="rId5"/>
              </a:rPr>
              <a:t>GitHub repo</a:t>
            </a:r>
            <a:r>
              <a:rPr/>
              <a:t> and served by GitHub pages: </a:t>
            </a:r>
            <a:r>
              <a:rPr>
                <a:hlinkClick r:id="rId6"/>
              </a:rPr>
              <a:t>https://psu-psychology.github.io/psy-511-scan-fdns-2026-spring/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Bress, K. S., &amp; Cascio, C. J. (2024). Sensorimotor regulation of facial expression - an untouched frontier. </a:t>
            </a:r>
            <a:r>
              <a:rPr i="1"/>
              <a:t>Neuroscience and Biobehavioral Reviews</a:t>
            </a:r>
            <a:r>
              <a:rPr/>
              <a:t>, </a:t>
            </a:r>
            <a:r>
              <a:rPr i="1"/>
              <a:t>162</a:t>
            </a:r>
            <a:r>
              <a:rPr/>
              <a:t>, 105684. </a:t>
            </a:r>
            <a:r>
              <a:rPr>
                <a:hlinkClick r:id="rId2"/>
              </a:rPr>
              <a:t>https://doi.org/10.1016/j.neubiorev.2024.105684</a:t>
            </a:r>
          </a:p>
          <a:p>
            <a:pPr lvl="0" indent="0" marL="0">
              <a:buNone/>
            </a:pPr>
            <a:r>
              <a:rPr/>
              <a:t>Cullen, K. E. (2022, May 31). The neuroscience of balance. Retrieved January 5, 2026, from </a:t>
            </a:r>
            <a:r>
              <a:rPr>
                <a:hlinkClick r:id="rId3"/>
              </a:rPr>
              <a:t>https://www.physoc.org/magazine-articles/the-neuroscience-of-balance/</a:t>
            </a:r>
          </a:p>
          <a:p>
            <a:pPr lvl="0" indent="0" marL="0">
              <a:buNone/>
            </a:pPr>
            <a:r>
              <a:rPr/>
              <a:t>Di Caro, V., Cesari, P., Sala, F., &amp; Cattaneo, L. (2025). The neural bases of the reach-grasp movement in humans: Quantitative evidence from brain lesions. </a:t>
            </a:r>
            <a:r>
              <a:rPr i="1"/>
              <a:t>Proceedings of the National Academy of Sciences of the United States of America</a:t>
            </a:r>
            <a:r>
              <a:rPr/>
              <a:t>, </a:t>
            </a:r>
            <a:r>
              <a:rPr i="1"/>
              <a:t>122</a:t>
            </a:r>
            <a:r>
              <a:rPr/>
              <a:t>, e2419801122. </a:t>
            </a:r>
            <a:r>
              <a:rPr>
                <a:hlinkClick r:id="rId4"/>
              </a:rPr>
              <a:t>https://doi.org/10.1073/pnas.2419801122</a:t>
            </a:r>
          </a:p>
          <a:p>
            <a:pPr lvl="0" indent="0" marL="0">
              <a:buNone/>
            </a:pPr>
            <a:r>
              <a:rPr/>
              <a:t>Griffin, Z. M. (2024). Language production. In </a:t>
            </a:r>
            <a:r>
              <a:rPr i="1"/>
              <a:t>Open encyclopedia of cognitive science</a:t>
            </a:r>
            <a:r>
              <a:rPr/>
              <a:t>. MIT Press. </a:t>
            </a:r>
            <a:r>
              <a:rPr>
                <a:hlinkClick r:id="rId5"/>
              </a:rPr>
              <a:t>https://doi.org/10.21428/e2759450.b076f599</a:t>
            </a:r>
          </a:p>
          <a:p>
            <a:pPr lvl="0" indent="0" marL="0">
              <a:buNone/>
            </a:pPr>
            <a:r>
              <a:rPr/>
              <a:t>Khanna, A. R., Muñoz, W., Kim, Y. J., Kfir, Y., Paulk, A. C., Jamali, M., … Williams, Z. M. (2024). Single-neuronal elements of speech production in humans. </a:t>
            </a:r>
            <a:r>
              <a:rPr i="1"/>
              <a:t>Nature</a:t>
            </a:r>
            <a:r>
              <a:rPr/>
              <a:t>, </a:t>
            </a:r>
            <a:r>
              <a:rPr i="1"/>
              <a:t>626</a:t>
            </a:r>
            <a:r>
              <a:rPr/>
              <a:t>, 603–610. </a:t>
            </a:r>
            <a:r>
              <a:rPr>
                <a:hlinkClick r:id="rId6"/>
              </a:rPr>
              <a:t>https://doi.org/10.1038/s41586-023-06982-w</a:t>
            </a:r>
          </a:p>
          <a:p>
            <a:pPr lvl="0" indent="0" marL="0">
              <a:buNone/>
            </a:pPr>
            <a:r>
              <a:rPr/>
              <a:t>Kim, H. E., Avraham, G., &amp; Ivry, R. B. (2021). The psychology of reaching: Action selection, movement implementation, and sensorimotor learning. </a:t>
            </a:r>
            <a:r>
              <a:rPr i="1"/>
              <a:t>Annual Review of Psychology</a:t>
            </a:r>
            <a:r>
              <a:rPr/>
              <a:t>, </a:t>
            </a:r>
            <a:r>
              <a:rPr i="1"/>
              <a:t>72</a:t>
            </a:r>
            <a:r>
              <a:rPr/>
              <a:t>, 61–95. </a:t>
            </a:r>
            <a:r>
              <a:rPr>
                <a:hlinkClick r:id="rId7"/>
              </a:rPr>
              <a:t>https://doi.org/10.1146/annurev-psych-010419-051053</a:t>
            </a:r>
          </a:p>
          <a:p>
            <a:pPr lvl="0" indent="0" marL="0">
              <a:buNone/>
            </a:pPr>
            <a:r>
              <a:rPr/>
              <a:t>Locomotion. (n.d.). Retrieved January 5, 2026, from </a:t>
            </a:r>
            <a:r>
              <a:rPr>
                <a:hlinkClick r:id="rId8"/>
              </a:rPr>
              <a:t>https://www.sciencedirect.com/topics/neuroscience/locomotion</a:t>
            </a:r>
          </a:p>
          <a:p>
            <a:pPr lvl="0" indent="0" marL="0">
              <a:buNone/>
            </a:pPr>
            <a:r>
              <a:rPr/>
              <a:t>Purves, D., Augustine, G. J., Fitzpatrick, D., Katz, L. C., LaMantia, A.-S., McNamara, J. O., &amp; Mark Williams, S. (2001). Spinal cord circuitry and locomotion. In </a:t>
            </a:r>
            <a:r>
              <a:rPr i="1"/>
              <a:t>Neuroscience. 2nd edition</a:t>
            </a:r>
            <a:r>
              <a:rPr/>
              <a:t>. Sinauer Associates. Retrieved from </a:t>
            </a:r>
            <a:r>
              <a:rPr>
                <a:hlinkClick r:id="rId9"/>
              </a:rPr>
              <a:t>https://www.ncbi.nlm.nih.gov/books/NBK11015/</a:t>
            </a:r>
          </a:p>
          <a:p>
            <a:pPr lvl="0" indent="0" marL="0">
              <a:buNone/>
            </a:pPr>
            <a:r>
              <a:rPr/>
              <a:t>Quote origin: “To be is to do” “to do is to be” “do be do be do.” (n.d.). Retrieved January 12, 2026, from </a:t>
            </a:r>
            <a:r>
              <a:rPr>
                <a:hlinkClick r:id="rId10"/>
              </a:rPr>
              <a:t>https://quoteinvestigator.com/2013/09/16/do-be-do/</a:t>
            </a:r>
          </a:p>
          <a:p>
            <a:pPr lvl="0" indent="0" marL="0">
              <a:buNone/>
            </a:pPr>
            <a:r>
              <a:rPr/>
              <a:t>Reviews, B. &amp;. T. (2012). </a:t>
            </a:r>
            <a:r>
              <a:rPr i="1"/>
              <a:t>I like to move it (original video) madagascar HD</a:t>
            </a:r>
            <a:r>
              <a:rPr/>
              <a:t>. YouTube. Retrieved from </a:t>
            </a:r>
            <a:r>
              <a:rPr>
                <a:hlinkClick r:id="rId11"/>
              </a:rPr>
              <a:t>https://www.youtube.com/watch?v=hdcTmpvDO0I</a:t>
            </a:r>
          </a:p>
          <a:p>
            <a:pPr lvl="0" indent="0" marL="0">
              <a:buNone/>
            </a:pPr>
            <a:r>
              <a:rPr/>
              <a:t>Xing, D., Truccolo, W., &amp; Borton, D. A. (2022). Emergence of distinct neural subspaces in motor cortical dynamics during volitional adjustments of ongoing locomotion. </a:t>
            </a:r>
            <a:r>
              <a:rPr i="1"/>
              <a:t>The Journal of Neuroscience: The Official Journal of the Society for Neuroscience</a:t>
            </a:r>
            <a:r>
              <a:rPr/>
              <a:t>, </a:t>
            </a:r>
            <a:r>
              <a:rPr i="1"/>
              <a:t>42</a:t>
            </a:r>
            <a:r>
              <a:rPr/>
              <a:t>, 9142–9157. </a:t>
            </a:r>
            <a:r>
              <a:rPr>
                <a:hlinkClick r:id="rId12"/>
              </a:rPr>
              <a:t>https://doi.org/10.1523/JNEUROSCI.0746-22.2022</a:t>
            </a:r>
          </a:p>
          <a:p>
            <a:pPr lvl="0" indent="0" marL="0">
              <a:buNone/>
            </a:pPr>
            <a:r>
              <a:rPr/>
              <a:t>Zada, Z., Nastase, S. A., Speer, S., Mwilambwe-Tshilobo, L., Tsoi, L., Burns, S. M., … Tamir, D. I. (2025). Linguistic coupling between neural systems for speech production and comprehension during real-time dyadic conversations. </a:t>
            </a:r>
            <a:r>
              <a:rPr i="1"/>
              <a:t>Neuron</a:t>
            </a:r>
            <a:r>
              <a:rPr/>
              <a:t>, </a:t>
            </a:r>
            <a:r>
              <a:rPr i="1"/>
              <a:t>0</a:t>
            </a:r>
            <a:r>
              <a:rPr/>
              <a:t>. </a:t>
            </a:r>
            <a:r>
              <a:rPr>
                <a:hlinkClick r:id="rId13"/>
              </a:rPr>
              <a:t>https://doi.org/10.1016/j.neuron.2025.11.004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Action</dc:title>
  <dc:creator/>
  <cp:keywords/>
  <dcterms:created xsi:type="dcterms:W3CDTF">2026-01-13T17:12:15Z</dcterms:created>
  <dcterms:modified xsi:type="dcterms:W3CDTF">2026-01-13T17:12:15Z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/>
  </property>
  <property fmtid="{D5CDD505-2E9C-101B-9397-08002B2CF9AE}" pid="4" name="bibliographystyle">
    <vt:lpwstr>apa</vt:lpwstr>
  </property>
  <property fmtid="{D5CDD505-2E9C-101B-9397-08002B2CF9AE}" pid="5" name="csl">
    <vt:lpwstr>../include/bib/apa.csl</vt:lpwstr>
  </property>
  <property fmtid="{D5CDD505-2E9C-101B-9397-08002B2CF9AE}" pid="6" name="editor">
    <vt:lpwstr>source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lightbox">
    <vt:lpwstr>True</vt:lpwstr>
  </property>
  <property fmtid="{D5CDD505-2E9C-101B-9397-08002B2CF9AE}" pid="13" name="subtitle">
    <vt:lpwstr>PSY 511.001 Spr 2026</vt:lpwstr>
  </property>
  <property fmtid="{D5CDD505-2E9C-101B-9397-08002B2CF9AE}" pid="14" name="toc-title">
    <vt:lpwstr>Table of contents</vt:lpwstr>
  </property>
</Properties>
</file>