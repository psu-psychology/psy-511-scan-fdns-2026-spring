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g" ContentType="image/jpeg"/>
  <Default Extension="txt" ContentType="text/plain; charset=UTF-8"/>
  <Default Extension="webp" ContentType="image/webp"/>
  <Default Extension="shtml" ContentType="text/html; charset=UTF-8"/>
  <Default Extension="txt" ContentType="text/plain"/>
  <Default Extension="gif" ContentType="image/gif"/>
  <Default Extension="shtml" ContentType="text/html"/>
  <Override PartName="/docProps/app.xml" ContentType="application/vnd.openxmlformats-officedocument.extended-properties+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ppt/viewProps.xml" ContentType="application/vnd.openxmlformats-officedocument.presentationml.viewProp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Types>
</file>

<file path=_rels/.rels><?xml version="1.0" encoding="UTF-8"?><Relationships xmlns="http://schemas.openxmlformats.org/package/2006/relationships"><Relationship Id="rId1" Type="http://schemas.openxmlformats.org/officeDocument/2006/relationships/officeDocument" Target="ppt/presentation.xml" /><Relationship Id="rId2" Type="http://schemas.openxmlformats.org/package/2006/relationships/metadata/core-properties" Target="docProps/core.xml" /><Relationship Id="rId3" Type="http://schemas.openxmlformats.org/package/2006/relationships/metadata/extended-properties" Target="docProps/app.xml" /><Relationship Id="rId4" Type="http://schemas.openxmlformats.org/officeDocument/2006/relationships/custom-properties" Target="docProps/custom.xml" /></Relationships>
</file>

<file path=ppt/presentation.xml><?xml version="1.0" encoding="utf-8"?>
<p:presentation xmlns:a="http://schemas.openxmlformats.org/drawingml/2006/main" xmlns:p="http://schemas.openxmlformats.org/presentationml/2006/main" xmlns:r="http://schemas.openxmlformats.org/officeDocument/2006/relationships" autoCompressPictures="0"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31" r:id="rId77"/>
    <p:sldId id="332" r:id="rId78"/>
    <p:sldId id="333" r:id="rId79"/>
    <p:sldId id="334" r:id="rId80"/>
    <p:sldId id="335" r:id="rId81"/>
    <p:sldId id="336" r:id="rId82"/>
    <p:sldId id="337" r:id="rId83"/>
    <p:sldId id="338" r:id="rId84"/>
    <p:sldId id="339" r:id="rId85"/>
    <p:sldId id="340" r:id="rId86"/>
    <p:sldId id="341" r:id="rId87"/>
    <p:sldId id="342" r:id="rId88"/>
    <p:sldId id="343" r:id="rId89"/>
    <p:sldId id="344" r:id="rId90"/>
    <p:sldId id="345" r:id="rId91"/>
    <p:sldId id="346" r:id="rId92"/>
    <p:sldId id="347" r:id="rId93"/>
    <p:sldId id="348" r:id="rId94"/>
    <p:sldId id="349" r:id="rId95"/>
    <p:sldId id="350" r:id="rId96"/>
    <p:sldId id="351" r:id="rId97"/>
    <p:sldId id="352" r:id="rId98"/>
    <p:sldId id="353" r:id="rId99"/>
    <p:sldId id="354" r:id="rId100"/>
    <p:sldId id="355" r:id="rId101"/>
    <p:sldId id="356" r:id="rId102"/>
    <p:sldId id="357" r:id="rId103"/>
    <p:sldId id="358" r:id="rId104"/>
    <p:sldId id="359" r:id="rId105"/>
    <p:sldId id="360" r:id="rId106"/>
    <p:sldId id="361" r:id="rId107"/>
    <p:sldId id="362" r:id="rId108"/>
    <p:sldId id="363" r:id="rId109"/>
    <p:sldId id="364" r:id="rId110"/>
    <p:sldId id="365" r:id="rId111"/>
    <p:sldId id="366" r:id="rId112"/>
    <p:sldId id="367" r:id="rId113"/>
    <p:sldId id="368" r:id="rId114"/>
    <p:sldId id="369" r:id="rId115"/>
    <p:sldId id="370" r:id="rId116"/>
    <p:sldId id="371" r:id="rId117"/>
    <p:sldId id="372" r:id="rId118"/>
    <p:sldId id="373" r:id="rId119"/>
    <p:sldId id="374" r:id="rId120"/>
    <p:sldId id="375" r:id="rId121"/>
    <p:sldId id="376" r:id="rId122"/>
  </p:sldIdLst>
  <p:sldSz cx="9144000" cy="5143500" type="screen16x9"/>
  <p:notesSz cx="6858000" cy="9144000"/>
  <p:defaultTextStyle>
    <a:defPPr>
      <a:defRPr lang="en-US"/>
    </a:defPPr>
    <a:lvl1pPr algn="l" defTabSz="457200" eaLnBrk="1" hangingPunct="1" latinLnBrk="0" marL="0" rtl="0">
      <a:defRPr kern="1200" sz="1800">
        <a:solidFill>
          <a:schemeClr val="tx1"/>
        </a:solidFill>
        <a:latin typeface="+mn-lt"/>
        <a:ea typeface="+mn-ea"/>
        <a:cs typeface="+mn-cs"/>
      </a:defRPr>
    </a:lvl1pPr>
    <a:lvl2pPr algn="l" defTabSz="457200" eaLnBrk="1" hangingPunct="1" latinLnBrk="0" marL="457200" rtl="0">
      <a:defRPr kern="1200" sz="1800">
        <a:solidFill>
          <a:schemeClr val="tx1"/>
        </a:solidFill>
        <a:latin typeface="+mn-lt"/>
        <a:ea typeface="+mn-ea"/>
        <a:cs typeface="+mn-cs"/>
      </a:defRPr>
    </a:lvl2pPr>
    <a:lvl3pPr algn="l" defTabSz="457200" eaLnBrk="1" hangingPunct="1" latinLnBrk="0" marL="914400" rtl="0">
      <a:defRPr kern="1200" sz="1800">
        <a:solidFill>
          <a:schemeClr val="tx1"/>
        </a:solidFill>
        <a:latin typeface="+mn-lt"/>
        <a:ea typeface="+mn-ea"/>
        <a:cs typeface="+mn-cs"/>
      </a:defRPr>
    </a:lvl3pPr>
    <a:lvl4pPr algn="l" defTabSz="457200" eaLnBrk="1" hangingPunct="1" latinLnBrk="0" marL="1371600" rtl="0">
      <a:defRPr kern="1200" sz="1800">
        <a:solidFill>
          <a:schemeClr val="tx1"/>
        </a:solidFill>
        <a:latin typeface="+mn-lt"/>
        <a:ea typeface="+mn-ea"/>
        <a:cs typeface="+mn-cs"/>
      </a:defRPr>
    </a:lvl4pPr>
    <a:lvl5pPr algn="l" defTabSz="457200" eaLnBrk="1" hangingPunct="1" latinLnBrk="0" marL="1828800" rtl="0">
      <a:defRPr kern="1200" sz="1800">
        <a:solidFill>
          <a:schemeClr val="tx1"/>
        </a:solidFill>
        <a:latin typeface="+mn-lt"/>
        <a:ea typeface="+mn-ea"/>
        <a:cs typeface="+mn-cs"/>
      </a:defRPr>
    </a:lvl5pPr>
    <a:lvl6pPr algn="l" defTabSz="457200" eaLnBrk="1" hangingPunct="1" latinLnBrk="0" marL="2286000" rtl="0">
      <a:defRPr kern="1200" sz="1800">
        <a:solidFill>
          <a:schemeClr val="tx1"/>
        </a:solidFill>
        <a:latin typeface="+mn-lt"/>
        <a:ea typeface="+mn-ea"/>
        <a:cs typeface="+mn-cs"/>
      </a:defRPr>
    </a:lvl6pPr>
    <a:lvl7pPr algn="l" defTabSz="457200" eaLnBrk="1" hangingPunct="1" latinLnBrk="0" marL="2743200" rtl="0">
      <a:defRPr kern="1200" sz="1800">
        <a:solidFill>
          <a:schemeClr val="tx1"/>
        </a:solidFill>
        <a:latin typeface="+mn-lt"/>
        <a:ea typeface="+mn-ea"/>
        <a:cs typeface="+mn-cs"/>
      </a:defRPr>
    </a:lvl7pPr>
    <a:lvl8pPr algn="l" defTabSz="457200" eaLnBrk="1" hangingPunct="1" latinLnBrk="0" marL="3200400" rtl="0">
      <a:defRPr kern="1200" sz="1800">
        <a:solidFill>
          <a:schemeClr val="tx1"/>
        </a:solidFill>
        <a:latin typeface="+mn-lt"/>
        <a:ea typeface="+mn-ea"/>
        <a:cs typeface="+mn-cs"/>
      </a:defRPr>
    </a:lvl8pPr>
    <a:lvl9pPr algn="l" defTabSz="457200" eaLnBrk="1" hangingPunct="1" latinLnBrk="0" marL="3657600" rtl="0">
      <a:defRPr kern="1200" sz="18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p="http://schemas.openxmlformats.org/presentationml/2006/main" xmlns:r="http://schemas.openxmlformats.org/officeDocument/2006/relationships">
  <p:normalViewPr>
    <p:restoredLeft autoAdjust="0" sz="15643"/>
    <p:restoredTop autoAdjust="0" sz="94694"/>
  </p:normalViewPr>
  <p:slideViewPr>
    <p:cSldViewPr snapToGrid="0" snapToObjects="1">
      <p:cViewPr varScale="1">
        <p:scale>
          <a:sx d="100" n="161"/>
          <a:sy d="100" n="161"/>
        </p:scale>
        <p:origin x="560" y="200"/>
      </p:cViewPr>
      <p:guideLst>
        <p:guide orient="horz" pos="1620"/>
        <p:guide pos="2880"/>
      </p:guideLst>
    </p:cSldViewPr>
  </p:slideViewPr>
  <p:outlineViewPr>
    <p:cViewPr>
      <p:scale>
        <a:sx d="100" n="33"/>
        <a:sy d="100" n="33"/>
      </p:scale>
      <p:origin x="0" y="0"/>
    </p:cViewPr>
  </p:outlineViewPr>
  <p:notesTextViewPr>
    <p:cViewPr>
      <p:scale>
        <a:sx d="100" n="100"/>
        <a:sy d="100" n="100"/>
      </p:scale>
      <p:origin x="0" y="0"/>
    </p:cViewPr>
  </p:notesTextViewPr>
  <p:gridSpacing cx="76200" cy="76200"/>
</p:viewPr>
</file>

<file path=ppt/_rels/presentation.xml.rels><?xml version="1.0" encoding="UTF-8"?><Relationships xmlns="http://schemas.openxmlformats.org/package/2006/relationships"><Relationship Id="rId2" Type="http://schemas.openxmlformats.org/officeDocument/2006/relationships/slide" Target="slides/slide1.xml" /><Relationship Id="rId3" Type="http://schemas.openxmlformats.org/officeDocument/2006/relationships/slide" Target="slides/slide2.xml" /><Relationship Id="rId4" Type="http://schemas.openxmlformats.org/officeDocument/2006/relationships/slide" Target="slides/slide3.xml" /><Relationship Id="rId5" Type="http://schemas.openxmlformats.org/officeDocument/2006/relationships/slide" Target="slides/slide4.xml" /><Relationship Id="rId6" Type="http://schemas.openxmlformats.org/officeDocument/2006/relationships/slide" Target="slides/slide5.xml" /><Relationship Id="rId7" Type="http://schemas.openxmlformats.org/officeDocument/2006/relationships/slide" Target="slides/slide6.xml" /><Relationship Id="rId8" Type="http://schemas.openxmlformats.org/officeDocument/2006/relationships/slide" Target="slides/slide7.xml" /><Relationship Id="rId9" Type="http://schemas.openxmlformats.org/officeDocument/2006/relationships/slide" Target="slides/slide8.xml" /><Relationship Id="rId10" Type="http://schemas.openxmlformats.org/officeDocument/2006/relationships/slide" Target="slides/slide9.xml" /><Relationship Id="rId11" Type="http://schemas.openxmlformats.org/officeDocument/2006/relationships/slide" Target="slides/slide10.xml" /><Relationship Id="rId12" Type="http://schemas.openxmlformats.org/officeDocument/2006/relationships/slide" Target="slides/slide11.xml" /><Relationship Id="rId13" Type="http://schemas.openxmlformats.org/officeDocument/2006/relationships/slide" Target="slides/slide12.xml" /><Relationship Id="rId14" Type="http://schemas.openxmlformats.org/officeDocument/2006/relationships/slide" Target="slides/slide13.xml" /><Relationship Id="rId15" Type="http://schemas.openxmlformats.org/officeDocument/2006/relationships/slide" Target="slides/slide14.xml" /><Relationship Id="rId16" Type="http://schemas.openxmlformats.org/officeDocument/2006/relationships/slide" Target="slides/slide15.xml" /><Relationship Id="rId17" Type="http://schemas.openxmlformats.org/officeDocument/2006/relationships/slide" Target="slides/slide16.xml" /><Relationship Id="rId18" Type="http://schemas.openxmlformats.org/officeDocument/2006/relationships/slide" Target="slides/slide17.xml" /><Relationship Id="rId19" Type="http://schemas.openxmlformats.org/officeDocument/2006/relationships/slide" Target="slides/slide18.xml" /><Relationship Id="rId20" Type="http://schemas.openxmlformats.org/officeDocument/2006/relationships/slide" Target="slides/slide19.xml" /><Relationship Id="rId21" Type="http://schemas.openxmlformats.org/officeDocument/2006/relationships/slide" Target="slides/slide20.xml" /><Relationship Id="rId22" Type="http://schemas.openxmlformats.org/officeDocument/2006/relationships/slide" Target="slides/slide21.xml" /><Relationship Id="rId23" Type="http://schemas.openxmlformats.org/officeDocument/2006/relationships/slide" Target="slides/slide22.xml" /><Relationship Id="rId24" Type="http://schemas.openxmlformats.org/officeDocument/2006/relationships/slide" Target="slides/slide23.xml" /><Relationship Id="rId25" Type="http://schemas.openxmlformats.org/officeDocument/2006/relationships/slide" Target="slides/slide24.xml" /><Relationship Id="rId26" Type="http://schemas.openxmlformats.org/officeDocument/2006/relationships/slide" Target="slides/slide25.xml" /><Relationship Id="rId27" Type="http://schemas.openxmlformats.org/officeDocument/2006/relationships/slide" Target="slides/slide26.xml" /><Relationship Id="rId28" Type="http://schemas.openxmlformats.org/officeDocument/2006/relationships/slide" Target="slides/slide27.xml" /><Relationship Id="rId29" Type="http://schemas.openxmlformats.org/officeDocument/2006/relationships/slide" Target="slides/slide28.xml" /><Relationship Id="rId30" Type="http://schemas.openxmlformats.org/officeDocument/2006/relationships/slide" Target="slides/slide29.xml" /><Relationship Id="rId31" Type="http://schemas.openxmlformats.org/officeDocument/2006/relationships/slide" Target="slides/slide30.xml" /><Relationship Id="rId32" Type="http://schemas.openxmlformats.org/officeDocument/2006/relationships/slide" Target="slides/slide31.xml" /><Relationship Id="rId33" Type="http://schemas.openxmlformats.org/officeDocument/2006/relationships/slide" Target="slides/slide32.xml" /><Relationship Id="rId34" Type="http://schemas.openxmlformats.org/officeDocument/2006/relationships/slide" Target="slides/slide33.xml" /><Relationship Id="rId35" Type="http://schemas.openxmlformats.org/officeDocument/2006/relationships/slide" Target="slides/slide34.xml" /><Relationship Id="rId36" Type="http://schemas.openxmlformats.org/officeDocument/2006/relationships/slide" Target="slides/slide35.xml" /><Relationship Id="rId37" Type="http://schemas.openxmlformats.org/officeDocument/2006/relationships/slide" Target="slides/slide36.xml" /><Relationship Id="rId38" Type="http://schemas.openxmlformats.org/officeDocument/2006/relationships/slide" Target="slides/slide37.xml" /><Relationship Id="rId39" Type="http://schemas.openxmlformats.org/officeDocument/2006/relationships/slide" Target="slides/slide38.xml" /><Relationship Id="rId40" Type="http://schemas.openxmlformats.org/officeDocument/2006/relationships/slide" Target="slides/slide39.xml" /><Relationship Id="rId41" Type="http://schemas.openxmlformats.org/officeDocument/2006/relationships/slide" Target="slides/slide40.xml" /><Relationship Id="rId42" Type="http://schemas.openxmlformats.org/officeDocument/2006/relationships/slide" Target="slides/slide41.xml" /><Relationship Id="rId43" Type="http://schemas.openxmlformats.org/officeDocument/2006/relationships/slide" Target="slides/slide42.xml" /><Relationship Id="rId44" Type="http://schemas.openxmlformats.org/officeDocument/2006/relationships/slide" Target="slides/slide43.xml" /><Relationship Id="rId45" Type="http://schemas.openxmlformats.org/officeDocument/2006/relationships/slide" Target="slides/slide44.xml" /><Relationship Id="rId46" Type="http://schemas.openxmlformats.org/officeDocument/2006/relationships/slide" Target="slides/slide45.xml" /><Relationship Id="rId47" Type="http://schemas.openxmlformats.org/officeDocument/2006/relationships/slide" Target="slides/slide46.xml" /><Relationship Id="rId48" Type="http://schemas.openxmlformats.org/officeDocument/2006/relationships/slide" Target="slides/slide47.xml" /><Relationship Id="rId49" Type="http://schemas.openxmlformats.org/officeDocument/2006/relationships/slide" Target="slides/slide48.xml" /><Relationship Id="rId50" Type="http://schemas.openxmlformats.org/officeDocument/2006/relationships/slide" Target="slides/slide49.xml" /><Relationship Id="rId51" Type="http://schemas.openxmlformats.org/officeDocument/2006/relationships/slide" Target="slides/slide50.xml" /><Relationship Id="rId52" Type="http://schemas.openxmlformats.org/officeDocument/2006/relationships/slide" Target="slides/slide51.xml" /><Relationship Id="rId53" Type="http://schemas.openxmlformats.org/officeDocument/2006/relationships/slide" Target="slides/slide52.xml" /><Relationship Id="rId54" Type="http://schemas.openxmlformats.org/officeDocument/2006/relationships/slide" Target="slides/slide53.xml" /><Relationship Id="rId55" Type="http://schemas.openxmlformats.org/officeDocument/2006/relationships/slide" Target="slides/slide54.xml" /><Relationship Id="rId56" Type="http://schemas.openxmlformats.org/officeDocument/2006/relationships/slide" Target="slides/slide55.xml" /><Relationship Id="rId57" Type="http://schemas.openxmlformats.org/officeDocument/2006/relationships/slide" Target="slides/slide56.xml" /><Relationship Id="rId58" Type="http://schemas.openxmlformats.org/officeDocument/2006/relationships/slide" Target="slides/slide57.xml" /><Relationship Id="rId59" Type="http://schemas.openxmlformats.org/officeDocument/2006/relationships/slide" Target="slides/slide58.xml" /><Relationship Id="rId60" Type="http://schemas.openxmlformats.org/officeDocument/2006/relationships/slide" Target="slides/slide59.xml" /><Relationship Id="rId61" Type="http://schemas.openxmlformats.org/officeDocument/2006/relationships/slide" Target="slides/slide60.xml" /><Relationship Id="rId62" Type="http://schemas.openxmlformats.org/officeDocument/2006/relationships/slide" Target="slides/slide61.xml" /><Relationship Id="rId63" Type="http://schemas.openxmlformats.org/officeDocument/2006/relationships/slide" Target="slides/slide62.xml" /><Relationship Id="rId64" Type="http://schemas.openxmlformats.org/officeDocument/2006/relationships/slide" Target="slides/slide63.xml" /><Relationship Id="rId65" Type="http://schemas.openxmlformats.org/officeDocument/2006/relationships/slide" Target="slides/slide64.xml" /><Relationship Id="rId66" Type="http://schemas.openxmlformats.org/officeDocument/2006/relationships/slide" Target="slides/slide65.xml" /><Relationship Id="rId67" Type="http://schemas.openxmlformats.org/officeDocument/2006/relationships/slide" Target="slides/slide66.xml" /><Relationship Id="rId68" Type="http://schemas.openxmlformats.org/officeDocument/2006/relationships/slide" Target="slides/slide67.xml" /><Relationship Id="rId69" Type="http://schemas.openxmlformats.org/officeDocument/2006/relationships/slide" Target="slides/slide68.xml" /><Relationship Id="rId70" Type="http://schemas.openxmlformats.org/officeDocument/2006/relationships/slide" Target="slides/slide69.xml" /><Relationship Id="rId71" Type="http://schemas.openxmlformats.org/officeDocument/2006/relationships/slide" Target="slides/slide70.xml" /><Relationship Id="rId72" Type="http://schemas.openxmlformats.org/officeDocument/2006/relationships/slide" Target="slides/slide71.xml" /><Relationship Id="rId73" Type="http://schemas.openxmlformats.org/officeDocument/2006/relationships/slide" Target="slides/slide72.xml" /><Relationship Id="rId74" Type="http://schemas.openxmlformats.org/officeDocument/2006/relationships/slide" Target="slides/slide73.xml" /><Relationship Id="rId75" Type="http://schemas.openxmlformats.org/officeDocument/2006/relationships/slide" Target="slides/slide74.xml" /><Relationship Id="rId76" Type="http://schemas.openxmlformats.org/officeDocument/2006/relationships/slide" Target="slides/slide75.xml" /><Relationship Id="rId77" Type="http://schemas.openxmlformats.org/officeDocument/2006/relationships/slide" Target="slides/slide76.xml" /><Relationship Id="rId78" Type="http://schemas.openxmlformats.org/officeDocument/2006/relationships/slide" Target="slides/slide77.xml" /><Relationship Id="rId79" Type="http://schemas.openxmlformats.org/officeDocument/2006/relationships/slide" Target="slides/slide78.xml" /><Relationship Id="rId80" Type="http://schemas.openxmlformats.org/officeDocument/2006/relationships/slide" Target="slides/slide79.xml" /><Relationship Id="rId81" Type="http://schemas.openxmlformats.org/officeDocument/2006/relationships/slide" Target="slides/slide80.xml" /><Relationship Id="rId82" Type="http://schemas.openxmlformats.org/officeDocument/2006/relationships/slide" Target="slides/slide81.xml" /><Relationship Id="rId83" Type="http://schemas.openxmlformats.org/officeDocument/2006/relationships/slide" Target="slides/slide82.xml" /><Relationship Id="rId84" Type="http://schemas.openxmlformats.org/officeDocument/2006/relationships/slide" Target="slides/slide83.xml" /><Relationship Id="rId85" Type="http://schemas.openxmlformats.org/officeDocument/2006/relationships/slide" Target="slides/slide84.xml" /><Relationship Id="rId86" Type="http://schemas.openxmlformats.org/officeDocument/2006/relationships/slide" Target="slides/slide85.xml" /><Relationship Id="rId87" Type="http://schemas.openxmlformats.org/officeDocument/2006/relationships/slide" Target="slides/slide86.xml" /><Relationship Id="rId88" Type="http://schemas.openxmlformats.org/officeDocument/2006/relationships/slide" Target="slides/slide87.xml" /><Relationship Id="rId89" Type="http://schemas.openxmlformats.org/officeDocument/2006/relationships/slide" Target="slides/slide88.xml" /><Relationship Id="rId90" Type="http://schemas.openxmlformats.org/officeDocument/2006/relationships/slide" Target="slides/slide89.xml" /><Relationship Id="rId91" Type="http://schemas.openxmlformats.org/officeDocument/2006/relationships/slide" Target="slides/slide90.xml" /><Relationship Id="rId92" Type="http://schemas.openxmlformats.org/officeDocument/2006/relationships/slide" Target="slides/slide91.xml" /><Relationship Id="rId93" Type="http://schemas.openxmlformats.org/officeDocument/2006/relationships/slide" Target="slides/slide92.xml" /><Relationship Id="rId94" Type="http://schemas.openxmlformats.org/officeDocument/2006/relationships/slide" Target="slides/slide93.xml" /><Relationship Id="rId95" Type="http://schemas.openxmlformats.org/officeDocument/2006/relationships/slide" Target="slides/slide94.xml" /><Relationship Id="rId96" Type="http://schemas.openxmlformats.org/officeDocument/2006/relationships/slide" Target="slides/slide95.xml" /><Relationship Id="rId97" Type="http://schemas.openxmlformats.org/officeDocument/2006/relationships/slide" Target="slides/slide96.xml" /><Relationship Id="rId98" Type="http://schemas.openxmlformats.org/officeDocument/2006/relationships/slide" Target="slides/slide97.xml" /><Relationship Id="rId99" Type="http://schemas.openxmlformats.org/officeDocument/2006/relationships/slide" Target="slides/slide98.xml" /><Relationship Id="rId100" Type="http://schemas.openxmlformats.org/officeDocument/2006/relationships/slide" Target="slides/slide99.xml" /><Relationship Id="rId101" Type="http://schemas.openxmlformats.org/officeDocument/2006/relationships/slide" Target="slides/slide100.xml" /><Relationship Id="rId102" Type="http://schemas.openxmlformats.org/officeDocument/2006/relationships/slide" Target="slides/slide101.xml" /><Relationship Id="rId103" Type="http://schemas.openxmlformats.org/officeDocument/2006/relationships/slide" Target="slides/slide102.xml" /><Relationship Id="rId104" Type="http://schemas.openxmlformats.org/officeDocument/2006/relationships/slide" Target="slides/slide103.xml" /><Relationship Id="rId105" Type="http://schemas.openxmlformats.org/officeDocument/2006/relationships/slide" Target="slides/slide104.xml" /><Relationship Id="rId106" Type="http://schemas.openxmlformats.org/officeDocument/2006/relationships/slide" Target="slides/slide105.xml" /><Relationship Id="rId107" Type="http://schemas.openxmlformats.org/officeDocument/2006/relationships/slide" Target="slides/slide106.xml" /><Relationship Id="rId108" Type="http://schemas.openxmlformats.org/officeDocument/2006/relationships/slide" Target="slides/slide107.xml" /><Relationship Id="rId109" Type="http://schemas.openxmlformats.org/officeDocument/2006/relationships/slide" Target="slides/slide108.xml" /><Relationship Id="rId110" Type="http://schemas.openxmlformats.org/officeDocument/2006/relationships/slide" Target="slides/slide109.xml" /><Relationship Id="rId111" Type="http://schemas.openxmlformats.org/officeDocument/2006/relationships/slide" Target="slides/slide110.xml" /><Relationship Id="rId112" Type="http://schemas.openxmlformats.org/officeDocument/2006/relationships/slide" Target="slides/slide111.xml" /><Relationship Id="rId113" Type="http://schemas.openxmlformats.org/officeDocument/2006/relationships/slide" Target="slides/slide112.xml" /><Relationship Id="rId114" Type="http://schemas.openxmlformats.org/officeDocument/2006/relationships/slide" Target="slides/slide113.xml" /><Relationship Id="rId115" Type="http://schemas.openxmlformats.org/officeDocument/2006/relationships/slide" Target="slides/slide114.xml" /><Relationship Id="rId116" Type="http://schemas.openxmlformats.org/officeDocument/2006/relationships/slide" Target="slides/slide115.xml" /><Relationship Id="rId117" Type="http://schemas.openxmlformats.org/officeDocument/2006/relationships/slide" Target="slides/slide116.xml" /><Relationship Id="rId118" Type="http://schemas.openxmlformats.org/officeDocument/2006/relationships/slide" Target="slides/slide117.xml" /><Relationship Id="rId119" Type="http://schemas.openxmlformats.org/officeDocument/2006/relationships/slide" Target="slides/slide118.xml" /><Relationship Id="rId120" Type="http://schemas.openxmlformats.org/officeDocument/2006/relationships/slide" Target="slides/slide119.xml" /><Relationship Id="rId121" Type="http://schemas.openxmlformats.org/officeDocument/2006/relationships/slide" Target="slides/slide120.xml" /><Relationship Id="rId122" Type="http://schemas.openxmlformats.org/officeDocument/2006/relationships/slide" Target="slides/slide121.xml" /><Relationship Id="rId124" Type="http://schemas.openxmlformats.org/officeDocument/2006/relationships/viewProps" Target="viewProps.xml" /><Relationship Id="rId123" Type="http://schemas.openxmlformats.org/officeDocument/2006/relationships/presProps" Target="presProps.xml" /><Relationship Id="rId1" Type="http://schemas.openxmlformats.org/officeDocument/2006/relationships/slideMaster" Target="slideMasters/slideMaster1.xml" /><Relationship Id="rId126" Type="http://schemas.openxmlformats.org/officeDocument/2006/relationships/tableStyles" Target="tableStyles.xml" /><Relationship Id="rId125" Type="http://schemas.openxmlformats.org/officeDocument/2006/relationships/theme" Target="theme/theme1.xml" /></Relationships>
</file>

<file path=ppt/media/image9.txt>error code: 1020
</file>

<file path=ppt/media/image14.txt>Please set a user-agent and respect our robot policy https://w.wiki/4wJS. See also https://phabricator.wikimedia.org/T400119.

</file>

<file path=ppt/media/image17.txt>Please set a user-agent and respect our robot policy https://w.wiki/4wJS. See also https://phabricator.wikimedia.org/T400119.

</file>

<file path=ppt/media/image27.txt>Please set a user-agent and respect our robot policy https://w.wiki/4wJS. See also https://phabricator.wikimedia.org/T400119.

</file>

<file path=ppt/media/image28.txt>Please set a user-agent and respect our robot policy https://w.wiki/4wJS. See also https://phabricator.wikimedia.org/T400119.

</file>

<file path=ppt/media/image39.txt>error code: 1020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r>
              <a:rPr lang="en-US"/>
              <a:t>Click to edit Master title style</a:t>
            </a:r>
          </a:p>
        </p:txBody>
      </p:sp>
      <p:sp>
        <p:nvSpPr>
          <p:cNvPr id="3" name="Subtitle 2"/>
          <p:cNvSpPr>
            <a:spLocks noGrp="1"/>
          </p:cNvSpPr>
          <p:nvPr>
            <p:ph type="subTitle" idx="1"/>
          </p:nvPr>
        </p:nvSpPr>
        <p:spPr>
          <a:xfrm>
            <a:off x="1371600" y="2914650"/>
            <a:ext cx="6400800" cy="1314450"/>
          </a:xfrm>
        </p:spPr>
        <p:txBody>
          <a:bodyPr/>
          <a:lstStyle>
            <a:lvl1pPr marL="0" indent="0" algn="ctr">
              <a:buNone/>
              <a:defRPr>
                <a:solidFill>
                  <a:schemeClr val="tx1">
                    <a:tint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4443575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3834600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nchor="t"/>
          <a:lstStyle>
            <a:lvl1pPr algn="l">
              <a:defRPr sz="3000" b="1" cap="all"/>
            </a:lvl1pPr>
          </a:lstStyle>
          <a:p>
            <a:r>
              <a:rPr lang="en-US"/>
              <a:t>Click to edit Master title style</a:t>
            </a:r>
          </a:p>
        </p:txBody>
      </p:sp>
      <p:sp>
        <p:nvSpPr>
          <p:cNvPr id="3" name="Text Placeholder 2"/>
          <p:cNvSpPr>
            <a:spLocks noGrp="1"/>
          </p:cNvSpPr>
          <p:nvPr>
            <p:ph type="body" idx="1"/>
          </p:nvPr>
        </p:nvSpPr>
        <p:spPr>
          <a:xfrm>
            <a:off x="722313" y="2180035"/>
            <a:ext cx="7772400" cy="1125140"/>
          </a:xfrm>
        </p:spPr>
        <p:txBody>
          <a:bodyPr anchor="b"/>
          <a:lstStyle>
            <a:lvl1pPr marL="0" indent="0">
              <a:buNone/>
              <a:defRPr sz="1500">
                <a:solidFill>
                  <a:schemeClr val="tx1">
                    <a:tint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107306907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200151"/>
            <a:ext cx="4038600" cy="3394472"/>
          </a:xfrm>
        </p:spPr>
        <p:txBody>
          <a:bodyPr/>
          <a:lstStyle>
            <a:lvl1pPr>
              <a:defRPr sz="2100"/>
            </a:lvl1pPr>
            <a:lvl2pPr>
              <a:defRPr sz="1800"/>
            </a:lvl2pPr>
            <a:lvl3pPr>
              <a:defRPr sz="1500"/>
            </a:lvl3pPr>
            <a:lvl4pPr>
              <a:defRPr sz="1350"/>
            </a:lvl4pPr>
            <a:lvl5pPr>
              <a:defRPr sz="1350"/>
            </a:lvl5pPr>
            <a:lvl6pPr>
              <a:defRPr sz="1350"/>
            </a:lvl6pPr>
            <a:lvl7pPr>
              <a:defRPr sz="1350"/>
            </a:lvl7pPr>
            <a:lvl8pPr>
              <a:defRPr sz="1350"/>
            </a:lvl8pPr>
            <a:lvl9pPr>
              <a:defRPr sz="135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6198862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151335"/>
            <a:ext cx="4040188"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57200" y="1631156"/>
            <a:ext cx="4040188"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6" y="1151335"/>
            <a:ext cx="4041775" cy="479822"/>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645026" y="1631156"/>
            <a:ext cx="4041775" cy="2963466"/>
          </a:xfrm>
        </p:spPr>
        <p:txBody>
          <a:bodyPr/>
          <a:lstStyle>
            <a:lvl1pPr>
              <a:defRPr sz="1800"/>
            </a:lvl1pPr>
            <a:lvl2pPr>
              <a:defRPr sz="1500"/>
            </a:lvl2pPr>
            <a:lvl3pPr>
              <a:defRPr sz="135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241EB5C9-1307-BA42-ABA2-0BC069CD8E7F}" type="datetimeFigureOut">
              <a:rPr lang="en-US" smtClean="0"/>
              <a:t>1/2/22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3579396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241EB5C9-1307-BA42-ABA2-0BC069CD8E7F}" type="datetimeFigureOut">
              <a:rPr lang="en-US" smtClean="0"/>
              <a:t>1/2/22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4727212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41EB5C9-1307-BA42-ABA2-0BC069CD8E7F}" type="datetimeFigureOut">
              <a:rPr lang="en-US" smtClean="0"/>
              <a:t>1/2/22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13090109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nchor="b"/>
          <a:lstStyle>
            <a:lvl1pPr algn="l">
              <a:defRPr sz="1500" b="1"/>
            </a:lvl1pPr>
          </a:lstStyle>
          <a:p>
            <a:r>
              <a:rPr lang="en-US"/>
              <a:t>Click to edit Master title style</a:t>
            </a:r>
          </a:p>
        </p:txBody>
      </p:sp>
      <p:sp>
        <p:nvSpPr>
          <p:cNvPr id="3" name="Content Placeholder 2"/>
          <p:cNvSpPr>
            <a:spLocks noGrp="1"/>
          </p:cNvSpPr>
          <p:nvPr>
            <p:ph idx="1"/>
          </p:nvPr>
        </p:nvSpPr>
        <p:spPr>
          <a:xfrm>
            <a:off x="3575050" y="204788"/>
            <a:ext cx="5111750" cy="4389835"/>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1" y="1076326"/>
            <a:ext cx="3008313" cy="351829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408956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3600450"/>
            <a:ext cx="5486400" cy="425054"/>
          </a:xfrm>
        </p:spPr>
        <p:txBody>
          <a:bodyPr anchor="b"/>
          <a:lstStyle>
            <a:lvl1pPr algn="l">
              <a:defRPr sz="1500" b="1"/>
            </a:lvl1pPr>
          </a:lstStyle>
          <a:p>
            <a:r>
              <a:rPr lang="en-US"/>
              <a:t>Click to edit Master title style</a:t>
            </a:r>
          </a:p>
        </p:txBody>
      </p:sp>
      <p:sp>
        <p:nvSpPr>
          <p:cNvPr id="3" name="Picture Placeholder 2"/>
          <p:cNvSpPr>
            <a:spLocks noGrp="1"/>
          </p:cNvSpPr>
          <p:nvPr>
            <p:ph type="pic" idx="1"/>
          </p:nvPr>
        </p:nvSpPr>
        <p:spPr>
          <a:xfrm>
            <a:off x="1792288" y="459581"/>
            <a:ext cx="5486400" cy="30861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en-US"/>
          </a:p>
        </p:txBody>
      </p:sp>
      <p:sp>
        <p:nvSpPr>
          <p:cNvPr id="4" name="Text Placeholder 3"/>
          <p:cNvSpPr>
            <a:spLocks noGrp="1"/>
          </p:cNvSpPr>
          <p:nvPr>
            <p:ph type="body" sz="half" idx="2"/>
          </p:nvPr>
        </p:nvSpPr>
        <p:spPr>
          <a:xfrm>
            <a:off x="1792288" y="4025503"/>
            <a:ext cx="5486400" cy="603647"/>
          </a:xfrm>
        </p:spPr>
        <p:txBody>
          <a:bodyPr/>
          <a:lstStyle>
            <a:lvl1pPr marL="0" indent="0">
              <a:buNone/>
              <a:defRPr sz="10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241EB5C9-1307-BA42-ABA2-0BC069CD8E7F}" type="datetimeFigureOut">
              <a:rPr lang="en-US" smtClean="0"/>
              <a:t>1/2/22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56689985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3139147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241EB5C9-1307-BA42-ABA2-0BC069CD8E7F}" type="datetimeFigureOut">
              <a:rPr lang="en-US" smtClean="0"/>
              <a:t>1/2/22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5EF2332-01BF-834F-8236-50238282D533}" type="slidenum">
              <a:rPr lang="en-US" smtClean="0"/>
              <a:t>‹#›</a:t>
            </a:fld>
            <a:endParaRPr lang="en-US"/>
          </a:p>
        </p:txBody>
      </p:sp>
    </p:spTree>
    <p:extLst>
      <p:ext uri="{BB962C8B-B14F-4D97-AF65-F5344CB8AC3E}">
        <p14:creationId xmlns:p14="http://schemas.microsoft.com/office/powerpoint/2010/main" val="2581529045"/>
      </p:ext>
    </p:extLst>
  </p:cSld>
  <p:clrMapOvr>
    <a:masterClrMapping/>
  </p:clrMapOvr>
</p:sldLayout>
</file>

<file path=ppt/slideMasters/_rels/slideMaster1.xml.rels><?xml version="1.0" encoding="UTF-8"?><Relationships xmlns="http://schemas.openxmlformats.org/package/2006/relationships"><Relationship Id="rId8" Target="../slideLayouts/slideLayout8.xml" Type="http://schemas.openxmlformats.org/officeDocument/2006/relationships/slideLayout" /><Relationship Id="rId3" Target="../slideLayouts/slideLayout3.xml" Type="http://schemas.openxmlformats.org/officeDocument/2006/relationships/slideLayout" /><Relationship Id="rId7" Target="../slideLayouts/slideLayout7.xml" Type="http://schemas.openxmlformats.org/officeDocument/2006/relationships/slideLayout" /><Relationship Id="rId12" Target="../theme/theme1.xml" Type="http://schemas.openxmlformats.org/officeDocument/2006/relationships/theme" /><Relationship Id="rId2" Target="../slideLayouts/slideLayout2.xml" Type="http://schemas.openxmlformats.org/officeDocument/2006/relationships/slideLayout" /><Relationship Id="rId1" Target="../slideLayouts/slideLayout1.xml" Type="http://schemas.openxmlformats.org/officeDocument/2006/relationships/slideLayout" /><Relationship Id="rId6" Target="../slideLayouts/slideLayout6.xml" Type="http://schemas.openxmlformats.org/officeDocument/2006/relationships/slideLayout" /><Relationship Id="rId11" Target="../slideLayouts/slideLayout11.xml" Type="http://schemas.openxmlformats.org/officeDocument/2006/relationships/slideLayout" /><Relationship Id="rId5" Target="../slideLayouts/slideLayout5.xml" Type="http://schemas.openxmlformats.org/officeDocument/2006/relationships/slideLayout" /><Relationship Id="rId10" Target="../slideLayouts/slideLayout10.xml" Type="http://schemas.openxmlformats.org/officeDocument/2006/relationships/slideLayout" /><Relationship Id="rId4" Target="../slideLayouts/slideLayout4.xml" Type="http://schemas.openxmlformats.org/officeDocument/2006/relationships/slideLayout" /><Relationship Id="rId9" Target="../slideLayouts/slideLayout9.xml" Type="http://schemas.openxmlformats.org/officeDocument/2006/relationships/slideLayout" /></Relationships>
</file>

<file path=ppt/slideMasters/slideMaster1.xml><?xml version="1.0" encoding="utf-8"?>
<p:sld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05979"/>
            <a:ext cx="8229600" cy="857250"/>
          </a:xfrm>
          <a:prstGeom prst="rect">
            <a:avLst/>
          </a:prstGeom>
        </p:spPr>
        <p:txBody>
          <a:bodyPr anchor="ctr" bIns="45720" lIns="91440" rIns="91440" rtlCol="0" tIns="45720" vert="horz">
            <a:normAutofit/>
          </a:bodyPr>
          <a:lstStyle/>
          <a:p>
            <a:r>
              <a:rPr lang="en-US"/>
              <a:t>Click to edit Master title style</a:t>
            </a:r>
          </a:p>
        </p:txBody>
      </p:sp>
      <p:sp>
        <p:nvSpPr>
          <p:cNvPr id="3" name="Text Placeholder 2"/>
          <p:cNvSpPr>
            <a:spLocks noGrp="1"/>
          </p:cNvSpPr>
          <p:nvPr>
            <p:ph idx="1" type="body"/>
          </p:nvPr>
        </p:nvSpPr>
        <p:spPr>
          <a:xfrm>
            <a:off x="457200" y="1200151"/>
            <a:ext cx="8229600" cy="3394472"/>
          </a:xfrm>
          <a:prstGeom prst="rect">
            <a:avLst/>
          </a:prstGeom>
        </p:spPr>
        <p:txBody>
          <a:bodyPr bIns="45720" lIns="91440" rIns="91440" rtlCol="0" tIns="45720" vert="horz">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idx="2" sz="half" type="dt"/>
          </p:nvPr>
        </p:nvSpPr>
        <p:spPr>
          <a:xfrm>
            <a:off x="457200" y="4767263"/>
            <a:ext cx="2133600" cy="273844"/>
          </a:xfrm>
          <a:prstGeom prst="rect">
            <a:avLst/>
          </a:prstGeom>
        </p:spPr>
        <p:txBody>
          <a:bodyPr anchor="ctr" bIns="45720" lIns="91440" rIns="91440" rtlCol="0" tIns="45720" vert="horz"/>
          <a:lstStyle>
            <a:lvl1pPr algn="l">
              <a:defRPr sz="900">
                <a:solidFill>
                  <a:schemeClr val="tx1">
                    <a:tint val="75000"/>
                  </a:schemeClr>
                </a:solidFill>
              </a:defRPr>
            </a:lvl1pPr>
          </a:lstStyle>
          <a:p>
            <a:fld id="{241EB5C9-1307-BA42-ABA2-0BC069CD8E7F}" type="datetimeFigureOut">
              <a:rPr lang="en-US" smtClean="0"/>
              <a:t>1/2/22</a:t>
            </a:fld>
            <a:endParaRPr lang="en-US"/>
          </a:p>
        </p:txBody>
      </p:sp>
      <p:sp>
        <p:nvSpPr>
          <p:cNvPr id="5" name="Footer Placeholder 4"/>
          <p:cNvSpPr>
            <a:spLocks noGrp="1"/>
          </p:cNvSpPr>
          <p:nvPr>
            <p:ph idx="3" sz="quarter" type="ftr"/>
          </p:nvPr>
        </p:nvSpPr>
        <p:spPr>
          <a:xfrm>
            <a:off x="3124200" y="4767263"/>
            <a:ext cx="2895600" cy="273844"/>
          </a:xfrm>
          <a:prstGeom prst="rect">
            <a:avLst/>
          </a:prstGeom>
        </p:spPr>
        <p:txBody>
          <a:bodyPr anchor="ctr" bIns="45720" lIns="91440" rIns="91440" rtlCol="0" tIns="45720" vert="horz"/>
          <a:lstStyle>
            <a:lvl1pPr algn="ctr">
              <a:defRPr sz="900">
                <a:solidFill>
                  <a:schemeClr val="tx1">
                    <a:tint val="75000"/>
                  </a:schemeClr>
                </a:solidFill>
              </a:defRPr>
            </a:lvl1pPr>
          </a:lstStyle>
          <a:p>
            <a:endParaRPr lang="en-US"/>
          </a:p>
        </p:txBody>
      </p:sp>
      <p:sp>
        <p:nvSpPr>
          <p:cNvPr id="6" name="Slide Number Placeholder 5"/>
          <p:cNvSpPr>
            <a:spLocks noGrp="1"/>
          </p:cNvSpPr>
          <p:nvPr>
            <p:ph idx="4" sz="quarter" type="sldNum"/>
          </p:nvPr>
        </p:nvSpPr>
        <p:spPr>
          <a:xfrm>
            <a:off x="6553200" y="4767263"/>
            <a:ext cx="2133600" cy="273844"/>
          </a:xfrm>
          <a:prstGeom prst="rect">
            <a:avLst/>
          </a:prstGeom>
        </p:spPr>
        <p:txBody>
          <a:bodyPr anchor="ctr" bIns="45720" lIns="91440" rIns="91440" rtlCol="0" tIns="45720" vert="horz"/>
          <a:lstStyle>
            <a:lvl1pPr algn="r">
              <a:defRPr sz="900">
                <a:solidFill>
                  <a:schemeClr val="tx1">
                    <a:tint val="75000"/>
                  </a:schemeClr>
                </a:solidFill>
              </a:defRPr>
            </a:lvl1pPr>
          </a:lstStyle>
          <a:p>
            <a:fld id="{C5EF2332-01BF-834F-8236-50238282D533}" type="slidenum">
              <a:rPr lang="en-US" smtClean="0"/>
              <a:t>‹#›</a:t>
            </a:fld>
            <a:endParaRPr lang="en-US"/>
          </a:p>
        </p:txBody>
      </p:sp>
    </p:spTree>
    <p:extLst>
      <p:ext uri="{BB962C8B-B14F-4D97-AF65-F5344CB8AC3E}">
        <p14:creationId xmlns:p14="http://schemas.microsoft.com/office/powerpoint/2010/main" val="3676200875"/>
      </p:ext>
    </p:extLst>
  </p:cSld>
  <p:clrMap accent1="accent1" accent2="accent2" accent3="accent3" accent4="accent4" accent5="accent5" accent6="accent6" bg1="lt1" bg2="lt2" folHlink="folHlink" hlink="hlink" tx1="dk1" tx2="dk2"/>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342900" eaLnBrk="1" hangingPunct="1" latinLnBrk="0" rtl="0">
        <a:spcBef>
          <a:spcPct val="0"/>
        </a:spcBef>
        <a:buNone/>
        <a:defRPr kern="1200" sz="3300">
          <a:solidFill>
            <a:schemeClr val="tx1"/>
          </a:solidFill>
          <a:latin typeface="+mj-lt"/>
          <a:ea typeface="+mj-ea"/>
          <a:cs typeface="+mj-cs"/>
        </a:defRPr>
      </a:lvl1pPr>
    </p:titleStyle>
    <p:bodyStyle>
      <a:lvl1pPr algn="l" defTabSz="342900" eaLnBrk="1" hangingPunct="1" indent="-342900" latinLnBrk="0" marL="342900" rtl="0">
        <a:spcBef>
          <a:spcPct val="20000"/>
        </a:spcBef>
        <a:buFont typeface="Arial"/>
        <a:buChar char="•"/>
        <a:defRPr kern="1200" sz="2400">
          <a:solidFill>
            <a:schemeClr val="tx1"/>
          </a:solidFill>
          <a:latin typeface="+mn-lt"/>
          <a:ea typeface="+mn-ea"/>
          <a:cs typeface="+mn-cs"/>
        </a:defRPr>
      </a:lvl1pPr>
      <a:lvl2pPr algn="l" defTabSz="342900" eaLnBrk="1" hangingPunct="1" indent="-342900" latinLnBrk="0" marL="685800" rtl="0">
        <a:spcBef>
          <a:spcPct val="20000"/>
        </a:spcBef>
        <a:buFont typeface="Arial"/>
        <a:buChar char="–"/>
        <a:defRPr kern="1200" sz="2100">
          <a:solidFill>
            <a:schemeClr val="tx1"/>
          </a:solidFill>
          <a:latin typeface="+mn-lt"/>
          <a:ea typeface="+mn-ea"/>
          <a:cs typeface="+mn-cs"/>
        </a:defRPr>
      </a:lvl2pPr>
      <a:lvl3pPr algn="l" defTabSz="342900" eaLnBrk="1" hangingPunct="1" indent="-342900" latinLnBrk="0" marL="1028700" rtl="0">
        <a:spcBef>
          <a:spcPct val="20000"/>
        </a:spcBef>
        <a:buFont typeface="Arial"/>
        <a:buChar char="•"/>
        <a:defRPr kern="1200" sz="1800">
          <a:solidFill>
            <a:schemeClr val="tx1"/>
          </a:solidFill>
          <a:latin typeface="+mn-lt"/>
          <a:ea typeface="+mn-ea"/>
          <a:cs typeface="+mn-cs"/>
        </a:defRPr>
      </a:lvl3pPr>
      <a:lvl4pPr algn="l" defTabSz="342900" eaLnBrk="1" hangingPunct="1" indent="-342900" latinLnBrk="0" marL="1371600" rtl="0">
        <a:spcBef>
          <a:spcPct val="20000"/>
        </a:spcBef>
        <a:buFont typeface="Arial"/>
        <a:buChar char="–"/>
        <a:defRPr kern="1200" sz="1500">
          <a:solidFill>
            <a:schemeClr val="tx1"/>
          </a:solidFill>
          <a:latin typeface="+mn-lt"/>
          <a:ea typeface="+mn-ea"/>
          <a:cs typeface="+mn-cs"/>
        </a:defRPr>
      </a:lvl4pPr>
      <a:lvl5pPr algn="l" defTabSz="342900" eaLnBrk="1" hangingPunct="1" indent="-342900" latinLnBrk="0" marL="1714500" rtl="0">
        <a:spcBef>
          <a:spcPct val="20000"/>
        </a:spcBef>
        <a:buFont typeface="Arial"/>
        <a:buChar char="»"/>
        <a:defRPr kern="1200" sz="1500">
          <a:solidFill>
            <a:schemeClr val="tx1"/>
          </a:solidFill>
          <a:latin typeface="+mn-lt"/>
          <a:ea typeface="+mn-ea"/>
          <a:cs typeface="+mn-cs"/>
        </a:defRPr>
      </a:lvl5pPr>
      <a:lvl6pPr algn="l" defTabSz="342900" eaLnBrk="1" hangingPunct="1" indent="-342900" latinLnBrk="0" marL="2057400" rtl="0">
        <a:spcBef>
          <a:spcPct val="20000"/>
        </a:spcBef>
        <a:buFont typeface="Arial"/>
        <a:buChar char="•"/>
        <a:defRPr kern="1200" sz="1500">
          <a:solidFill>
            <a:schemeClr val="tx1"/>
          </a:solidFill>
          <a:latin typeface="+mn-lt"/>
          <a:ea typeface="+mn-ea"/>
          <a:cs typeface="+mn-cs"/>
        </a:defRPr>
      </a:lvl6pPr>
      <a:lvl7pPr algn="l" defTabSz="342900" eaLnBrk="1" hangingPunct="1" indent="-342900" latinLnBrk="0" marL="2400300" rtl="0">
        <a:spcBef>
          <a:spcPct val="20000"/>
        </a:spcBef>
        <a:buFont typeface="Arial"/>
        <a:buChar char="•"/>
        <a:defRPr kern="1200" sz="1500">
          <a:solidFill>
            <a:schemeClr val="tx1"/>
          </a:solidFill>
          <a:latin typeface="+mn-lt"/>
          <a:ea typeface="+mn-ea"/>
          <a:cs typeface="+mn-cs"/>
        </a:defRPr>
      </a:lvl7pPr>
      <a:lvl8pPr algn="l" defTabSz="342900" eaLnBrk="1" hangingPunct="1" indent="-342900" latinLnBrk="0" marL="2743200" rtl="0">
        <a:spcBef>
          <a:spcPct val="20000"/>
        </a:spcBef>
        <a:buFont typeface="Arial"/>
        <a:buChar char="•"/>
        <a:defRPr kern="1200" sz="1500">
          <a:solidFill>
            <a:schemeClr val="tx1"/>
          </a:solidFill>
          <a:latin typeface="+mn-lt"/>
          <a:ea typeface="+mn-ea"/>
          <a:cs typeface="+mn-cs"/>
        </a:defRPr>
      </a:lvl8pPr>
      <a:lvl9pPr algn="l" defTabSz="342900" eaLnBrk="1" hangingPunct="1" indent="-342900" latinLnBrk="0" marL="3086100" rtl="0">
        <a:spcBef>
          <a:spcPct val="20000"/>
        </a:spcBef>
        <a:buFont typeface="Arial"/>
        <a:buChar char="•"/>
        <a:defRPr kern="1200" sz="1500">
          <a:solidFill>
            <a:schemeClr val="tx1"/>
          </a:solidFill>
          <a:latin typeface="+mn-lt"/>
          <a:ea typeface="+mn-ea"/>
          <a:cs typeface="+mn-cs"/>
        </a:defRPr>
      </a:lvl9pPr>
    </p:bodyStyle>
    <p:otherStyle>
      <a:defPPr>
        <a:defRPr lang="en-US"/>
      </a:defPPr>
      <a:lvl1pPr algn="l" defTabSz="342900" eaLnBrk="1" hangingPunct="1" latinLnBrk="0" marL="0" rtl="0">
        <a:defRPr kern="1200" sz="1350">
          <a:solidFill>
            <a:schemeClr val="tx1"/>
          </a:solidFill>
          <a:latin typeface="+mn-lt"/>
          <a:ea typeface="+mn-ea"/>
          <a:cs typeface="+mn-cs"/>
        </a:defRPr>
      </a:lvl1pPr>
      <a:lvl2pPr algn="l" defTabSz="342900" eaLnBrk="1" hangingPunct="1" latinLnBrk="0" marL="342900" rtl="0">
        <a:defRPr kern="1200" sz="1350">
          <a:solidFill>
            <a:schemeClr val="tx1"/>
          </a:solidFill>
          <a:latin typeface="+mn-lt"/>
          <a:ea typeface="+mn-ea"/>
          <a:cs typeface="+mn-cs"/>
        </a:defRPr>
      </a:lvl2pPr>
      <a:lvl3pPr algn="l" defTabSz="342900" eaLnBrk="1" hangingPunct="1" latinLnBrk="0" marL="685800" rtl="0">
        <a:defRPr kern="1200" sz="1350">
          <a:solidFill>
            <a:schemeClr val="tx1"/>
          </a:solidFill>
          <a:latin typeface="+mn-lt"/>
          <a:ea typeface="+mn-ea"/>
          <a:cs typeface="+mn-cs"/>
        </a:defRPr>
      </a:lvl3pPr>
      <a:lvl4pPr algn="l" defTabSz="342900" eaLnBrk="1" hangingPunct="1" latinLnBrk="0" marL="1028700" rtl="0">
        <a:defRPr kern="1200" sz="1350">
          <a:solidFill>
            <a:schemeClr val="tx1"/>
          </a:solidFill>
          <a:latin typeface="+mn-lt"/>
          <a:ea typeface="+mn-ea"/>
          <a:cs typeface="+mn-cs"/>
        </a:defRPr>
      </a:lvl4pPr>
      <a:lvl5pPr algn="l" defTabSz="342900" eaLnBrk="1" hangingPunct="1" latinLnBrk="0" marL="1371600" rtl="0">
        <a:defRPr kern="1200" sz="1350">
          <a:solidFill>
            <a:schemeClr val="tx1"/>
          </a:solidFill>
          <a:latin typeface="+mn-lt"/>
          <a:ea typeface="+mn-ea"/>
          <a:cs typeface="+mn-cs"/>
        </a:defRPr>
      </a:lvl5pPr>
      <a:lvl6pPr algn="l" defTabSz="342900" eaLnBrk="1" hangingPunct="1" latinLnBrk="0" marL="1714500" rtl="0">
        <a:defRPr kern="1200" sz="1350">
          <a:solidFill>
            <a:schemeClr val="tx1"/>
          </a:solidFill>
          <a:latin typeface="+mn-lt"/>
          <a:ea typeface="+mn-ea"/>
          <a:cs typeface="+mn-cs"/>
        </a:defRPr>
      </a:lvl6pPr>
      <a:lvl7pPr algn="l" defTabSz="342900" eaLnBrk="1" hangingPunct="1" latinLnBrk="0" marL="2057400" rtl="0">
        <a:defRPr kern="1200" sz="1350">
          <a:solidFill>
            <a:schemeClr val="tx1"/>
          </a:solidFill>
          <a:latin typeface="+mn-lt"/>
          <a:ea typeface="+mn-ea"/>
          <a:cs typeface="+mn-cs"/>
        </a:defRPr>
      </a:lvl7pPr>
      <a:lvl8pPr algn="l" defTabSz="342900" eaLnBrk="1" hangingPunct="1" latinLnBrk="0" marL="2400300" rtl="0">
        <a:defRPr kern="1200" sz="1350">
          <a:solidFill>
            <a:schemeClr val="tx1"/>
          </a:solidFill>
          <a:latin typeface="+mn-lt"/>
          <a:ea typeface="+mn-ea"/>
          <a:cs typeface="+mn-cs"/>
        </a:defRPr>
      </a:lvl8pPr>
      <a:lvl9pPr algn="l" defTabSz="342900" eaLnBrk="1" hangingPunct="1" latinLnBrk="0" marL="2743200" rtl="0">
        <a:defRPr kern="1200" sz="135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1" Type="http://schemas.openxmlformats.org/officeDocument/2006/relationships/slideLayout" Target="../slideLayouts/slideLayout1.xml" /></Relationships>
</file>

<file path=ppt/slides/_rels/slide2.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7.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png" /></Relationships>
</file>

<file path=ppt/slides/_rels/slide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jpg" /></Relationships>
</file>

<file path=ppt/slides/_rels/slide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jpg" /></Relationships>
</file>

<file path=ppt/slides/_rels/slide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jpg" /></Relationships>
</file>

<file path=ppt/slides/_rels/slide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jpg" /></Relationships>
</file>

<file path=ppt/slides/_rels/slide1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6.png" /></Relationships>
</file>

<file path=ppt/slides/_rels/slide1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7.png" /></Relationships>
</file>

<file path=ppt/slides/_rels/slide1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7.xml.rels><?xml version="1.0" encoding="UTF-8"?><Relationships xmlns="http://schemas.openxmlformats.org/package/2006/relationships"><Relationship Id="rId1" Type="http://schemas.openxmlformats.org/officeDocument/2006/relationships/slideLayout" Target="../slideLayouts/slideLayout4.xml" /></Relationships>
</file>

<file path=ppt/slides/_rels/slide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9.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0.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2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5.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29.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jpg" /></Relationships>
</file>

<file path=ppt/slides/_rels/slide30.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8.jpg" /></Relationships>
</file>

<file path=ppt/slides/_rels/slide3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8.jpg" /></Relationships>
</file>

<file path=ppt/slides/_rels/slide3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9.txt" /></Relationships>
</file>

<file path=ppt/slides/_rels/slide34.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0.webp" /></Relationships>
</file>

<file path=ppt/slides/_rels/slide3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1.jpg" /></Relationships>
</file>

<file path=ppt/slides/_rels/slide3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3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2.shtml" /></Relationships>
</file>

<file path=ppt/slides/_rels/slide4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3.png" /></Relationships>
</file>

<file path=ppt/slides/_rels/slide4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4.txt" /></Relationships>
</file>

<file path=ppt/slides/_rels/slide4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5.jpg" /></Relationships>
</file>

<file path=ppt/slides/_rels/slide4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4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16.jpg" /></Relationships>
</file>

<file path=ppt/slides/_rels/slide45.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7.txt" /></Relationships>
</file>

<file path=ppt/slides/_rels/slide46.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8.jpg" /></Relationships>
</file>

<file path=ppt/slides/_rels/slide47.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19.webp" /></Relationships>
</file>

<file path=ppt/slides/_rels/slide4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Receptive_field" TargetMode="External" /></Relationships>
</file>

<file path=ppt/slides/_rels/slide4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0.shtml" /></Relationships>
</file>

<file path=ppt/slides/_rels/slide50.xml.rels><?xml version="1.0" encoding="UTF-8"?><Relationships xmlns="http://schemas.openxmlformats.org/package/2006/relationships"><Relationship Id="rId1" Type="http://schemas.openxmlformats.org/officeDocument/2006/relationships/slideLayout" Target="../slideLayouts/slideLayout4.xml" /><Relationship Id="rId3" Type="http://schemas.openxmlformats.org/officeDocument/2006/relationships/image" Target="../media/image22.png" /><Relationship Id="rId2" Type="http://schemas.openxmlformats.org/officeDocument/2006/relationships/image" Target="../media/image21.png" /></Relationships>
</file>

<file path=ppt/slides/_rels/slide5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3.jpg" /></Relationships>
</file>

<file path=ppt/slides/_rels/slide53.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hyperlink" Target="https://www.youtube.com/embed/f2JMbo4BZqY" TargetMode="External" /><Relationship Id="rId3" Type="http://schemas.openxmlformats.org/officeDocument/2006/relationships/hyperlink" Target="https://www.youtube.com/embed/rsykP-9-moA" TargetMode="External" /></Relationships>
</file>

<file path=ppt/slides/_rels/slide5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4.jpg" /></Relationships>
</file>

<file path=ppt/slides/_rels/slide5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5.jpg" /></Relationships>
</file>

<file path=ppt/slides/_rels/slide5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5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jpg" /></Relationships>
</file>

<file path=ppt/slides/_rels/slide5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7.txt" /></Relationships>
</file>

<file path=ppt/slides/_rels/slide5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8.txt" /></Relationships>
</file>

<file path=ppt/slides/_rels/slide6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9.png" /></Relationships>
</file>

<file path=ppt/slides/_rels/slide6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0.jpg" /></Relationships>
</file>

<file path=ppt/slides/_rels/slide6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1.jpg" /></Relationships>
</file>

<file path=ppt/slides/_rels/slide6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2.jpg" /></Relationships>
</file>

<file path=ppt/slides/_rels/slide6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3.png" /></Relationships>
</file>

<file path=ppt/slides/_rels/slide6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6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4.shtml" /></Relationships>
</file>

<file path=ppt/slides/_rels/slide6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reddit.com/r/youseeingthisshit/comments/p9y7v1/the_reaction_of_the_cat_on_the_optical_illusion/?ref=share&amp;ref_source=embed&amp;utm_content=title&amp;utm_medium=post_embed&amp;utm_name=85f1a01593f447e092c5b300e5561d6e&amp;utm_source=embedly&amp;utm_term=p9y7v1" TargetMode="External" /></Relationships>
</file>

<file path=ppt/slides/_rels/slide6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watch?v=NPK8eQ4o8Pk" TargetMode="External" /></Relationships>
</file>

<file path=ppt/slides/_rels/slide7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5.jpg" /></Relationships>
</file>

<file path=ppt/slides/_rels/slide7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6.jpg" /></Relationships>
</file>

<file path=ppt/slides/_rels/slide72.xml.rels><?xml version="1.0" encoding="UTF-8"?><Relationships xmlns="http://schemas.openxmlformats.org/package/2006/relationships"><Relationship Id="rId1" Type="http://schemas.openxmlformats.org/officeDocument/2006/relationships/slideLayout" Target="../slideLayouts/slideLayout4.xml" /><Relationship Id="rId2" Type="http://schemas.openxmlformats.org/officeDocument/2006/relationships/image" Target="../media/image37.jpg" /></Relationships>
</file>

<file path=ppt/slides/_rels/slide73.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8.jpg" /></Relationships>
</file>

<file path=ppt/slides/_rels/slide7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39.txt" /></Relationships>
</file>

<file path=ppt/slides/_rels/slide7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0.gif" /></Relationships>
</file>

<file path=ppt/slides/_rels/slide7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en.wikipedia.org/wiki/Ambient_optic_array" TargetMode="External" /><Relationship Id="rId3" Type="http://schemas.openxmlformats.org/officeDocument/2006/relationships/image" Target="../media/image41.jpg" /></Relationships>
</file>

<file path=ppt/slides/_rels/slide77.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2.jpg" /></Relationships>
</file>

<file path=ppt/slides/_rels/slide7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3.jpg" /></Relationships>
</file>

<file path=ppt/slides/_rels/slide7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4.jpg" /></Relationships>
</file>

<file path=ppt/slides/_rels/slide8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5.jpg" /></Relationships>
</file>

<file path=ppt/slides/_rels/slide8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www.youtube.com/embed/JGArTWOJtXs" TargetMode="External" /></Relationships>
</file>

<file path=ppt/slides/_rels/slide82.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8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46.jpg" /></Relationships>
</file>

<file path=ppt/slides/_rels/slide8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7.jpg" /></Relationships>
</file>

<file path=ppt/slides/_rels/slide8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8.jpg" /></Relationships>
</file>

<file path=ppt/slides/_rels/slide8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49.jpg" /></Relationships>
</file>

<file path=ppt/slides/_rels/slide8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0.jpg" /></Relationships>
</file>

<file path=ppt/slides/_rels/slide8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26.jpg" /></Relationships>
</file>

<file path=ppt/slides/_rels/slide8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1.jpg" /></Relationships>
</file>

<file path=ppt/slides/_rels/slide90.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2.shtml" /></Relationships>
</file>

<file path=ppt/slides/_rels/slide9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3.jpg" /></Relationships>
</file>

<file path=ppt/slides/_rels/slide9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5.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4.jpg" /></Relationships>
</file>

<file path=ppt/slides/_rels/slide96.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7.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5.jpg" /></Relationships>
</file>

<file path=ppt/slides/_rels/slide9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99.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hyperlink" Target="reddish-green.html" TargetMode="External" /><Relationship Id="rId2" Type="http://schemas.openxmlformats.org/officeDocument/2006/relationships/image" Target="../media/image56.gif" /></Relationships>
</file>

<file path=ppt/slides/_rels/slide10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7.jpg" /></Relationships>
</file>

<file path=ppt/slides/_rels/slide101.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58.jpg" /></Relationships>
</file>

<file path=ppt/slides/_rels/slide103.xml.rels><?xml version="1.0" encoding="UTF-8"?><Relationships xmlns="http://schemas.openxmlformats.org/package/2006/relationships"><Relationship Id="rId1" Type="http://schemas.openxmlformats.org/officeDocument/2006/relationships/slideLayout" Target="../slideLayouts/slideLayout8.xml" /><Relationship Id="rId2" Type="http://schemas.openxmlformats.org/officeDocument/2006/relationships/image" Target="../media/image57.jpg" /></Relationships>
</file>

<file path=ppt/slides/_rels/slide104.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www.scholarpedia.org/article/Area_V1" TargetMode="External" /></Relationships>
</file>

<file path=ppt/slides/_rels/slide105.xml.rels><?xml version="1.0" encoding="UTF-8"?><Relationships xmlns="http://schemas.openxmlformats.org/package/2006/relationships"><Relationship Id="rId1" Type="http://schemas.openxmlformats.org/officeDocument/2006/relationships/slideLayout" Target="../slideLayouts/slideLayout2.xml" /><Relationship Id="rId3" Type="http://schemas.openxmlformats.org/officeDocument/2006/relationships/image" Target="../media/image60.jpg" /><Relationship Id="rId2" Type="http://schemas.openxmlformats.org/officeDocument/2006/relationships/image" Target="../media/image59.png" /></Relationships>
</file>

<file path=ppt/slides/_rels/slide106.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1.jpg" /></Relationships>
</file>

<file path=ppt/slides/_rels/slide10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08.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2.png" /></Relationships>
</file>

<file path=ppt/slides/_rels/slide109.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3.png" /></Relationships>
</file>

<file path=ppt/slides/_rels/slide11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4.jpg" /></Relationships>
</file>

<file path=ppt/slides/_rels/slide11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1.jpg" /></Relationships>
</file>

<file path=ppt/slides/_rels/slide112.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image" Target="../media/image65.jpg" /></Relationships>
</file>

<file path=ppt/slides/_rels/slide113.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4.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5.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6.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17.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8.xml.rels><?xml version="1.0" encoding="UTF-8"?><Relationships xmlns="http://schemas.openxmlformats.org/package/2006/relationships"><Relationship Id="rId1" Type="http://schemas.openxmlformats.org/officeDocument/2006/relationships/slideLayout" Target="../slideLayouts/slideLayout2.xml" /></Relationships>
</file>

<file path=ppt/slides/_rels/slide119.xml.rels><?xml version="1.0" encoding="UTF-8"?><Relationships xmlns="http://schemas.openxmlformats.org/package/2006/relationships"><Relationship Id="rId1" Type="http://schemas.openxmlformats.org/officeDocument/2006/relationships/slideLayout" Target="../slideLayouts/slideLayout3.xml" /></Relationships>
</file>

<file path=ppt/slides/_rels/slide120.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quarto.org" TargetMode="External" /><Relationship Id="rId3" Type="http://schemas.openxmlformats.org/officeDocument/2006/relationships/hyperlink" Target="https://posit.co/products/open-source/rstudio/" TargetMode="External" /><Relationship Id="rId4" Type="http://schemas.openxmlformats.org/officeDocument/2006/relationships/hyperlink" Target="https://revealjs.com" TargetMode="External" /><Relationship Id="rId5" Type="http://schemas.openxmlformats.org/officeDocument/2006/relationships/hyperlink" Target="https://github.com/psu-psychology/psy-511-scan-fdns-2026-spring" TargetMode="External" /><Relationship Id="rId6" Type="http://schemas.openxmlformats.org/officeDocument/2006/relationships/hyperlink" Target="https://psu-psychology.github.io/psy-511-scan-fdns-2026-spring/" TargetMode="External" /></Relationships>
</file>

<file path=ppt/slides/_rels/slide121.xml.rels><?xml version="1.0" encoding="UTF-8"?><Relationships xmlns="http://schemas.openxmlformats.org/package/2006/relationships"><Relationship Id="rId1" Type="http://schemas.openxmlformats.org/officeDocument/2006/relationships/slideLayout" Target="../slideLayouts/slideLayout2.xml" /><Relationship Id="rId2" Type="http://schemas.openxmlformats.org/officeDocument/2006/relationships/hyperlink" Target="https://doi.org/10.4249/scholarpedia.5393" TargetMode="External" /><Relationship Id="rId3" Type="http://schemas.openxmlformats.org/officeDocument/2006/relationships/hyperlink" Target="https://doi.org/10.1038/nature05401" TargetMode="External" /><Relationship Id="rId4" Type="http://schemas.openxmlformats.org/officeDocument/2006/relationships/hyperlink" Target="https://doi.org/10.1167/3.10.1" TargetMode="External" /><Relationship Id="rId5" Type="http://schemas.openxmlformats.org/officeDocument/2006/relationships/hyperlink" Target="https://www.youtube.com/watch?v=NPK8eQ4o8Pk" TargetMode="External" /><Relationship Id="rId6" Type="http://schemas.openxmlformats.org/officeDocument/2006/relationships/hyperlink" Target="http://doi.apa.org/psycinfo/1966-35026-000" TargetMode="External" /><Relationship Id="rId7" Type="http://schemas.openxmlformats.org/officeDocument/2006/relationships/hyperlink" Target="https://doi.org/10.3389/fnbeh.2013.00061" TargetMode="External" /><Relationship Id="rId8" Type="http://schemas.openxmlformats.org/officeDocument/2006/relationships/hyperlink" Target="https://doi.org/10.1016/j.neuroimage.2010.01.046" TargetMode="External" /><Relationship Id="rId9" Type="http://schemas.openxmlformats.org/officeDocument/2006/relationships/hyperlink" Target="https://doi.org/10.1016/j.tins.2017.02.002" TargetMode="External" /><Relationship Id="rId10" Type="http://schemas.openxmlformats.org/officeDocument/2006/relationships/hyperlink" Target="https://doi.org/10.3389/fpsyg.2012.00620" TargetMode="External" /><Relationship Id="rId11" Type="http://schemas.openxmlformats.org/officeDocument/2006/relationships/hyperlink" Target="https://www.semanticscholar.org/paper/ec9450b79923e2e2152b54ab9241b60bc5374944" TargetMode="External" /><Relationship Id="rId12" Type="http://schemas.openxmlformats.org/officeDocument/2006/relationships/hyperlink" Target="https://doi.org/10.1002/mnfr.201801053" TargetMode="External" /><Relationship Id="rId13" Type="http://schemas.openxmlformats.org/officeDocument/2006/relationships/hyperlink" Target="https://doi.org/10.1016/j.applanim.2021.105338" TargetMode="External" /><Relationship Id="rId14" Type="http://schemas.openxmlformats.org/officeDocument/2006/relationships/hyperlink" Target="https://doi.org/10.1002/cne.20733" TargetMode="External" /></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597819"/>
            <a:ext cx="7772400" cy="1102519"/>
          </a:xfrm>
        </p:spPr>
        <p:txBody>
          <a:bodyPr/>
          <a:lstStyle/>
          <a:p>
            <a:pPr lvl="0" indent="0" marL="0">
              <a:buNone/>
            </a:pPr>
            <a:r>
              <a:rPr/>
              <a:t>Perception</a:t>
            </a:r>
          </a:p>
        </p:txBody>
      </p:sp>
      <p:sp>
        <p:nvSpPr>
          <p:cNvPr id="3" name="Subtitle 2"/>
          <p:cNvSpPr>
            <a:spLocks noGrp="1"/>
          </p:cNvSpPr>
          <p:nvPr>
            <p:ph idx="1" type="subTitle"/>
          </p:nvPr>
        </p:nvSpPr>
        <p:spPr>
          <a:xfrm>
            <a:off x="1371600" y="2914650"/>
            <a:ext cx="6400800" cy="1314450"/>
          </a:xfrm>
        </p:spPr>
        <p:txBody>
          <a:bodyPr/>
          <a:lstStyle/>
          <a:p>
            <a:pPr lvl="0" indent="0" marL="0">
              <a:buNone/>
            </a:pPr>
            <a:r>
              <a:rPr/>
              <a:t>PSY 511.001 Spr 2026</a:t>
            </a:r>
            <a:br/>
            <a:br/>
          </a:p>
        </p:txBody>
      </p:sp>
    </p:spTree>
  </p:cSl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Overview</a:t>
            </a:r>
          </a:p>
        </p:txBody>
      </p:sp>
    </p:spTree>
  </p:cSl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Prelude</a:t>
            </a:r>
          </a:p>
        </p:txBody>
      </p:sp>
    </p:spTree>
  </p:cSl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Announcements</a:t>
            </a:r>
          </a:p>
        </p:txBody>
      </p:sp>
    </p:spTree>
  </p:cSl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Today’s topics</a:t>
            </a:r>
          </a:p>
        </p:txBody>
      </p:sp>
      <p:sp>
        <p:nvSpPr>
          <p:cNvPr id="3" name="Content Placeholder 2"/>
          <p:cNvSpPr>
            <a:spLocks noGrp="1"/>
          </p:cNvSpPr>
          <p:nvPr>
            <p:ph idx="1"/>
          </p:nvPr>
        </p:nvSpPr>
        <p:spPr/>
        <p:txBody>
          <a:bodyPr/>
          <a:lstStyle/>
          <a:p>
            <a:pPr lvl="0"/>
            <a:r>
              <a:rPr/>
              <a:t>The big picture</a:t>
            </a:r>
          </a:p>
          <a:p>
            <a:pPr lvl="0"/>
            <a:r>
              <a:rPr/>
              <a:t>Sensory processing</a:t>
            </a:r>
          </a:p>
          <a:p>
            <a:pPr lvl="0"/>
            <a:r>
              <a:rPr/>
              <a:t>Vision</a:t>
            </a:r>
          </a:p>
          <a:p>
            <a:pPr lvl="0"/>
            <a:r>
              <a:rPr/>
              <a:t>Somatosensation</a:t>
            </a:r>
          </a:p>
        </p:txBody>
      </p:sp>
    </p:spTree>
  </p:cSl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Warm-up</a:t>
            </a:r>
          </a:p>
        </p:txBody>
      </p:sp>
    </p:spTree>
  </p:cSl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The big picture</a:t>
            </a:r>
          </a:p>
        </p:txBody>
      </p:sp>
    </p:spTree>
  </p:cSl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Perception/action systems</a:t>
            </a:r>
          </a:p>
        </p:txBody>
      </p:sp>
      <p:pic>
        <p:nvPicPr>
          <p:cNvPr descr="../include/fig/unnamed-chunk-1-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ages-na.ssl-images-amazon.com/images/I/31fzXc46omL._SX312_BO1,204,203,200_.jpg" id="0" name="Picture 1"/>
          <p:cNvPicPr>
            <a:picLocks noGrp="1" noChangeAspect="1"/>
          </p:cNvPicPr>
          <p:nvPr/>
        </p:nvPicPr>
        <p:blipFill>
          <a:blip r:embed="rId2"/>
          <a:stretch>
            <a:fillRect/>
          </a:stretch>
        </p:blipFill>
        <p:spPr bwMode="auto">
          <a:xfrm>
            <a:off x="3670300" y="1193800"/>
            <a:ext cx="1816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Gibson (1966)</a:t>
            </a:r>
          </a:p>
        </p:txBody>
      </p:sp>
    </p:spTree>
  </p:cSl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perception-action-cycle.jpg" id="0" name="Picture 1"/>
          <p:cNvPicPr>
            <a:picLocks noGrp="1" noChangeAspect="1"/>
          </p:cNvPicPr>
          <p:nvPr/>
        </p:nvPicPr>
        <p:blipFill>
          <a:blip r:embed="rId2"/>
          <a:stretch>
            <a:fillRect/>
          </a:stretch>
        </p:blipFill>
        <p:spPr bwMode="auto">
          <a:xfrm>
            <a:off x="2794000" y="1193800"/>
            <a:ext cx="3556000" cy="3390900"/>
          </a:xfrm>
          <a:prstGeom prst="rect">
            <a:avLst/>
          </a:prstGeom>
          <a:noFill/>
          <a:ln w="9525">
            <a:noFill/>
            <a:headEnd/>
            <a:tailEnd/>
          </a:ln>
        </p:spPr>
      </p:pic>
    </p:spTree>
  </p:cSl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swanson-book-fig-10.12.jpg" id="0" name="Picture 1"/>
          <p:cNvPicPr>
            <a:picLocks noGrp="1" noChangeAspect="1"/>
          </p:cNvPicPr>
          <p:nvPr/>
        </p:nvPicPr>
        <p:blipFill>
          <a:blip r:embed="rId2"/>
          <a:stretch>
            <a:fillRect/>
          </a:stretch>
        </p:blipFill>
        <p:spPr bwMode="auto">
          <a:xfrm>
            <a:off x="3213100" y="1193800"/>
            <a:ext cx="27305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Swanson (2012) Figure 10.2</a:t>
            </a:r>
          </a:p>
        </p:txBody>
      </p:sp>
    </p:spTree>
  </p:cSl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swanson-2005-fig-1.jpg" id="0" name="Picture 1"/>
          <p:cNvPicPr>
            <a:picLocks noGrp="1" noChangeAspect="1"/>
          </p:cNvPicPr>
          <p:nvPr/>
        </p:nvPicPr>
        <p:blipFill>
          <a:blip r:embed="rId2"/>
          <a:stretch>
            <a:fillRect/>
          </a:stretch>
        </p:blipFill>
        <p:spPr bwMode="auto">
          <a:xfrm>
            <a:off x="1955800" y="1193800"/>
            <a:ext cx="5219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Swanson (2005) Figure 1</a:t>
            </a:r>
          </a:p>
        </p:txBody>
      </p:sp>
    </p:spTree>
  </p:cSl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Multisensory smartphones</a:t>
            </a:r>
          </a:p>
        </p:txBody>
      </p:sp>
      <p:sp>
        <p:nvSpPr>
          <p:cNvPr id="3" name="Content Placeholder 2"/>
          <p:cNvSpPr>
            <a:spLocks noGrp="1"/>
          </p:cNvSpPr>
          <p:nvPr>
            <p:ph idx="1" sz="half"/>
          </p:nvPr>
        </p:nvSpPr>
        <p:spPr/>
        <p:txBody>
          <a:bodyPr/>
          <a:lstStyle/>
          <a:p>
            <a:pPr lvl="0"/>
            <a:r>
              <a:rPr/>
              <a:t>Accelerometer</a:t>
            </a:r>
          </a:p>
          <a:p>
            <a:pPr lvl="0"/>
            <a:r>
              <a:rPr/>
              <a:t>Gyroscope</a:t>
            </a:r>
          </a:p>
          <a:p>
            <a:pPr lvl="0"/>
            <a:r>
              <a:rPr/>
              <a:t>Magnetometer</a:t>
            </a:r>
          </a:p>
          <a:p>
            <a:pPr lvl="0"/>
            <a:r>
              <a:rPr/>
              <a:t>Proximity sensor</a:t>
            </a:r>
          </a:p>
          <a:p>
            <a:pPr lvl="0"/>
            <a:r>
              <a:rPr/>
              <a:t>Ambient light sensor</a:t>
            </a:r>
          </a:p>
        </p:txBody>
      </p:sp>
      <p:pic>
        <p:nvPicPr>
          <p:cNvPr descr="https://www.mintmobile.com/wp-content/uploads/2025/08/CR17290_Mint-Google-Pixel-10-Image-Optimization_Pixel-10-INDIGO.png" id="0" name="Picture 1"/>
          <p:cNvPicPr>
            <a:picLocks noGrp="1" noChangeAspect="1"/>
          </p:cNvPicPr>
          <p:nvPr/>
        </p:nvPicPr>
        <p:blipFill>
          <a:blip r:embed="rId2"/>
          <a:stretch>
            <a:fillRect/>
          </a:stretch>
        </p:blipFill>
        <p:spPr bwMode="auto">
          <a:xfrm>
            <a:off x="4648200" y="1397000"/>
            <a:ext cx="4038600" cy="2984500"/>
          </a:xfrm>
          <a:prstGeom prst="rect">
            <a:avLst/>
          </a:prstGeom>
          <a:noFill/>
          <a:ln w="9525">
            <a:noFill/>
            <a:headEnd/>
            <a:tailEnd/>
          </a:ln>
        </p:spPr>
      </p:pic>
    </p:spTree>
  </p:cSld>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Dimensions</a:t>
            </a:r>
          </a:p>
        </p:txBody>
      </p:sp>
      <p:sp>
        <p:nvSpPr>
          <p:cNvPr id="3" name="Content Placeholder 2"/>
          <p:cNvSpPr>
            <a:spLocks noGrp="1"/>
          </p:cNvSpPr>
          <p:nvPr>
            <p:ph idx="1" sz="half"/>
          </p:nvPr>
        </p:nvSpPr>
        <p:spPr/>
        <p:txBody>
          <a:bodyPr/>
          <a:lstStyle/>
          <a:p>
            <a:pPr lvl="0"/>
            <a:r>
              <a:rPr/>
              <a:t>Interoceptive</a:t>
            </a:r>
          </a:p>
          <a:p>
            <a:pPr lvl="1"/>
            <a:r>
              <a:rPr/>
              <a:t>Body position, movement, posture</a:t>
            </a:r>
          </a:p>
          <a:p>
            <a:pPr lvl="1"/>
            <a:r>
              <a:rPr/>
              <a:t>Internal status</a:t>
            </a:r>
          </a:p>
          <a:p>
            <a:pPr lvl="0"/>
            <a:r>
              <a:rPr/>
              <a:t>Exteroceptive</a:t>
            </a:r>
          </a:p>
          <a:p>
            <a:pPr lvl="1"/>
            <a:r>
              <a:rPr/>
              <a:t>Layout of environment, contents</a:t>
            </a:r>
          </a:p>
        </p:txBody>
      </p:sp>
      <p:pic>
        <p:nvPicPr>
          <p:cNvPr descr="wk-04-2026-02-06-perception_files/figure-pptx/mermaid-figure-1.png" id="0" name="Picture 1"/>
          <p:cNvPicPr>
            <a:picLocks noGrp="1" noChangeAspect="1"/>
          </p:cNvPicPr>
          <p:nvPr/>
        </p:nvPicPr>
        <p:blipFill>
          <a:blip r:embed="rId2"/>
          <a:stretch>
            <a:fillRect/>
          </a:stretch>
        </p:blipFill>
        <p:spPr bwMode="auto">
          <a:xfrm>
            <a:off x="4699000" y="1193800"/>
            <a:ext cx="3937000" cy="3390900"/>
          </a:xfrm>
          <a:prstGeom prst="rect">
            <a:avLst/>
          </a:prstGeom>
          <a:noFill/>
          <a:ln w="9525">
            <a:noFill/>
            <a:headEnd/>
            <a:tailEnd/>
          </a:ln>
        </p:spPr>
      </p:pic>
    </p:spTree>
  </p:cSl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for interoception</a:t>
            </a:r>
          </a:p>
        </p:txBody>
      </p:sp>
      <p:sp>
        <p:nvSpPr>
          <p:cNvPr id="3" name="Content Placeholder 2"/>
          <p:cNvSpPr>
            <a:spLocks noGrp="1"/>
          </p:cNvSpPr>
          <p:nvPr>
            <p:ph idx="1"/>
          </p:nvPr>
        </p:nvSpPr>
        <p:spPr/>
        <p:txBody>
          <a:bodyPr/>
          <a:lstStyle/>
          <a:p>
            <a:pPr lvl="0"/>
            <a:r>
              <a:rPr/>
              <a:t>Tired or rested?</a:t>
            </a:r>
          </a:p>
          <a:p>
            <a:pPr lvl="0"/>
            <a:r>
              <a:rPr/>
              <a:t>Well or ill?</a:t>
            </a:r>
          </a:p>
          <a:p>
            <a:pPr lvl="0"/>
            <a:r>
              <a:rPr/>
              <a:t>Hungry or thirsty or sated?</a:t>
            </a:r>
          </a:p>
          <a:p>
            <a:pPr lvl="0"/>
            <a:r>
              <a:rPr/>
              <a:t>Stressed vs. coping?</a:t>
            </a:r>
          </a:p>
          <a:p>
            <a:pPr lvl="0"/>
            <a:r>
              <a:rPr/>
              <a:t>Emotional state?</a:t>
            </a:r>
          </a:p>
        </p:txBody>
      </p:sp>
    </p:spTree>
  </p:cSl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for exteroception</a:t>
            </a:r>
          </a:p>
        </p:txBody>
      </p:sp>
      <p:sp>
        <p:nvSpPr>
          <p:cNvPr id="3" name="Content Placeholder 2"/>
          <p:cNvSpPr>
            <a:spLocks noGrp="1"/>
          </p:cNvSpPr>
          <p:nvPr>
            <p:ph idx="1"/>
          </p:nvPr>
        </p:nvSpPr>
        <p:spPr/>
        <p:txBody>
          <a:bodyPr/>
          <a:lstStyle/>
          <a:p>
            <a:pPr lvl="0"/>
            <a:r>
              <a:rPr/>
              <a:t>Who/What is out there?</a:t>
            </a:r>
          </a:p>
          <a:p>
            <a:pPr lvl="0"/>
            <a:r>
              <a:rPr/>
              <a:t>Animate/inanimate?</a:t>
            </a:r>
          </a:p>
          <a:p>
            <a:pPr lvl="1"/>
            <a:r>
              <a:rPr/>
              <a:t>Conspecific (same species)/non?</a:t>
            </a:r>
          </a:p>
          <a:p>
            <a:pPr lvl="1"/>
            <a:r>
              <a:rPr/>
              <a:t>Threat/non?</a:t>
            </a:r>
          </a:p>
          <a:p>
            <a:pPr lvl="1"/>
            <a:r>
              <a:rPr/>
              <a:t>Familiar/un?</a:t>
            </a:r>
          </a:p>
          <a:p>
            <a:pPr lvl="1"/>
            <a:r>
              <a:rPr/>
              <a:t>Mate/non? or Friend/not?</a:t>
            </a:r>
          </a:p>
          <a:p>
            <a:pPr lvl="1"/>
            <a:r>
              <a:rPr/>
              <a:t>Food source/non</a:t>
            </a:r>
          </a:p>
        </p:txBody>
      </p:sp>
    </p:spTree>
  </p:cSl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Questions for exteroception</a:t>
            </a:r>
          </a:p>
        </p:txBody>
      </p:sp>
      <p:sp>
        <p:nvSpPr>
          <p:cNvPr id="3" name="Content Placeholder 2"/>
          <p:cNvSpPr>
            <a:spLocks noGrp="1"/>
          </p:cNvSpPr>
          <p:nvPr>
            <p:ph idx="1" sz="half"/>
          </p:nvPr>
        </p:nvSpPr>
        <p:spPr/>
        <p:txBody>
          <a:bodyPr/>
          <a:lstStyle/>
          <a:p>
            <a:pPr lvl="0"/>
            <a:r>
              <a:rPr/>
              <a:t>Where is it?</a:t>
            </a:r>
          </a:p>
          <a:p>
            <a:pPr lvl="1"/>
            <a:r>
              <a:rPr/>
              <a:t>Distance</a:t>
            </a:r>
          </a:p>
          <a:p>
            <a:pPr lvl="2"/>
            <a:r>
              <a:rPr/>
              <a:t>Proximal</a:t>
            </a:r>
          </a:p>
          <a:p>
            <a:pPr lvl="2"/>
            <a:r>
              <a:rPr/>
              <a:t>Distal</a:t>
            </a:r>
          </a:p>
          <a:p>
            <a:pPr lvl="1"/>
            <a:r>
              <a:rPr/>
              <a:t>Elevation, azimuth</a:t>
            </a:r>
          </a:p>
        </p:txBody>
      </p:sp>
      <p:sp>
        <p:nvSpPr>
          <p:cNvPr id="4" name="Content Placeholder 3"/>
          <p:cNvSpPr>
            <a:spLocks noGrp="1"/>
          </p:cNvSpPr>
          <p:nvPr>
            <p:ph idx="2" sz="half"/>
          </p:nvPr>
        </p:nvSpPr>
        <p:spPr/>
        <p:txBody>
          <a:bodyPr/>
          <a:lstStyle/>
          <a:p>
            <a:pPr lvl="0"/>
            <a:r>
              <a:rPr/>
              <a:t>Coordinate frames</a:t>
            </a:r>
          </a:p>
          <a:p>
            <a:pPr lvl="1"/>
            <a:r>
              <a:rPr/>
              <a:t>Self/ego (left of me)</a:t>
            </a:r>
          </a:p>
          <a:p>
            <a:pPr lvl="1"/>
            <a:r>
              <a:rPr/>
              <a:t>Object (top of object)</a:t>
            </a:r>
          </a:p>
          <a:p>
            <a:pPr lvl="1"/>
            <a:r>
              <a:rPr/>
              <a:t>Allo/world (North of College)</a:t>
            </a:r>
          </a:p>
          <a:p>
            <a:pPr lvl="0"/>
            <a:r>
              <a:rPr/>
              <a:t>Where moving?</a:t>
            </a:r>
          </a:p>
        </p:txBody>
      </p:sp>
    </p:spTree>
  </p:cSl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Causal chains</a:t>
            </a:r>
          </a:p>
        </p:txBody>
      </p:sp>
      <p:sp>
        <p:nvSpPr>
          <p:cNvPr id="3" name="Content Placeholder 2"/>
          <p:cNvSpPr>
            <a:spLocks noGrp="1"/>
          </p:cNvSpPr>
          <p:nvPr>
            <p:ph idx="1"/>
          </p:nvPr>
        </p:nvSpPr>
        <p:spPr/>
        <p:txBody>
          <a:bodyPr/>
          <a:lstStyle/>
          <a:p>
            <a:pPr lvl="0"/>
            <a:r>
              <a:rPr/>
              <a:t>Behaviorally relevant conditions, events, and entities…</a:t>
            </a:r>
          </a:p>
          <a:p>
            <a:pPr lvl="0"/>
            <a:r>
              <a:rPr/>
              <a:t>Generate patterns…</a:t>
            </a:r>
          </a:p>
          <a:p>
            <a:pPr lvl="1"/>
            <a:r>
              <a:rPr/>
              <a:t>Chemical</a:t>
            </a:r>
          </a:p>
          <a:p>
            <a:pPr lvl="1"/>
            <a:r>
              <a:rPr/>
              <a:t>Photic/electromagnetic</a:t>
            </a:r>
          </a:p>
          <a:p>
            <a:pPr lvl="1"/>
            <a:r>
              <a:rPr/>
              <a:t>Mechanical/acoustic</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That specialized sensors detect, and</a:t>
            </a:r>
          </a:p>
          <a:p>
            <a:pPr lvl="0"/>
            <a:r>
              <a:rPr/>
              <a:t>Neural circuitry responds to</a:t>
            </a:r>
          </a:p>
          <a:p>
            <a:pPr lvl="0"/>
            <a:r>
              <a:rPr/>
              <a:t>That yield internal states (short- and long-term)</a:t>
            </a:r>
          </a:p>
          <a:p>
            <a:pPr lvl="0"/>
            <a:r>
              <a:rPr/>
              <a:t>That cause actions</a:t>
            </a:r>
          </a:p>
          <a:p>
            <a:pPr lvl="0"/>
            <a:r>
              <a:rPr/>
              <a:t>That cause perceptions…</a:t>
            </a:r>
          </a:p>
        </p:txBody>
      </p:sp>
    </p:spTree>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Sensory Processing</a:t>
            </a:r>
          </a:p>
        </p:txBody>
      </p:sp>
    </p:spTree>
  </p:cSl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Physics of sensation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Informal name</a:t>
                      </a:r>
                    </a:p>
                  </a:txBody>
                  <a:tcPr/>
                </a:tc>
                <a:tc>
                  <a:txBody>
                    <a:bodyPr/>
                    <a:lstStyle/>
                    <a:p>
                      <a:pPr lvl="0" indent="0" marL="0">
                        <a:buNone/>
                      </a:pPr>
                      <a:r>
                        <a:rPr/>
                        <a:t>Source</a:t>
                      </a:r>
                    </a:p>
                  </a:txBody>
                  <a:tcPr/>
                </a:tc>
              </a:tr>
              <a:tr h="0">
                <a:tc>
                  <a:txBody>
                    <a:bodyPr/>
                    <a:lstStyle/>
                    <a:p>
                      <a:pPr lvl="0" indent="0" marL="0">
                        <a:buNone/>
                      </a:pPr>
                      <a:r>
                        <a:rPr/>
                        <a:t>Vision</a:t>
                      </a:r>
                    </a:p>
                  </a:txBody>
                </a:tc>
                <a:tc>
                  <a:txBody>
                    <a:bodyPr/>
                    <a:lstStyle/>
                    <a:p>
                      <a:pPr lvl="0" indent="0" marL="0">
                        <a:buNone/>
                      </a:pPr>
                      <a:r>
                        <a:rPr/>
                        <a:t>Electromagnetic radiation</a:t>
                      </a:r>
                    </a:p>
                  </a:txBody>
                </a:tc>
              </a:tr>
              <a:tr h="0">
                <a:tc>
                  <a:txBody>
                    <a:bodyPr/>
                    <a:lstStyle/>
                    <a:p>
                      <a:pPr lvl="0" indent="0" marL="0">
                        <a:buNone/>
                      </a:pPr>
                      <a:r>
                        <a:rPr/>
                        <a:t>Audition</a:t>
                      </a:r>
                    </a:p>
                  </a:txBody>
                </a:tc>
                <a:tc>
                  <a:txBody>
                    <a:bodyPr/>
                    <a:lstStyle/>
                    <a:p>
                      <a:pPr lvl="0" indent="0" marL="0">
                        <a:buNone/>
                      </a:pPr>
                      <a:r>
                        <a:rPr/>
                        <a:t>Mechanical vibration in air/water</a:t>
                      </a:r>
                    </a:p>
                  </a:txBody>
                </a:tc>
              </a:tr>
              <a:tr h="0">
                <a:tc>
                  <a:txBody>
                    <a:bodyPr/>
                    <a:lstStyle/>
                    <a:p>
                      <a:pPr lvl="0" indent="0" marL="0">
                        <a:buNone/>
                      </a:pPr>
                      <a:r>
                        <a:rPr/>
                        <a:t>Touch</a:t>
                      </a:r>
                    </a:p>
                  </a:txBody>
                </a:tc>
                <a:tc>
                  <a:txBody>
                    <a:bodyPr/>
                    <a:lstStyle/>
                    <a:p>
                      <a:pPr lvl="0" indent="0" marL="0">
                        <a:buNone/>
                      </a:pPr>
                      <a:r>
                        <a:rPr/>
                        <a:t>Mechanical vibration of skin on surface</a:t>
                      </a:r>
                    </a:p>
                  </a:txBody>
                </a:tc>
              </a:tr>
              <a:tr h="0">
                <a:tc>
                  <a:txBody>
                    <a:bodyPr/>
                    <a:lstStyle/>
                    <a:p>
                      <a:pPr lvl="0" indent="0" marL="0">
                        <a:buNone/>
                      </a:pPr>
                      <a:r>
                        <a:rPr/>
                        <a:t>Vestibular</a:t>
                      </a:r>
                    </a:p>
                  </a:txBody>
                </a:tc>
                <a:tc>
                  <a:txBody>
                    <a:bodyPr/>
                    <a:lstStyle/>
                    <a:p>
                      <a:pPr lvl="0" indent="0" marL="0">
                        <a:buNone/>
                      </a:pPr>
                      <a:r>
                        <a:rPr/>
                        <a:t>Rotation &amp; linear acceleration of head</a:t>
                      </a:r>
                    </a:p>
                  </a:txBody>
                </a:tc>
              </a:tr>
              <a:tr h="0">
                <a:tc>
                  <a:txBody>
                    <a:bodyPr/>
                    <a:lstStyle/>
                    <a:p>
                      <a:pPr lvl="0" indent="0" marL="0">
                        <a:buNone/>
                      </a:pPr>
                      <a:r>
                        <a:rPr/>
                        <a:t>Olfaction</a:t>
                      </a:r>
                    </a:p>
                  </a:txBody>
                </a:tc>
                <a:tc>
                  <a:txBody>
                    <a:bodyPr/>
                    <a:lstStyle/>
                    <a:p>
                      <a:pPr lvl="0" indent="0" marL="0">
                        <a:buNone/>
                      </a:pPr>
                      <a:r>
                        <a:rPr/>
                        <a:t>Chemical patterns in air/water</a:t>
                      </a:r>
                    </a:p>
                  </a:txBody>
                </a:tc>
              </a:tr>
            </a:tbl>
          </a:graphicData>
        </a:graphic>
      </p:graphicFrame>
    </p:spTree>
  </p:cSl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Physics of sensation</a:t>
            </a:r>
          </a:p>
        </p:txBody>
      </p:sp>
      <p:graphicFrame>
        <p:nvGraphicFramePr>
          <p:cNvPr id="6" name="Content Placeholder 5"/>
          <p:cNvGraphicFramePr>
            <a:graphicFrameLocks noGrp="1"/>
          </p:cNvGraphicFramePr>
          <p:nvPr>
            <p:ph idx="1"/>
          </p:nvPr>
        </p:nvGraphicFramePr>
        <p:xfrm>
          <a:off x="457200" y="1193800"/>
          <a:ext cx="8229600" cy="3390900"/>
        </p:xfrm>
        <a:graphic>
          <a:graphicData uri="http://schemas.openxmlformats.org/drawingml/2006/table">
            <a:tbl>
              <a:tblPr firstRow="1" bandRow="1">
                <a:tableStyleId>{5C22544A-7EE6-4342-B048-85BDC9FD1C3A}</a:tableStyleId>
              </a:tblPr>
              <a:tblGrid>
                <a:gridCol w="4114800"/>
                <a:gridCol w="4114800"/>
              </a:tblGrid>
              <a:tr h="0">
                <a:tc>
                  <a:txBody>
                    <a:bodyPr/>
                    <a:lstStyle/>
                    <a:p>
                      <a:pPr lvl="0" indent="0" marL="0">
                        <a:buNone/>
                      </a:pPr>
                      <a:r>
                        <a:rPr/>
                        <a:t>Informal name</a:t>
                      </a:r>
                    </a:p>
                  </a:txBody>
                  <a:tcPr/>
                </a:tc>
                <a:tc>
                  <a:txBody>
                    <a:bodyPr/>
                    <a:lstStyle/>
                    <a:p>
                      <a:pPr lvl="0" indent="0" marL="0">
                        <a:buNone/>
                      </a:pPr>
                      <a:r>
                        <a:rPr/>
                        <a:t>Source</a:t>
                      </a:r>
                    </a:p>
                  </a:txBody>
                  <a:tcPr/>
                </a:tc>
              </a:tr>
              <a:tr h="0">
                <a:tc>
                  <a:txBody>
                    <a:bodyPr/>
                    <a:lstStyle/>
                    <a:p>
                      <a:pPr lvl="0" indent="0" marL="0">
                        <a:buNone/>
                      </a:pPr>
                      <a:r>
                        <a:rPr/>
                        <a:t>Gustation</a:t>
                      </a:r>
                    </a:p>
                  </a:txBody>
                </a:tc>
                <a:tc>
                  <a:txBody>
                    <a:bodyPr/>
                    <a:lstStyle/>
                    <a:p>
                      <a:pPr lvl="0" indent="0" marL="0">
                        <a:buNone/>
                      </a:pPr>
                      <a:r>
                        <a:rPr/>
                        <a:t>Chemical patterns in mouth</a:t>
                      </a:r>
                    </a:p>
                  </a:txBody>
                </a:tc>
              </a:tr>
              <a:tr h="0">
                <a:tc>
                  <a:txBody>
                    <a:bodyPr/>
                    <a:lstStyle/>
                    <a:p>
                      <a:pPr lvl="0" indent="0" marL="0">
                        <a:buNone/>
                      </a:pPr>
                      <a:r>
                        <a:rPr/>
                        <a:t>Electroception</a:t>
                      </a:r>
                    </a:p>
                  </a:txBody>
                </a:tc>
                <a:tc>
                  <a:txBody>
                    <a:bodyPr/>
                    <a:lstStyle/>
                    <a:p>
                      <a:pPr lvl="0" indent="0" marL="0">
                        <a:buNone/>
                      </a:pPr>
                      <a:r>
                        <a:rPr/>
                        <a:t>Electromagnetic radiation</a:t>
                      </a:r>
                    </a:p>
                  </a:txBody>
                </a:tc>
              </a:tr>
              <a:tr h="0">
                <a:tc>
                  <a:txBody>
                    <a:bodyPr/>
                    <a:lstStyle/>
                    <a:p>
                      <a:pPr lvl="0" indent="0" marL="0">
                        <a:buNone/>
                      </a:pPr>
                      <a:r>
                        <a:rPr/>
                        <a:t>Magnetoreception</a:t>
                      </a:r>
                    </a:p>
                  </a:txBody>
                </a:tc>
                <a:tc>
                  <a:txBody>
                    <a:bodyPr/>
                    <a:lstStyle/>
                    <a:p>
                      <a:pPr lvl="0" indent="0" marL="0">
                        <a:buNone/>
                      </a:pPr>
                      <a:r>
                        <a:rPr/>
                        <a:t>Electromagnetic radiation patterns</a:t>
                      </a:r>
                    </a:p>
                  </a:txBody>
                </a:tc>
              </a:tr>
              <a:tr h="0">
                <a:tc>
                  <a:txBody>
                    <a:bodyPr/>
                    <a:lstStyle/>
                    <a:p>
                      <a:pPr lvl="0" indent="0" marL="0">
                        <a:buNone/>
                      </a:pPr>
                      <a:r>
                        <a:rPr/>
                        <a:t>Kinesthesia</a:t>
                      </a:r>
                    </a:p>
                  </a:txBody>
                </a:tc>
                <a:tc>
                  <a:txBody>
                    <a:bodyPr/>
                    <a:lstStyle/>
                    <a:p>
                      <a:pPr lvl="0" indent="0" marL="0">
                        <a:buNone/>
                      </a:pPr>
                      <a:r>
                        <a:rPr/>
                        <a:t>Position, velocity, acceleration of limbs, body</a:t>
                      </a:r>
                    </a:p>
                  </a:txBody>
                </a:tc>
              </a:tr>
            </a:tbl>
          </a:graphicData>
        </a:graphic>
      </p:graphicFrame>
    </p:spTree>
  </p:cSl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p:cNvSpPr>
                <a:spLocks noGrp="1"/>
              </p:cNvSpPr>
              <p:nvPr>
                <p:ph type="title"/>
              </p:nvPr>
            </p:nvSpPr>
            <p:spPr/>
            <p:txBody>
              <a:bodyPr/>
              <a:lstStyle/>
              <a:p>
                <a:pPr lvl="0" indent="0" marL="0">
                  <a:buNone/>
                </a:pPr>
                <a:r>
                  <a:rPr/>
                  <a:t>From </a:t>
                </a:r>
                <a14:m>
                  <m:oMath xmlns:m="http://schemas.openxmlformats.org/officeDocument/2006/math">
                    <m:r>
                      <m:t>Φ</m:t>
                    </m:r>
                  </m:oMath>
                </a14:m>
                <a:r>
                  <a:rPr/>
                  <a:t> to </a:t>
                </a:r>
                <a14:m>
                  <m:oMath xmlns:m="http://schemas.openxmlformats.org/officeDocument/2006/math">
                    <m:r>
                      <m:t>Ψ</m:t>
                    </m:r>
                  </m:oMath>
                </a14:m>
              </a:p>
            </p:txBody>
          </p:sp>
        </mc:Choice>
      </mc:AlternateContent>
      <p:sp>
        <p:nvSpPr>
          <p:cNvPr id="3" name="Content Placeholder 2"/>
          <p:cNvSpPr>
            <a:spLocks noGrp="1"/>
          </p:cNvSpPr>
          <p:nvPr>
            <p:ph idx="1"/>
          </p:nvPr>
        </p:nvSpPr>
        <p:spPr/>
        <p:txBody>
          <a:bodyPr/>
          <a:lstStyle/>
          <a:p>
            <a:pPr lvl="0"/>
            <a:r>
              <a:rPr/>
              <a:t>What is the energy/chemical channel?</a:t>
            </a:r>
          </a:p>
          <a:p>
            <a:pPr lvl="0"/>
            <a:r>
              <a:rPr/>
              <a:t>Channels carry different types of information about</a:t>
            </a:r>
          </a:p>
          <a:p>
            <a:pPr lvl="1"/>
            <a:r>
              <a:rPr i="1"/>
              <a:t>What</a:t>
            </a:r>
            <a:r>
              <a:rPr/>
              <a:t> is out there?</a:t>
            </a:r>
          </a:p>
          <a:p>
            <a:pPr lvl="1"/>
            <a:r>
              <a:rPr i="1"/>
              <a:t>Where</a:t>
            </a:r>
            <a:r>
              <a:rPr/>
              <a:t> is it located or moving?</a:t>
            </a:r>
          </a:p>
          <a:p>
            <a:pPr lvl="0"/>
            <a:r>
              <a:rPr/>
              <a:t>Convey information at different rates, with varied precision</a:t>
            </a:r>
          </a:p>
          <a:p>
            <a:pPr lvl="0"/>
            <a:r>
              <a:rPr/>
              <a:t>Information often signaled by multiple sources</a:t>
            </a:r>
          </a:p>
        </p:txBody>
      </p:sp>
    </p:spTree>
  </p:cSl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Vision</a:t>
            </a:r>
          </a:p>
        </p:txBody>
      </p:sp>
      <p:sp>
        <p:nvSpPr>
          <p:cNvPr id="3" name="Content Placeholder 2"/>
          <p:cNvSpPr>
            <a:spLocks noGrp="1"/>
          </p:cNvSpPr>
          <p:nvPr>
            <p:ph idx="1"/>
          </p:nvPr>
        </p:nvSpPr>
        <p:spPr/>
        <p:txBody>
          <a:bodyPr/>
          <a:lstStyle/>
          <a:p>
            <a:pPr lvl="0"/>
            <a:r>
              <a:rPr/>
              <a:t>Source: Electromagnetic radiation</a:t>
            </a:r>
          </a:p>
          <a:p>
            <a:pPr lvl="1"/>
            <a:r>
              <a:rPr/>
              <a:t>Reflected from surfaces</a:t>
            </a:r>
          </a:p>
          <a:p>
            <a:pPr lvl="0"/>
            <a:r>
              <a:rPr/>
              <a:t>What is it?</a:t>
            </a:r>
          </a:p>
          <a:p>
            <a:pPr lvl="1"/>
            <a:r>
              <a:rPr/>
              <a:t>Shape, size, surface properties (color, texture, reflectance, etc.)</a:t>
            </a:r>
          </a:p>
          <a:p>
            <a:pPr lvl="1"/>
            <a:r>
              <a:rPr/>
              <a:t>Wavelength/frequency, intensity</a:t>
            </a:r>
          </a:p>
        </p:txBody>
      </p:sp>
    </p:spTree>
  </p:cSl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Vision</a:t>
            </a:r>
          </a:p>
        </p:txBody>
      </p:sp>
      <p:sp>
        <p:nvSpPr>
          <p:cNvPr id="3" name="Content Placeholder 2"/>
          <p:cNvSpPr>
            <a:spLocks noGrp="1"/>
          </p:cNvSpPr>
          <p:nvPr>
            <p:ph idx="1"/>
          </p:nvPr>
        </p:nvSpPr>
        <p:spPr/>
        <p:txBody>
          <a:bodyPr/>
          <a:lstStyle/>
          <a:p>
            <a:pPr lvl="0"/>
            <a:r>
              <a:rPr/>
              <a:t>Where is it?</a:t>
            </a:r>
          </a:p>
          <a:p>
            <a:pPr lvl="1"/>
            <a:r>
              <a:rPr/>
              <a:t>Position: Left/right; up/down on retina</a:t>
            </a:r>
          </a:p>
          <a:p>
            <a:pPr lvl="1"/>
            <a:r>
              <a:rPr/>
              <a:t>Near/far: retinal disparity, interposition, height above horizon…</a:t>
            </a:r>
          </a:p>
          <a:p>
            <a:pPr lvl="1"/>
            <a:r>
              <a:rPr/>
              <a:t>Orientation, motion</a:t>
            </a:r>
          </a:p>
        </p:txBody>
      </p:sp>
    </p:spTree>
  </p:cSl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Audition</a:t>
            </a:r>
          </a:p>
        </p:txBody>
      </p:sp>
      <p:sp>
        <p:nvSpPr>
          <p:cNvPr id="3" name="Content Placeholder 2"/>
          <p:cNvSpPr>
            <a:spLocks noGrp="1"/>
          </p:cNvSpPr>
          <p:nvPr>
            <p:ph idx="1"/>
          </p:nvPr>
        </p:nvSpPr>
        <p:spPr/>
        <p:txBody>
          <a:bodyPr/>
          <a:lstStyle/>
          <a:p>
            <a:pPr lvl="0"/>
            <a:r>
              <a:rPr/>
              <a:t>Source: Mechanical vibrations in air or water</a:t>
            </a:r>
          </a:p>
          <a:p>
            <a:pPr lvl="0"/>
            <a:r>
              <a:rPr/>
              <a:t>What is it?</a:t>
            </a:r>
          </a:p>
          <a:p>
            <a:pPr lvl="1"/>
            <a:r>
              <a:rPr/>
              <a:t>Pattern of frequencies, amplitudes, durations</a:t>
            </a:r>
          </a:p>
          <a:p>
            <a:pPr lvl="0"/>
            <a:r>
              <a:rPr/>
              <a:t>Where is it?</a:t>
            </a:r>
          </a:p>
          <a:p>
            <a:pPr lvl="1"/>
            <a:r>
              <a:rPr/>
              <a:t>Left/right or up/down: Interaural time/phase, intensity differences, pinnae filtering</a:t>
            </a:r>
          </a:p>
          <a:p>
            <a:pPr lvl="1"/>
            <a:r>
              <a:rPr/>
              <a:t>Motion: Frequency shifts via Doppler effect</a:t>
            </a:r>
          </a:p>
        </p:txBody>
      </p:sp>
    </p:spTree>
  </p:cSl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Example: Chemosensation</a:t>
            </a:r>
          </a:p>
        </p:txBody>
      </p:sp>
      <p:sp>
        <p:nvSpPr>
          <p:cNvPr id="3" name="Content Placeholder 2"/>
          <p:cNvSpPr>
            <a:spLocks noGrp="1"/>
          </p:cNvSpPr>
          <p:nvPr>
            <p:ph idx="1"/>
          </p:nvPr>
        </p:nvSpPr>
        <p:spPr/>
        <p:txBody>
          <a:bodyPr/>
          <a:lstStyle/>
          <a:p>
            <a:pPr lvl="0"/>
            <a:r>
              <a:rPr/>
              <a:t>Source: Chemicals in mouth, nasal cavity</a:t>
            </a:r>
          </a:p>
          <a:p>
            <a:pPr lvl="0"/>
            <a:r>
              <a:rPr/>
              <a:t>What is it?</a:t>
            </a:r>
          </a:p>
          <a:p>
            <a:pPr lvl="1"/>
            <a:r>
              <a:rPr/>
              <a:t>Mixtures of chemicals</a:t>
            </a:r>
          </a:p>
          <a:p>
            <a:pPr lvl="0"/>
            <a:r>
              <a:rPr/>
              <a:t>Where is it?</a:t>
            </a:r>
          </a:p>
          <a:p>
            <a:pPr lvl="1"/>
            <a:r>
              <a:rPr/>
              <a:t>Left/right; up/down; near/far via intensity gradients</a:t>
            </a:r>
          </a:p>
        </p:txBody>
      </p:sp>
    </p:spTree>
  </p:cSl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Somatosensation</a:t>
            </a:r>
          </a:p>
        </p:txBody>
      </p:sp>
      <p:sp>
        <p:nvSpPr>
          <p:cNvPr id="3" name="Content Placeholder 2"/>
          <p:cNvSpPr>
            <a:spLocks noGrp="1"/>
          </p:cNvSpPr>
          <p:nvPr>
            <p:ph idx="1"/>
          </p:nvPr>
        </p:nvSpPr>
        <p:spPr/>
        <p:txBody>
          <a:bodyPr/>
          <a:lstStyle/>
          <a:p>
            <a:pPr lvl="0"/>
            <a:r>
              <a:rPr/>
              <a:t>Source: Thermal or mechanical stimulation (vibration/pressure) of skin</a:t>
            </a:r>
          </a:p>
          <a:p>
            <a:pPr lvl="0"/>
            <a:r>
              <a:rPr/>
              <a:t>What is it?</a:t>
            </a:r>
          </a:p>
          <a:p>
            <a:pPr lvl="1"/>
            <a:r>
              <a:rPr/>
              <a:t>Shape, size, smoothness, mass, temperature, deformability: Pattern of stimulation</a:t>
            </a:r>
          </a:p>
          <a:p>
            <a:pPr lvl="0"/>
            <a:r>
              <a:rPr/>
              <a:t>Where it it?</a:t>
            </a:r>
          </a:p>
          <a:p>
            <a:pPr lvl="1"/>
            <a:r>
              <a:rPr/>
              <a:t>Pattern of cutaneous receptors on skin</a:t>
            </a:r>
          </a:p>
        </p:txBody>
      </p:sp>
    </p:spTree>
  </p:cSl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Interoception</a:t>
            </a:r>
          </a:p>
        </p:txBody>
      </p:sp>
      <p:sp>
        <p:nvSpPr>
          <p:cNvPr id="3" name="Content Placeholder 2"/>
          <p:cNvSpPr>
            <a:spLocks noGrp="1"/>
          </p:cNvSpPr>
          <p:nvPr>
            <p:ph idx="1" sz="half"/>
          </p:nvPr>
        </p:nvSpPr>
        <p:spPr/>
        <p:txBody>
          <a:bodyPr/>
          <a:lstStyle/>
          <a:p>
            <a:pPr lvl="0"/>
            <a:r>
              <a:rPr/>
              <a:t>Hunger/thirst</a:t>
            </a:r>
          </a:p>
          <a:p>
            <a:pPr lvl="1"/>
            <a:r>
              <a:rPr/>
              <a:t>Receptors for nutrient, fluid levels</a:t>
            </a:r>
          </a:p>
          <a:p>
            <a:pPr lvl="0"/>
            <a:r>
              <a:rPr/>
              <a:t>Energy levels</a:t>
            </a:r>
          </a:p>
          <a:p>
            <a:pPr lvl="1"/>
            <a:r>
              <a:rPr/>
              <a:t>Receptors for hormones, NTs</a:t>
            </a:r>
          </a:p>
          <a:p>
            <a:pPr lvl="1"/>
            <a:r>
              <a:rPr/>
              <a:t>ANS responses</a:t>
            </a:r>
          </a:p>
          <a:p>
            <a:pPr lvl="0"/>
            <a:r>
              <a:rPr/>
              <a:t>Temperature</a:t>
            </a:r>
          </a:p>
          <a:p>
            <a:pPr lvl="1"/>
            <a:r>
              <a:rPr/>
              <a:t>Receptors in skin, viscera</a:t>
            </a:r>
          </a:p>
        </p:txBody>
      </p:sp>
      <p:pic>
        <p:nvPicPr>
          <p:cNvPr descr="https://ars.els-cdn.com/content/image/1-s2.0-S0166223617300176-gr2.jpg" id="0" name="Picture 1"/>
          <p:cNvPicPr>
            <a:picLocks noGrp="1" noChangeAspect="1"/>
          </p:cNvPicPr>
          <p:nvPr/>
        </p:nvPicPr>
        <p:blipFill>
          <a:blip r:embed="rId2"/>
          <a:stretch>
            <a:fillRect/>
          </a:stretch>
        </p:blipFill>
        <p:spPr bwMode="auto">
          <a:xfrm>
            <a:off x="4648200" y="1219200"/>
            <a:ext cx="4038600" cy="28321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Namkung et al. (2017) Figure 2</a:t>
            </a:r>
          </a:p>
        </p:txBody>
      </p:sp>
    </p:spTree>
  </p:cSl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Interoception</a:t>
            </a:r>
          </a:p>
        </p:txBody>
      </p:sp>
      <p:sp>
        <p:nvSpPr>
          <p:cNvPr id="3" name="Content Placeholder 2"/>
          <p:cNvSpPr>
            <a:spLocks noGrp="1"/>
          </p:cNvSpPr>
          <p:nvPr>
            <p:ph idx="1" sz="half"/>
          </p:nvPr>
        </p:nvSpPr>
        <p:spPr/>
        <p:txBody>
          <a:bodyPr/>
          <a:lstStyle/>
          <a:p>
            <a:pPr lvl="0"/>
            <a:r>
              <a:rPr/>
              <a:t>Mating interest</a:t>
            </a:r>
          </a:p>
          <a:p>
            <a:pPr lvl="1"/>
            <a:r>
              <a:rPr/>
              <a:t>Receptors for hormones, NTs</a:t>
            </a:r>
          </a:p>
          <a:p>
            <a:pPr lvl="1"/>
            <a:r>
              <a:rPr/>
              <a:t>ANS responses</a:t>
            </a:r>
          </a:p>
          <a:p>
            <a:pPr lvl="0"/>
            <a:r>
              <a:rPr/>
              <a:t>Body position &amp; movement (proprioception)</a:t>
            </a:r>
          </a:p>
          <a:p>
            <a:pPr lvl="1"/>
            <a:r>
              <a:rPr/>
              <a:t>Receptors in muscles, joints, skin</a:t>
            </a:r>
          </a:p>
        </p:txBody>
      </p:sp>
      <p:pic>
        <p:nvPicPr>
          <p:cNvPr descr="https://ars.els-cdn.com/content/image/1-s2.0-S0166223617300176-gr2.jpg" id="0" name="Picture 1"/>
          <p:cNvPicPr>
            <a:picLocks noGrp="1" noChangeAspect="1"/>
          </p:cNvPicPr>
          <p:nvPr/>
        </p:nvPicPr>
        <p:blipFill>
          <a:blip r:embed="rId2"/>
          <a:stretch>
            <a:fillRect/>
          </a:stretch>
        </p:blipFill>
        <p:spPr bwMode="auto">
          <a:xfrm>
            <a:off x="4648200" y="1219200"/>
            <a:ext cx="4038600" cy="28321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Namkung et al. (2017) Figure 2</a:t>
            </a:r>
          </a:p>
        </p:txBody>
      </p:sp>
    </p:spTree>
  </p:cSld>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ars.els-cdn.com/content/image/1-s2.0-S0166223617300176-gr2.jpg" id="0" name="Picture 1"/>
          <p:cNvPicPr>
            <a:picLocks noGrp="1" noChangeAspect="1"/>
          </p:cNvPicPr>
          <p:nvPr/>
        </p:nvPicPr>
        <p:blipFill>
          <a:blip r:embed="rId2"/>
          <a:stretch>
            <a:fillRect/>
          </a:stretch>
        </p:blipFill>
        <p:spPr bwMode="auto">
          <a:xfrm>
            <a:off x="2514600" y="1193800"/>
            <a:ext cx="41021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Namkung et al. (2017) Figure 2. Interoceptive Information and Its Integration with Emotional, Cognitive, and Motivational Signals from an Array of Cortical and Subcortical Regions. Interoceptive information of constantly changing body states arrives in the posterior insula by ascending sensory inputs from dedicated spinal and brainstem pathways via specific thalamic relays. This information is projected rostrally onto the anterior insula, where it is integrated with emotional, cognitive, and motivational signals from an array of cortical and subcortical regions. As a result, the anterior insula supports unique subjective feeling states. The anterior insula regulates the introduction of subjective feelings into cognitive and motivational processes by virtue of its cortical location at the cross-roads of numerous pathways involved in higher cognition and motivation. Abbreviations: AI, anterior insula; AMG, amygdala; dACC, dorsal anterior cingulate cortex; DLPFC, dorsolateral prefrontal cortex; PI, posterior insula; THAL, thalamus; VMPFC, ventromedial prefrontal cortex; VS, ventral striatum.</a:t>
            </a:r>
          </a:p>
        </p:txBody>
      </p:sp>
    </p:spTree>
  </p:cSl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Features of sensory signals</a:t>
            </a:r>
          </a:p>
        </p:txBody>
      </p:sp>
    </p:spTree>
  </p:cSl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Change across time</a:t>
            </a:r>
          </a:p>
        </p:txBody>
      </p:sp>
      <p:sp>
        <p:nvSpPr>
          <p:cNvPr id="3" name="Content Placeholder 2"/>
          <p:cNvSpPr>
            <a:spLocks noGrp="1"/>
          </p:cNvSpPr>
          <p:nvPr>
            <p:ph idx="1" sz="half"/>
          </p:nvPr>
        </p:nvSpPr>
        <p:spPr/>
        <p:txBody>
          <a:bodyPr/>
          <a:lstStyle/>
          <a:p>
            <a:pPr lvl="0"/>
            <a:r>
              <a:rPr/>
              <a:t>Tonic (sustained) vs. phasic (transient) responses</a:t>
            </a:r>
          </a:p>
        </p:txBody>
      </p:sp>
      <p:pic>
        <p:nvPicPr>
          <p:cNvPr descr="https://www.researchgate.net/publication/51231510/figure/fig1/AS:202984857313285@1425406769897/Two-types-of-receptions-differing-by-the-rate-of-adaptation-to-the-dynamical-stimulus-A.png" id="0" name="Picture 1"/>
          <p:cNvPicPr>
            <a:picLocks noGrp="1" noChangeAspect="1"/>
          </p:cNvPicPr>
          <p:nvPr/>
        </p:nvPicPr>
        <p:blipFill>
          <a:blip r:embed="rId2"/>
          <a:stretch>
            <a:fillRect/>
          </a:stretch>
        </p:blipFill>
        <p:spPr bwMode="auto">
          <a:xfrm>
            <a:off x="4648200" y="1295400"/>
            <a:ext cx="4038600" cy="2692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https://www.researchgate.net/figure/Two-types-of-receptions-differing-by-the-rate-of-adaptation-to-the-dynamical-stimulus-A_fig1_51231510</a:t>
            </a:r>
          </a:p>
        </p:txBody>
      </p:sp>
    </p:spTree>
  </p:cSl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Change across time</a:t>
            </a:r>
          </a:p>
        </p:txBody>
      </p:sp>
      <p:sp>
        <p:nvSpPr>
          <p:cNvPr id="3" name="Content Placeholder 2"/>
          <p:cNvSpPr>
            <a:spLocks noGrp="1"/>
          </p:cNvSpPr>
          <p:nvPr>
            <p:ph idx="1" sz="half"/>
          </p:nvPr>
        </p:nvSpPr>
        <p:spPr/>
        <p:txBody>
          <a:bodyPr/>
          <a:lstStyle/>
          <a:p>
            <a:pPr lvl="0"/>
            <a:r>
              <a:rPr/>
              <a:t>Adaptation/habituation</a:t>
            </a:r>
          </a:p>
          <a:p>
            <a:pPr lvl="0"/>
            <a:r>
              <a:rPr/>
              <a:t>Sensitization</a:t>
            </a:r>
          </a:p>
          <a:p>
            <a:pPr lvl="0"/>
            <a:r>
              <a:rPr/>
              <a:t>Most sensory systems attuned to change</a:t>
            </a:r>
          </a:p>
        </p:txBody>
      </p:sp>
      <p:pic>
        <p:nvPicPr>
          <p:cNvPr descr="https://images-provider.frontiersin.org/api/ipx/w=290&amp;f=webp/https://www.frontiersin.org/files/Articles/48488/fnbeh-07-00061-HTML/image_m/fnbeh-07-00061-g003.jpg" id="0" name="Picture 1"/>
          <p:cNvPicPr>
            <a:picLocks noGrp="1" noChangeAspect="1"/>
          </p:cNvPicPr>
          <p:nvPr/>
        </p:nvPicPr>
        <p:blipFill>
          <a:blip r:embed="rId2"/>
          <a:stretch>
            <a:fillRect/>
          </a:stretch>
        </p:blipFill>
        <p:spPr bwMode="auto">
          <a:xfrm>
            <a:off x="5499100" y="1193800"/>
            <a:ext cx="23368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Herman (2013) Figure 3</a:t>
            </a:r>
          </a:p>
        </p:txBody>
      </p:sp>
    </p:spTree>
  </p:cSl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Perception not linear</a:t>
            </a:r>
          </a:p>
        </p:txBody>
      </p:sp>
      <p:sp>
        <p:nvSpPr>
          <p:cNvPr id="3" name="Content Placeholder 2"/>
          <p:cNvSpPr>
            <a:spLocks noGrp="1"/>
          </p:cNvSpPr>
          <p:nvPr>
            <p:ph idx="1" sz="half"/>
          </p:nvPr>
        </p:nvSpPr>
        <p:spPr/>
        <p:txBody>
          <a:bodyPr/>
          <a:lstStyle/>
          <a:p>
            <a:pPr lvl="0"/>
            <a:r>
              <a:rPr/>
              <a:t>Just noticeable difference (JND)</a:t>
            </a:r>
          </a:p>
          <a:p>
            <a:pPr lvl="1"/>
            <a:r>
              <a:rPr/>
              <a:t>How much of a change is noticeable?</a:t>
            </a:r>
          </a:p>
          <a:p>
            <a:pPr lvl="1"/>
            <a:r>
              <a:rPr/>
              <a:t>Slope of psychophysical function</a:t>
            </a:r>
          </a:p>
          <a:p>
            <a:pPr lvl="1"/>
            <a:r>
              <a:rPr/>
              <a:t>JND a nonlinear function of absolute intensity</a:t>
            </a:r>
          </a:p>
        </p:txBody>
      </p:sp>
      <p:pic>
        <p:nvPicPr>
          <p:cNvPr descr="https://www.psywww.com/intropsych/ch04-senses/04stevenscurves.jpg" id="0" name="Picture 1"/>
          <p:cNvPicPr>
            <a:picLocks noGrp="1" noChangeAspect="1"/>
          </p:cNvPicPr>
          <p:nvPr/>
        </p:nvPicPr>
        <p:blipFill>
          <a:blip r:embed="rId2"/>
          <a:stretch>
            <a:fillRect/>
          </a:stretch>
        </p:blipFill>
        <p:spPr bwMode="auto">
          <a:xfrm>
            <a:off x="5029200" y="1193800"/>
            <a:ext cx="3289300" cy="3390900"/>
          </a:xfrm>
          <a:prstGeom prst="rect">
            <a:avLst/>
          </a:prstGeom>
          <a:noFill/>
          <a:ln w="9525">
            <a:noFill/>
            <a:headEnd/>
            <a:tailEnd/>
          </a:ln>
        </p:spPr>
      </p:pic>
    </p:spTree>
  </p:cSl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indent="0" marL="1270000">
              <a:buNone/>
            </a:pPr>
            <a:r>
              <a:rPr sz="2000" b="1"/>
              <a:t>Beyond JNDs</a:t>
            </a:r>
          </a:p>
          <a:p>
            <a:pPr lvl="0" indent="0" marL="1270000">
              <a:buNone/>
            </a:pPr>
            <a:r>
              <a:rPr sz="2000"/>
              <a:t>Are other types of self-reported intensity or magnitude non-linear?</a:t>
            </a:r>
          </a:p>
          <a:p>
            <a:pPr lvl="0" indent="0" marL="1270000">
              <a:buNone/>
            </a:pPr>
            <a:r>
              <a:rPr sz="2000"/>
              <a:t>For example, “How happy are you on a scale from 1 to 5?”</a:t>
            </a:r>
          </a:p>
          <a:p>
            <a:pPr lvl="0" indent="0" marL="1270000">
              <a:buNone/>
            </a:pPr>
            <a:r>
              <a:rPr sz="2000"/>
              <a:t>If so, what are the implications?</a:t>
            </a:r>
          </a:p>
        </p:txBody>
      </p:sp>
    </p:spTree>
  </p:cSl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Project to CNS at different speeds</a:t>
            </a:r>
          </a:p>
        </p:txBody>
      </p:sp>
      <p:sp>
        <p:nvSpPr>
          <p:cNvPr id="3" name="Content Placeholder 2"/>
          <p:cNvSpPr>
            <a:spLocks noGrp="1"/>
          </p:cNvSpPr>
          <p:nvPr>
            <p:ph idx="1"/>
          </p:nvPr>
        </p:nvSpPr>
        <p:spPr/>
        <p:txBody>
          <a:bodyPr/>
          <a:lstStyle/>
          <a:p>
            <a:pPr lvl="0"/>
            <a:r>
              <a:rPr/>
              <a:t>Bigger diameter axon fiber: Faster</a:t>
            </a:r>
          </a:p>
          <a:p>
            <a:pPr lvl="0"/>
            <a:r>
              <a:rPr/>
              <a:t>Thicker myelin sheath around axon: Faster</a:t>
            </a:r>
          </a:p>
        </p:txBody>
      </p:sp>
    </p:spTree>
  </p:cSl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Repeating signals (e.g. patterns)</a:t>
            </a:r>
          </a:p>
        </p:txBody>
      </p:sp>
      <p:sp>
        <p:nvSpPr>
          <p:cNvPr id="3" name="Content Placeholder 2"/>
          <p:cNvSpPr>
            <a:spLocks noGrp="1"/>
          </p:cNvSpPr>
          <p:nvPr>
            <p:ph idx="1"/>
          </p:nvPr>
        </p:nvSpPr>
        <p:spPr/>
        <p:txBody>
          <a:bodyPr/>
          <a:lstStyle/>
          <a:p>
            <a:pPr lvl="0"/>
            <a:r>
              <a:rPr/>
              <a:t>In space (textures)</a:t>
            </a:r>
          </a:p>
          <a:p>
            <a:pPr lvl="0"/>
            <a:r>
              <a:rPr/>
              <a:t>In time</a:t>
            </a:r>
          </a:p>
        </p:txBody>
      </p:sp>
    </p:spTree>
  </p:cSl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Vision</a:t>
            </a:r>
          </a:p>
        </p:txBody>
      </p:sp>
      <p:pic>
        <p:nvPicPr>
          <p:cNvPr descr="https://onlinelibrary.wiley.com/cms/asset/b8b78ab1-4a85-4add-86cb-d389fb0988b1/mnfr3528-fig-0001-m.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Roark &amp; Stringham (2019) Figure 1</a:t>
            </a:r>
          </a:p>
        </p:txBody>
      </p:sp>
    </p:spTree>
  </p:cSl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Audition</a:t>
            </a:r>
          </a:p>
        </p:txBody>
      </p:sp>
      <p:pic>
        <p:nvPicPr>
          <p:cNvPr descr="http://www.mwmresearchgroup.org/uploads/3/0/8/6/30861243/image-2-ft_orig.png" id="0" name="Picture 1"/>
          <p:cNvPicPr>
            <a:picLocks noGrp="1" noChangeAspect="1"/>
          </p:cNvPicPr>
          <p:nvPr/>
        </p:nvPicPr>
        <p:blipFill>
          <a:blip r:embed="rId2"/>
          <a:stretch>
            <a:fillRect/>
          </a:stretch>
        </p:blipFill>
        <p:spPr bwMode="auto">
          <a:xfrm>
            <a:off x="457200" y="1244600"/>
            <a:ext cx="8229600" cy="27813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https://www.mwmresearchgroup.org/blog/key-concepts-fourier-transforms-and-signal-processing</a:t>
            </a:r>
          </a:p>
        </p:txBody>
      </p:sp>
    </p:spTree>
  </p:cSl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upload.wikimedia.org/wikipedia/commons/c/c5/Spectrogram-19thC.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By Aquegg - Own work, Public Domain, https://commons.wikimedia.org/w/index.php?curid=5544473</a:t>
            </a:r>
          </a:p>
        </p:txBody>
      </p:sp>
    </p:spTree>
  </p:cSl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Somatosensation</a:t>
            </a:r>
          </a:p>
        </p:txBody>
      </p:sp>
      <p:pic>
        <p:nvPicPr>
          <p:cNvPr descr="https://www.frontiersin.org/files/Articles/862344/fnhum-16-862344-HTML/image_m/fnhum-16-862344-g001.jpg" id="0" name="Picture 1"/>
          <p:cNvPicPr>
            <a:picLocks noGrp="1" noChangeAspect="1"/>
          </p:cNvPicPr>
          <p:nvPr/>
        </p:nvPicPr>
        <p:blipFill>
          <a:blip r:embed="rId2"/>
          <a:stretch>
            <a:fillRect/>
          </a:stretch>
        </p:blipFill>
        <p:spPr bwMode="auto">
          <a:xfrm>
            <a:off x="1981200" y="1193800"/>
            <a:ext cx="51943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Figure 1 from https://www.frontiersin.org/articles/10.3389/fnhum.2022.862344/full</a:t>
            </a:r>
          </a:p>
        </p:txBody>
      </p:sp>
    </p:spTree>
  </p:cSl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Compare (&gt;1) sensors located in different parts of the body</a:t>
            </a:r>
          </a:p>
        </p:txBody>
      </p:sp>
      <p:sp>
        <p:nvSpPr>
          <p:cNvPr id="3" name="Content Placeholder 2"/>
          <p:cNvSpPr>
            <a:spLocks noGrp="1"/>
          </p:cNvSpPr>
          <p:nvPr>
            <p:ph idx="1"/>
          </p:nvPr>
        </p:nvSpPr>
        <p:spPr/>
        <p:txBody>
          <a:bodyPr/>
          <a:lstStyle/>
          <a:p>
            <a:pPr lvl="0"/>
            <a:r>
              <a:rPr/>
              <a:t>Eyes</a:t>
            </a:r>
          </a:p>
          <a:p>
            <a:pPr lvl="0"/>
            <a:r>
              <a:rPr/>
              <a:t>Ears</a:t>
            </a:r>
          </a:p>
          <a:p>
            <a:pPr lvl="0"/>
            <a:r>
              <a:rPr/>
              <a:t>Skin surface</a:t>
            </a:r>
          </a:p>
          <a:p>
            <a:pPr lvl="0"/>
            <a:r>
              <a:rPr/>
              <a:t>Nostrils</a:t>
            </a:r>
          </a:p>
          <a:p>
            <a:pPr lvl="0"/>
            <a:r>
              <a:rPr/>
              <a:t>Tongue</a:t>
            </a:r>
          </a:p>
        </p:txBody>
      </p:sp>
    </p:spTree>
  </p:cSld>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images.unsplash.com/photo-1519699486208-1293e479cb98?ixlib=rb-1.2.1&amp;ixid=eyJhcHBfaWQiOjEyMDd9&amp;w=1000&amp;q=80" id="0" name="Picture 1"/>
          <p:cNvPicPr>
            <a:picLocks noGrp="1" noChangeAspect="1"/>
          </p:cNvPicPr>
          <p:nvPr/>
        </p:nvPicPr>
        <p:blipFill>
          <a:blip r:embed="rId2"/>
          <a:stretch>
            <a:fillRect/>
          </a:stretch>
        </p:blipFill>
        <p:spPr bwMode="auto">
          <a:xfrm>
            <a:off x="2006600" y="1193800"/>
            <a:ext cx="5143500" cy="3390900"/>
          </a:xfrm>
          <a:prstGeom prst="rect">
            <a:avLst/>
          </a:prstGeom>
          <a:noFill/>
          <a:ln w="9525">
            <a:noFill/>
            <a:headEnd/>
            <a:tailEnd/>
          </a:ln>
        </p:spPr>
      </p:pic>
    </p:spTree>
  </p:cSld>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Specialized neurons: Vision</a:t>
            </a:r>
          </a:p>
        </p:txBody>
      </p:sp>
      <p:sp>
        <p:nvSpPr>
          <p:cNvPr id="3" name="Content Placeholder 2"/>
          <p:cNvSpPr>
            <a:spLocks noGrp="1"/>
          </p:cNvSpPr>
          <p:nvPr>
            <p:ph idx="1" sz="half"/>
          </p:nvPr>
        </p:nvSpPr>
        <p:spPr/>
        <p:txBody>
          <a:bodyPr/>
          <a:lstStyle/>
          <a:p>
            <a:pPr lvl="0"/>
            <a:r>
              <a:rPr/>
              <a:t>Photoreceptors</a:t>
            </a:r>
          </a:p>
        </p:txBody>
      </p:sp>
      <p:pic>
        <p:nvPicPr>
          <p:cNvPr descr="https://upload.wikimedia.org/wikipedia/commons/thumb/e/e8/1414_Rods_and_Cones.jpg/330px-1414_Rods_and_Cones.jpg" id="0" name="Picture 1"/>
          <p:cNvPicPr>
            <a:picLocks noGrp="1" noChangeAspect="1"/>
          </p:cNvPicPr>
          <p:nvPr/>
        </p:nvPicPr>
        <p:blipFill>
          <a:blip r:embed="rId2"/>
          <a:stretch>
            <a:fillRect/>
          </a:stretch>
        </p:blipFill>
        <p:spPr bwMode="auto">
          <a:xfrm>
            <a:off x="4648200" y="1295400"/>
            <a:ext cx="4038600" cy="26924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Wikipedia</a:t>
            </a:r>
          </a:p>
        </p:txBody>
      </p:sp>
    </p:spTree>
  </p:cSld>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Specialized neurons: Audition</a:t>
            </a:r>
          </a:p>
        </p:txBody>
      </p:sp>
      <p:sp>
        <p:nvSpPr>
          <p:cNvPr id="3" name="Content Placeholder 2"/>
          <p:cNvSpPr>
            <a:spLocks noGrp="1"/>
          </p:cNvSpPr>
          <p:nvPr>
            <p:ph idx="1" sz="half"/>
          </p:nvPr>
        </p:nvSpPr>
        <p:spPr/>
        <p:txBody>
          <a:bodyPr/>
          <a:lstStyle/>
          <a:p>
            <a:pPr lvl="0"/>
            <a:r>
              <a:rPr/>
              <a:t>Cochlear hair cells</a:t>
            </a:r>
          </a:p>
        </p:txBody>
      </p:sp>
      <p:pic>
        <p:nvPicPr>
          <p:cNvPr descr="https://med.stanford.edu/ohns/OHNS-healthcare/earinstitute/conditions-we-treat/hearing-hair-cell/_jcr_content/main/panel_builder_348698106/panel_0/image_0.img.full.high.jpg/organ-of-corti.jpg" id="0" name="Picture 1"/>
          <p:cNvPicPr>
            <a:picLocks noGrp="1" noChangeAspect="1"/>
          </p:cNvPicPr>
          <p:nvPr/>
        </p:nvPicPr>
        <p:blipFill>
          <a:blip r:embed="rId2"/>
          <a:stretch>
            <a:fillRect/>
          </a:stretch>
        </p:blipFill>
        <p:spPr bwMode="auto">
          <a:xfrm>
            <a:off x="4648200" y="1320800"/>
            <a:ext cx="4038600" cy="3136900"/>
          </a:xfrm>
          <a:prstGeom prst="rect">
            <a:avLst/>
          </a:prstGeom>
          <a:noFill/>
          <a:ln w="9525">
            <a:noFill/>
            <a:headEnd/>
            <a:tailEnd/>
          </a:ln>
        </p:spPr>
      </p:pic>
    </p:spTree>
  </p:cSld>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Specialized neurons: Gustation (taste)</a:t>
            </a:r>
          </a:p>
        </p:txBody>
      </p:sp>
      <p:sp>
        <p:nvSpPr>
          <p:cNvPr id="3" name="Content Placeholder 2"/>
          <p:cNvSpPr>
            <a:spLocks noGrp="1"/>
          </p:cNvSpPr>
          <p:nvPr>
            <p:ph idx="1" sz="half"/>
          </p:nvPr>
        </p:nvSpPr>
        <p:spPr/>
        <p:txBody>
          <a:bodyPr/>
          <a:lstStyle/>
          <a:p>
            <a:pPr lvl="0"/>
            <a:r>
              <a:rPr/>
              <a:t>taste receptor cells</a:t>
            </a:r>
          </a:p>
        </p:txBody>
      </p:sp>
      <p:pic>
        <p:nvPicPr>
          <p:cNvPr descr="https://media.springernature.com/full/springer-static/image/art%3A10.1038%2Fnature05401/MediaObjects/41586_2006_Article_BFnature05401_Fig1_HTML.jpg?as=webp" id="0" name="Picture 1"/>
          <p:cNvPicPr>
            <a:picLocks noGrp="1" noChangeAspect="1"/>
          </p:cNvPicPr>
          <p:nvPr/>
        </p:nvPicPr>
        <p:blipFill>
          <a:blip r:embed="rId2"/>
          <a:stretch>
            <a:fillRect/>
          </a:stretch>
        </p:blipFill>
        <p:spPr bwMode="auto">
          <a:xfrm>
            <a:off x="5054600" y="1193800"/>
            <a:ext cx="32385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Chandrashekar et al. (2006)</a:t>
            </a:r>
          </a:p>
        </p:txBody>
      </p:sp>
    </p:spTree>
  </p:cSld>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hlinkClick r:id="rId2"/>
              </a:rPr>
              <a:t>“Receptive fields”</a:t>
            </a:r>
          </a:p>
        </p:txBody>
      </p:sp>
      <p:sp>
        <p:nvSpPr>
          <p:cNvPr id="3" name="Content Placeholder 2"/>
          <p:cNvSpPr>
            <a:spLocks noGrp="1"/>
          </p:cNvSpPr>
          <p:nvPr>
            <p:ph idx="1"/>
          </p:nvPr>
        </p:nvSpPr>
        <p:spPr/>
        <p:txBody>
          <a:bodyPr/>
          <a:lstStyle/>
          <a:p>
            <a:pPr lvl="0" indent="0" marL="1270000">
              <a:buNone/>
            </a:pPr>
            <a:r>
              <a:rPr sz="2000"/>
              <a:t>The receptive field is a portion of sensory space that can elicit neuronal responses when stimulated. The sensory space can be defined in a single dimension (e.g. carbon chain length of an odorant), two dimensions (e.g. skin surface) or multiple dimensions (e.g. space, time and tuning properties of a visual receptive field).</a:t>
            </a:r>
          </a:p>
          <a:p>
            <a:pPr lvl="0" indent="0" marL="0">
              <a:buNone/>
            </a:pPr>
            <a:r>
              <a:rPr/>
              <a:t>– Alonso &amp; Chen (2009)</a:t>
            </a:r>
          </a:p>
        </p:txBody>
      </p:sp>
    </p:spTree>
  </p:cSld>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Tactile receptive fields</a:t>
            </a:r>
          </a:p>
        </p:txBody>
      </p:sp>
      <p:pic>
        <p:nvPicPr>
          <p:cNvPr descr="https://i.stack.imgur.com/br9Zo.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https://www.nursinghero.com/study-guides/austincc-ap1/pain</a:t>
            </a:r>
          </a:p>
        </p:txBody>
      </p:sp>
    </p:spTree>
  </p:cSld>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Receptive fields: Visual</a:t>
            </a:r>
          </a:p>
        </p:txBody>
      </p:sp>
      <p:pic>
        <p:nvPicPr>
          <p:cNvPr descr="https://openbooks.lib.msu.edu/app/uploads/sites/6/2021/03/RetinalReceptiveField.png" id="0" name="Picture 1"/>
          <p:cNvPicPr>
            <a:picLocks noGrp="1" noChangeAspect="1"/>
          </p:cNvPicPr>
          <p:nvPr/>
        </p:nvPicPr>
        <p:blipFill>
          <a:blip r:embed="rId2"/>
          <a:stretch>
            <a:fillRect/>
          </a:stretch>
        </p:blipFill>
        <p:spPr bwMode="auto">
          <a:xfrm>
            <a:off x="457200" y="1384300"/>
            <a:ext cx="4038600" cy="2501900"/>
          </a:xfrm>
          <a:prstGeom prst="rect">
            <a:avLst/>
          </a:prstGeom>
          <a:noFill/>
          <a:ln w="9525">
            <a:noFill/>
            <a:headEnd/>
            <a:tailEnd/>
          </a:ln>
        </p:spPr>
      </p:pic>
      <p:sp>
        <p:nvSpPr>
          <p:cNvPr id="1" name="TextBox 3"/>
          <p:cNvSpPr txBox="1"/>
          <p:nvPr/>
        </p:nvSpPr>
        <p:spPr>
          <a:xfrm>
            <a:off x="457200" y="4076700"/>
            <a:ext cx="4038600" cy="508000"/>
          </a:xfrm>
          <a:prstGeom prst="rect">
            <a:avLst/>
          </a:prstGeom>
          <a:noFill/>
        </p:spPr>
        <p:txBody>
          <a:bodyPr/>
          <a:lstStyle/>
          <a:p>
            <a:pPr lvl="0" indent="0" marL="0" algn="ctr">
              <a:buNone/>
            </a:pPr>
            <a:r>
              <a:rPr/>
              <a:t>https://openbooks.lib.msu.edu/neuroscience/chapter/vision-the-retina/</a:t>
            </a:r>
          </a:p>
        </p:txBody>
      </p:sp>
      <p:pic>
        <p:nvPicPr>
          <p:cNvPr descr="https://wandell.github.io/FOV-1995/wp-content/uploads/2012/02/dir.selective.png" id="0" name="Picture 1"/>
          <p:cNvPicPr>
            <a:picLocks noGrp="1" noChangeAspect="1"/>
          </p:cNvPicPr>
          <p:nvPr/>
        </p:nvPicPr>
        <p:blipFill>
          <a:blip r:embed="rId3"/>
          <a:stretch>
            <a:fillRect/>
          </a:stretch>
        </p:blipFill>
        <p:spPr bwMode="auto">
          <a:xfrm>
            <a:off x="5334000" y="1193800"/>
            <a:ext cx="2667000" cy="28829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https://wandell.github.io/FOV-1995/</a:t>
            </a:r>
          </a:p>
        </p:txBody>
      </p:sp>
    </p:spTree>
  </p:cSld>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Topographic maps</a:t>
            </a:r>
          </a:p>
        </p:txBody>
      </p:sp>
    </p:spTree>
  </p:cSld>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Auditory: Tonotopic maps</a:t>
            </a:r>
          </a:p>
        </p:txBody>
      </p:sp>
      <p:pic>
        <p:nvPicPr>
          <p:cNvPr descr="https://cdn.ncbi.nlm.nih.gov/pmc/blobs/77e5/2830355/d2c2a836b94d/nihms172043f3.jpg" id="0" name="Picture 1"/>
          <p:cNvPicPr>
            <a:picLocks noGrp="1" noChangeAspect="1"/>
          </p:cNvPicPr>
          <p:nvPr/>
        </p:nvPicPr>
        <p:blipFill>
          <a:blip r:embed="rId2"/>
          <a:stretch>
            <a:fillRect/>
          </a:stretch>
        </p:blipFill>
        <p:spPr bwMode="auto">
          <a:xfrm>
            <a:off x="2959100" y="1193800"/>
            <a:ext cx="3225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Humphries et al. (2010) Figure 3</a:t>
            </a:r>
          </a:p>
        </p:txBody>
      </p:sp>
    </p:spTree>
  </p:cSld>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Retinotopic maps</a:t>
            </a:r>
          </a:p>
        </p:txBody>
      </p:sp>
      <p:sp>
        <p:nvSpPr>
          <p:cNvPr id="3" name="Content Placeholder 2"/>
          <p:cNvSpPr>
            <a:spLocks noGrp="1"/>
          </p:cNvSpPr>
          <p:nvPr>
            <p:ph idx="1" sz="half"/>
          </p:nvPr>
        </p:nvSpPr>
        <p:spPr/>
        <p:txBody>
          <a:bodyPr/>
          <a:lstStyle/>
          <a:p>
            <a:pPr lvl="0" indent="0" marL="0">
              <a:buNone/>
            </a:pPr>
            <a:r>
              <a:rPr>
                <a:hlinkClick r:id="rId2"/>
              </a:rPr>
              <a:t>https://www.youtube.com/embed/f2JMbo4BZqY</a:t>
            </a:r>
          </a:p>
        </p:txBody>
      </p:sp>
      <p:sp>
        <p:nvSpPr>
          <p:cNvPr id="4" name="Content Placeholder 3"/>
          <p:cNvSpPr>
            <a:spLocks noGrp="1"/>
          </p:cNvSpPr>
          <p:nvPr>
            <p:ph idx="2" sz="half"/>
          </p:nvPr>
        </p:nvSpPr>
        <p:spPr/>
        <p:txBody>
          <a:bodyPr/>
          <a:lstStyle/>
          <a:p>
            <a:pPr lvl="0" indent="0" marL="0">
              <a:buNone/>
            </a:pPr>
            <a:r>
              <a:rPr>
                <a:hlinkClick r:id="rId3"/>
              </a:rPr>
              <a:t>https://www.youtube.com/embed/rsykP-9-moA</a:t>
            </a:r>
          </a:p>
        </p:txBody>
      </p:sp>
    </p:spTree>
  </p:cSld>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Retinotopic maps</a:t>
            </a:r>
          </a:p>
        </p:txBody>
      </p:sp>
      <p:pic>
        <p:nvPicPr>
          <p:cNvPr descr="../include/img/jov-3-10-1-fig001.jpeg" id="0" name="Picture 1"/>
          <p:cNvPicPr>
            <a:picLocks noGrp="1" noChangeAspect="1"/>
          </p:cNvPicPr>
          <p:nvPr/>
        </p:nvPicPr>
        <p:blipFill>
          <a:blip r:embed="rId2"/>
          <a:stretch>
            <a:fillRect/>
          </a:stretch>
        </p:blipFill>
        <p:spPr bwMode="auto">
          <a:xfrm>
            <a:off x="2070100" y="1193800"/>
            <a:ext cx="50038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Dougherty et al. (2003) Figure 1</a:t>
            </a:r>
          </a:p>
        </p:txBody>
      </p:sp>
    </p:spTree>
  </p:cSld>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Somatosensory: Somatotopic maps in S1 &amp; M1</a:t>
            </a:r>
          </a:p>
        </p:txBody>
      </p:sp>
      <p:pic>
        <p:nvPicPr>
          <p:cNvPr descr="http://bio1152.nicerweb.com/Locked/media/ch49/49_16-MotorSensoryCorts-L.jpg" id="0" name="Picture 1"/>
          <p:cNvPicPr>
            <a:picLocks noGrp="1" noChangeAspect="1"/>
          </p:cNvPicPr>
          <p:nvPr/>
        </p:nvPicPr>
        <p:blipFill>
          <a:blip r:embed="rId2"/>
          <a:stretch>
            <a:fillRect/>
          </a:stretch>
        </p:blipFill>
        <p:spPr bwMode="auto">
          <a:xfrm>
            <a:off x="2133600" y="1193800"/>
            <a:ext cx="4889500" cy="3390900"/>
          </a:xfrm>
          <a:prstGeom prst="rect">
            <a:avLst/>
          </a:prstGeom>
          <a:noFill/>
          <a:ln w="9525">
            <a:noFill/>
            <a:headEnd/>
            <a:tailEnd/>
          </a:ln>
        </p:spPr>
      </p:pic>
    </p:spTree>
  </p:cSld>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Non-uniform sensitivity</a:t>
            </a:r>
          </a:p>
        </p:txBody>
      </p:sp>
    </p:spTree>
  </p:cSld>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Two-point touch thresholds</a:t>
            </a:r>
          </a:p>
        </p:txBody>
      </p:sp>
      <p:pic>
        <p:nvPicPr>
          <p:cNvPr descr="../include/img/two-point-thresholds.jpg" id="0" name="Picture 1"/>
          <p:cNvPicPr>
            <a:picLocks noGrp="1" noChangeAspect="1"/>
          </p:cNvPicPr>
          <p:nvPr/>
        </p:nvPicPr>
        <p:blipFill>
          <a:blip r:embed="rId2"/>
          <a:stretch>
            <a:fillRect/>
          </a:stretch>
        </p:blipFill>
        <p:spPr bwMode="auto">
          <a:xfrm>
            <a:off x="2501900" y="1193800"/>
            <a:ext cx="4127500" cy="3390900"/>
          </a:xfrm>
          <a:prstGeom prst="rect">
            <a:avLst/>
          </a:prstGeom>
          <a:noFill/>
          <a:ln w="9525">
            <a:noFill/>
            <a:headEnd/>
            <a:tailEnd/>
          </a:ln>
        </p:spPr>
      </p:pic>
    </p:spTree>
  </p:cSld>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Somatosensory homunculus</a:t>
            </a:r>
          </a:p>
        </p:txBody>
      </p:sp>
      <p:pic>
        <p:nvPicPr>
          <p:cNvPr descr="https://upload.wikimedia.org/wikipedia/commons/5/51/Front_of_Sensory_Homunculus.gif" id="0" name="Picture 1"/>
          <p:cNvPicPr>
            <a:picLocks noGrp="1" noChangeAspect="1"/>
          </p:cNvPicPr>
          <p:nvPr/>
        </p:nvPicPr>
        <p:blipFill>
          <a:blip r:embed="rId2"/>
          <a:stretch>
            <a:fillRect/>
          </a:stretch>
        </p:blipFill>
        <p:spPr bwMode="auto">
          <a:xfrm>
            <a:off x="2032000" y="1193800"/>
            <a:ext cx="5080000" cy="3390900"/>
          </a:xfrm>
          <a:prstGeom prst="rect">
            <a:avLst/>
          </a:prstGeom>
          <a:noFill/>
          <a:ln w="9525">
            <a:noFill/>
            <a:headEnd/>
            <a:tailEnd/>
          </a:ln>
        </p:spPr>
      </p:pic>
    </p:spTree>
  </p:cSld>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Visual acuity non-uniform</a:t>
            </a:r>
          </a:p>
        </p:txBody>
      </p:sp>
      <p:pic>
        <p:nvPicPr>
          <p:cNvPr descr="https://upload.wikimedia.org/wikipedia/commons/thumb/2/27/AcuityHumanEye.svg/270px-AcuityHumanEye.svg.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Wikipedia</a:t>
            </a:r>
          </a:p>
        </p:txBody>
      </p:sp>
    </p:spTree>
  </p:cSld>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Hearing thresholds non-uniform</a:t>
            </a:r>
          </a:p>
        </p:txBody>
      </p:sp>
      <p:pic>
        <p:nvPicPr>
          <p:cNvPr descr="http://auditoryneuroscience.com/sites/default/files/inline-images/HLdata_0.png" id="0" name="Picture 1"/>
          <p:cNvPicPr>
            <a:picLocks noGrp="1" noChangeAspect="1"/>
          </p:cNvPicPr>
          <p:nvPr/>
        </p:nvPicPr>
        <p:blipFill>
          <a:blip r:embed="rId2"/>
          <a:stretch>
            <a:fillRect/>
          </a:stretch>
        </p:blipFill>
        <p:spPr bwMode="auto">
          <a:xfrm>
            <a:off x="2882900" y="1193800"/>
            <a:ext cx="3378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http://auditoryneuroscience.com/</a:t>
            </a:r>
          </a:p>
        </p:txBody>
      </p:sp>
    </p:spTree>
  </p:cSld>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Hierarchical/sequential AND parallel</a:t>
            </a:r>
          </a:p>
        </p:txBody>
      </p:sp>
      <p:pic>
        <p:nvPicPr>
          <p:cNvPr descr="../include/img/swanson-11.4.jp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biopsych-fig-5.5.jp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biospsych-labeled-lines.jpg" id="0" name="Picture 1"/>
          <p:cNvPicPr>
            <a:picLocks noGrp="1" noChangeAspect="1"/>
          </p:cNvPicPr>
          <p:nvPr/>
        </p:nvPicPr>
        <p:blipFill>
          <a:blip r:embed="rId2"/>
          <a:stretch>
            <a:fillRect/>
          </a:stretch>
        </p:blipFill>
        <p:spPr bwMode="auto">
          <a:xfrm>
            <a:off x="2311400" y="1193800"/>
            <a:ext cx="4521200" cy="3390900"/>
          </a:xfrm>
          <a:prstGeom prst="rect">
            <a:avLst/>
          </a:prstGeom>
          <a:noFill/>
          <a:ln w="9525">
            <a:noFill/>
            <a:headEnd/>
            <a:tailEnd/>
          </a:ln>
        </p:spPr>
      </p:pic>
    </p:spTree>
  </p:cSld>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Feedforward and feedback</a:t>
            </a:r>
          </a:p>
        </p:txBody>
      </p:sp>
      <p:pic>
        <p:nvPicPr>
          <p:cNvPr descr="../include/fig/unnamed-chunk-2-1.png" id="0" name="Picture 1"/>
          <p:cNvPicPr>
            <a:picLocks noGrp="1" noChangeAspect="1"/>
          </p:cNvPicPr>
          <p:nvPr/>
        </p:nvPicPr>
        <p:blipFill>
          <a:blip r:embed="rId2"/>
          <a:stretch>
            <a:fillRect/>
          </a:stretch>
        </p:blipFill>
        <p:spPr bwMode="auto">
          <a:xfrm>
            <a:off x="1181100" y="1193800"/>
            <a:ext cx="6781800" cy="3390900"/>
          </a:xfrm>
          <a:prstGeom prst="rect">
            <a:avLst/>
          </a:prstGeom>
          <a:noFill/>
          <a:ln w="9525">
            <a:noFill/>
            <a:headEnd/>
            <a:tailEnd/>
          </a:ln>
        </p:spPr>
      </p:pic>
    </p:spTree>
  </p:cSld>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Break</a:t>
            </a:r>
          </a:p>
        </p:txBody>
      </p:sp>
    </p:spTree>
  </p:cSld>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Vision</a:t>
            </a:r>
          </a:p>
        </p:txBody>
      </p:sp>
    </p:spTree>
  </p:cSld>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Animals respond to visual illusions, too</a:t>
            </a:r>
          </a:p>
        </p:txBody>
      </p:sp>
      <p:pic>
        <p:nvPicPr>
          <p:cNvPr descr="https://www.illusionsindex.org/images/illusions/Rotating-Snakes/42_rotsnakes_main.jp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https://www.illusionsindex.org/i/rotating-snakes</a:t>
            </a:r>
          </a:p>
        </p:txBody>
      </p:sp>
    </p:spTree>
  </p:cSld>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 cat responds…</a:t>
            </a:r>
          </a:p>
        </p:txBody>
      </p:sp>
      <p:sp>
        <p:nvSpPr>
          <p:cNvPr id="3" name="Content Placeholder 2"/>
          <p:cNvSpPr>
            <a:spLocks noGrp="1"/>
          </p:cNvSpPr>
          <p:nvPr>
            <p:ph idx="1"/>
          </p:nvPr>
        </p:nvSpPr>
        <p:spPr/>
        <p:txBody>
          <a:bodyPr/>
          <a:lstStyle/>
          <a:p>
            <a:pPr lvl="0" indent="0" marL="0">
              <a:buNone/>
            </a:pPr>
            <a:r>
              <a:rPr>
                <a:hlinkClick r:id="rId2"/>
              </a:rPr>
              <a:t>https://www.reddit.com/r/youseeingthisshit/comments/p9y7v1/the_reaction_of_the_cat_on_the_optical_illusion/?ref=share&amp;ref_source=embed&amp;utm_content=title&amp;utm_medium=post_embed&amp;utm_name=85f1a01593f447e092c5b300e5561d6e&amp;utm_source=embedly&amp;utm_term=p9y7v1</a:t>
            </a:r>
          </a:p>
        </p:txBody>
      </p:sp>
    </p:spTree>
  </p:cSld>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Application in VR</a:t>
            </a:r>
          </a:p>
        </p:txBody>
      </p:sp>
      <p:sp>
        <p:nvSpPr>
          <p:cNvPr id="3" name="Content Placeholder 2"/>
          <p:cNvSpPr>
            <a:spLocks noGrp="1"/>
          </p:cNvSpPr>
          <p:nvPr>
            <p:ph idx="1"/>
          </p:nvPr>
        </p:nvSpPr>
        <p:spPr/>
        <p:txBody>
          <a:bodyPr/>
          <a:lstStyle/>
          <a:p>
            <a:pPr lvl="0" indent="0" marL="0">
              <a:buNone/>
            </a:pPr>
            <a:r>
              <a:rPr>
                <a:hlinkClick r:id="rId2"/>
              </a:rPr>
              <a:t>https://www.youtube.com/watch?v=NPK8eQ4o8Pk</a:t>
            </a:r>
          </a:p>
          <a:p>
            <a:pPr lvl="0" indent="0" marL="0">
              <a:buNone/>
            </a:pPr>
            <a:r>
              <a:rPr/>
              <a:t>– ewakili (2021)</a:t>
            </a:r>
          </a:p>
        </p:txBody>
      </p:sp>
    </p:spTree>
  </p:cSld>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ars.els-cdn.com/content/image/1-s2.0-S0168159121001258-gr4.jpg" id="0" name="Picture 1"/>
          <p:cNvPicPr>
            <a:picLocks noGrp="1" noChangeAspect="1"/>
          </p:cNvPicPr>
          <p:nvPr/>
        </p:nvPicPr>
        <p:blipFill>
          <a:blip r:embed="rId2"/>
          <a:stretch>
            <a:fillRect/>
          </a:stretch>
        </p:blipFill>
        <p:spPr bwMode="auto">
          <a:xfrm>
            <a:off x="3124200" y="1193800"/>
            <a:ext cx="2882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Smith et al. (2021) Figure 4</a:t>
            </a:r>
          </a:p>
        </p:txBody>
      </p:sp>
    </p:spTree>
  </p:cSld>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ars.els-cdn.com/content/image/1-s2.0-S0168159121001258-gr5_lrg.jpg" id="0" name="Picture 1"/>
          <p:cNvPicPr>
            <a:picLocks noGrp="1" noChangeAspect="1"/>
          </p:cNvPicPr>
          <p:nvPr/>
        </p:nvPicPr>
        <p:blipFill>
          <a:blip r:embed="rId2"/>
          <a:stretch>
            <a:fillRect/>
          </a:stretch>
        </p:blipFill>
        <p:spPr bwMode="auto">
          <a:xfrm>
            <a:off x="2286000" y="1193800"/>
            <a:ext cx="4584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Smith et al. (2021) Figure 5</a:t>
            </a:r>
          </a:p>
        </p:txBody>
      </p:sp>
    </p:spTree>
  </p:cSld>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Properties of Electromagnetic (EM) radiation</a:t>
            </a:r>
          </a:p>
        </p:txBody>
      </p:sp>
      <p:sp>
        <p:nvSpPr>
          <p:cNvPr id="3" name="Content Placeholder 2"/>
          <p:cNvSpPr>
            <a:spLocks noGrp="1"/>
          </p:cNvSpPr>
          <p:nvPr>
            <p:ph idx="1" sz="half"/>
          </p:nvPr>
        </p:nvSpPr>
        <p:spPr/>
        <p:txBody>
          <a:bodyPr/>
          <a:lstStyle/>
          <a:p>
            <a:pPr lvl="0"/>
            <a:r>
              <a:rPr/>
              <a:t>Wavelength/frequency</a:t>
            </a:r>
          </a:p>
          <a:p>
            <a:pPr lvl="0"/>
            <a:r>
              <a:rPr/>
              <a:t>Intensity</a:t>
            </a:r>
          </a:p>
          <a:p>
            <a:pPr lvl="0"/>
            <a:r>
              <a:rPr/>
              <a:t>Location/position of source</a:t>
            </a:r>
          </a:p>
          <a:p>
            <a:pPr lvl="0"/>
            <a:r>
              <a:rPr/>
              <a:t>Reflects off some materials</a:t>
            </a:r>
          </a:p>
          <a:p>
            <a:pPr lvl="0"/>
            <a:r>
              <a:rPr/>
              <a:t>Refracted (bent) moving through other materials</a:t>
            </a:r>
          </a:p>
          <a:p>
            <a:pPr lvl="0"/>
            <a:r>
              <a:rPr/>
              <a:t>Information across space (and time)</a:t>
            </a:r>
          </a:p>
        </p:txBody>
      </p:sp>
      <p:pic>
        <p:nvPicPr>
          <p:cNvPr descr="../include/img/em-spectrum.jpg" id="0" name="Picture 1"/>
          <p:cNvPicPr>
            <a:picLocks noGrp="1" noChangeAspect="1"/>
          </p:cNvPicPr>
          <p:nvPr/>
        </p:nvPicPr>
        <p:blipFill>
          <a:blip r:embed="rId2"/>
          <a:stretch>
            <a:fillRect/>
          </a:stretch>
        </p:blipFill>
        <p:spPr bwMode="auto">
          <a:xfrm>
            <a:off x="4648200" y="1435100"/>
            <a:ext cx="4038600" cy="2387600"/>
          </a:xfrm>
          <a:prstGeom prst="rect">
            <a:avLst/>
          </a:prstGeom>
          <a:noFill/>
          <a:ln w="9525">
            <a:noFill/>
            <a:headEnd/>
            <a:tailEnd/>
          </a:ln>
        </p:spPr>
      </p:pic>
      <p:sp>
        <p:nvSpPr>
          <p:cNvPr id="1" name="TextBox 3"/>
          <p:cNvSpPr txBox="1"/>
          <p:nvPr/>
        </p:nvSpPr>
        <p:spPr>
          <a:xfrm>
            <a:off x="4648200" y="4076700"/>
            <a:ext cx="4038600" cy="508000"/>
          </a:xfrm>
          <a:prstGeom prst="rect">
            <a:avLst/>
          </a:prstGeom>
          <a:noFill/>
        </p:spPr>
        <p:txBody>
          <a:bodyPr/>
          <a:lstStyle/>
          <a:p>
            <a:pPr lvl="0" indent="0" marL="0" algn="ctr">
              <a:buNone/>
            </a:pPr>
            <a:r>
              <a:rPr/>
              <a:t>http://en.wikipedia.org/wiki/File:EM_Spectrum_Properties_edit.svg</a:t>
            </a:r>
          </a:p>
        </p:txBody>
      </p:sp>
    </p:spTree>
  </p:cSld>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hud2014_1000c.jpg" id="0" name="Picture 1"/>
          <p:cNvPicPr>
            <a:picLocks noGrp="1" noChangeAspect="1"/>
          </p:cNvPicPr>
          <p:nvPr/>
        </p:nvPicPr>
        <p:blipFill>
          <a:blip r:embed="rId2"/>
          <a:stretch>
            <a:fillRect/>
          </a:stretch>
        </p:blipFill>
        <p:spPr bwMode="auto">
          <a:xfrm>
            <a:off x="2476500" y="1193800"/>
            <a:ext cx="4191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http://apod.nasa.gov/apod/ap140605.html</a:t>
            </a:r>
          </a:p>
        </p:txBody>
      </p:sp>
      <p:sp>
        <p:nvSpPr>
          <p:cNvPr id="3" name="Content Placeholder 2"/>
          <p:cNvSpPr>
            <a:spLocks noGrp="1"/>
          </p:cNvSpPr>
          <p:nvPr>
            <p:ph idx="1"/>
          </p:nvPr>
        </p:nvSpPr>
        <p:spPr/>
        <p:txBody>
          <a:bodyPr/>
          <a:lstStyle/>
          <a:p>
            <a:pPr lvl="0"/>
            <a:r>
              <a:rPr/>
              <a:t>Light provides fast (2.99 million m/s; 186 million mi/hr) information about surfaces at a distance</a:t>
            </a:r>
          </a:p>
          <a:p>
            <a:pPr lvl="0"/>
            <a:r>
              <a:rPr/>
              <a:t>vs. sound (340 m/s; 767 mi/hr)</a:t>
            </a:r>
          </a:p>
          <a:p>
            <a:pPr lvl="0"/>
            <a:r>
              <a:rPr/>
              <a:t>vs. chemical signals (min/mi)</a:t>
            </a:r>
          </a:p>
        </p:txBody>
      </p:sp>
    </p:spTree>
  </p:cSld>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Reflectance spectra differ by surface</a:t>
            </a:r>
          </a:p>
        </p:txBody>
      </p:sp>
      <p:pic>
        <p:nvPicPr>
          <p:cNvPr descr="https://www.researchgate.net/profile/Lise-Lyngsnes-Randeberg/publication/265397843/figure/fig8/AS:667691706773516@1536201516532/Reflectance-spectra-from-different-skin-types-measured-using-the-Ocean-Optics-SD-2000.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Randeberg (2005) Figure 8</a:t>
            </a:r>
          </a:p>
        </p:txBody>
      </p:sp>
    </p:spTree>
  </p:cSld>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reflectance-spectrum.gif" id="0" name="Picture 1"/>
          <p:cNvPicPr>
            <a:picLocks noGrp="1" noChangeAspect="1"/>
          </p:cNvPicPr>
          <p:nvPr/>
        </p:nvPicPr>
        <p:blipFill>
          <a:blip r:embed="rId2"/>
          <a:stretch>
            <a:fillRect/>
          </a:stretch>
        </p:blipFill>
        <p:spPr bwMode="auto">
          <a:xfrm>
            <a:off x="2781300" y="1193800"/>
            <a:ext cx="35687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http://http://www.vgt.vito.be/userguide/book_1/4/42/ie42bd.gif</a:t>
            </a:r>
          </a:p>
        </p:txBody>
      </p:sp>
    </p:spTree>
  </p:cSld>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hlinkClick r:id="rId2"/>
              </a:rPr>
              <a:t>Optic array</a:t>
            </a:r>
            <a:r>
              <a:rPr/>
              <a:t> specifies geometry of environment</a:t>
            </a:r>
          </a:p>
        </p:txBody>
      </p:sp>
      <p:pic>
        <p:nvPicPr>
          <p:cNvPr descr="../include/img/OpticArray.jpg" id="0" name="Picture 1"/>
          <p:cNvPicPr>
            <a:picLocks noGrp="1" noChangeAspect="1"/>
          </p:cNvPicPr>
          <p:nvPr/>
        </p:nvPicPr>
        <p:blipFill>
          <a:blip r:embed="rId3"/>
          <a:stretch>
            <a:fillRect/>
          </a:stretch>
        </p:blipFill>
        <p:spPr bwMode="auto">
          <a:xfrm>
            <a:off x="2501900" y="1193800"/>
            <a:ext cx="4140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Gibson</a:t>
            </a:r>
          </a:p>
        </p:txBody>
      </p:sp>
    </p:spTree>
  </p:cSld>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Categories of wavelength specify perception of color</a:t>
            </a:r>
          </a:p>
        </p:txBody>
      </p:sp>
      <p:sp>
        <p:nvSpPr>
          <p:cNvPr id="4" name="Text Placeholder 3"/>
          <p:cNvSpPr>
            <a:spLocks noGrp="1"/>
          </p:cNvSpPr>
          <p:nvPr>
            <p:ph idx="2" sz="half" type="body"/>
          </p:nvPr>
        </p:nvSpPr>
        <p:spPr/>
        <p:txBody>
          <a:bodyPr/>
          <a:lstStyle/>
          <a:p>
            <a:pPr lvl="0"/>
            <a:r>
              <a:rPr/>
              <a:t>Eyes categorize wavelength into relative intensities within wavelength bands</a:t>
            </a:r>
          </a:p>
          <a:p>
            <a:pPr lvl="0"/>
            <a:r>
              <a:rPr/>
              <a:t>RGB ~ </a:t>
            </a:r>
            <a:r>
              <a:rPr b="1"/>
              <a:t>R</a:t>
            </a:r>
            <a:r>
              <a:rPr/>
              <a:t>ed, </a:t>
            </a:r>
            <a:r>
              <a:rPr b="1"/>
              <a:t>G</a:t>
            </a:r>
            <a:r>
              <a:rPr/>
              <a:t>reen, </a:t>
            </a:r>
            <a:r>
              <a:rPr b="1"/>
              <a:t>B</a:t>
            </a:r>
            <a:r>
              <a:rPr/>
              <a:t>lue</a:t>
            </a:r>
          </a:p>
          <a:p>
            <a:pPr lvl="1"/>
            <a:r>
              <a:rPr/>
              <a:t>Long, medium, short wavelengths</a:t>
            </a:r>
          </a:p>
          <a:p>
            <a:pPr lvl="0"/>
            <a:r>
              <a:rPr i="1"/>
              <a:t>Color is a neural/psychological construct</a:t>
            </a:r>
          </a:p>
        </p:txBody>
      </p:sp>
      <p:pic>
        <p:nvPicPr>
          <p:cNvPr descr="../include/img/rgb-monitor.jpg" id="0" name="Picture 1"/>
          <p:cNvPicPr>
            <a:picLocks noGrp="1" noChangeAspect="1"/>
          </p:cNvPicPr>
          <p:nvPr/>
        </p:nvPicPr>
        <p:blipFill>
          <a:blip r:embed="rId2"/>
          <a:stretch>
            <a:fillRect/>
          </a:stretch>
        </p:blipFill>
        <p:spPr bwMode="auto">
          <a:xfrm>
            <a:off x="3568700" y="482600"/>
            <a:ext cx="5105400" cy="3835400"/>
          </a:xfrm>
          <a:prstGeom prst="rect">
            <a:avLst/>
          </a:prstGeom>
          <a:noFill/>
          <a:ln w="9525">
            <a:noFill/>
            <a:headEnd/>
            <a:tailEnd/>
          </a:ln>
        </p:spPr>
      </p:pic>
    </p:spTree>
  </p:cSld>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biological camera</a:t>
            </a:r>
          </a:p>
        </p:txBody>
      </p:sp>
      <p:pic>
        <p:nvPicPr>
          <p:cNvPr descr="../include/img/how-camera-works.jpg" id="0" name="Picture 1"/>
          <p:cNvPicPr>
            <a:picLocks noGrp="1" noChangeAspect="1"/>
          </p:cNvPicPr>
          <p:nvPr/>
        </p:nvPicPr>
        <p:blipFill>
          <a:blip r:embed="rId2"/>
          <a:stretch>
            <a:fillRect/>
          </a:stretch>
        </p:blipFill>
        <p:spPr bwMode="auto">
          <a:xfrm>
            <a:off x="1841500" y="1193800"/>
            <a:ext cx="5448300" cy="3390900"/>
          </a:xfrm>
          <a:prstGeom prst="rect">
            <a:avLst/>
          </a:prstGeom>
          <a:noFill/>
          <a:ln w="9525">
            <a:noFill/>
            <a:headEnd/>
            <a:tailEnd/>
          </a:ln>
        </p:spPr>
      </p:pic>
    </p:spTree>
  </p:cSld>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the-eye-ksj.jpg" id="0" name="Picture 1"/>
          <p:cNvPicPr>
            <a:picLocks noGrp="1" noChangeAspect="1"/>
          </p:cNvPicPr>
          <p:nvPr/>
        </p:nvPicPr>
        <p:blipFill>
          <a:blip r:embed="rId2"/>
          <a:stretch>
            <a:fillRect/>
          </a:stretch>
        </p:blipFill>
        <p:spPr bwMode="auto">
          <a:xfrm>
            <a:off x="647700" y="1193800"/>
            <a:ext cx="7861300" cy="3390900"/>
          </a:xfrm>
          <a:prstGeom prst="rect">
            <a:avLst/>
          </a:prstGeom>
          <a:noFill/>
          <a:ln w="9525">
            <a:noFill/>
            <a:headEnd/>
            <a:tailEnd/>
          </a:ln>
        </p:spPr>
      </p:pic>
    </p:spTree>
  </p:cSld>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the-eye.jpg" id="0" name="Picture 1"/>
          <p:cNvPicPr>
            <a:picLocks noGrp="1" noChangeAspect="1"/>
          </p:cNvPicPr>
          <p:nvPr/>
        </p:nvPicPr>
        <p:blipFill>
          <a:blip r:embed="rId2"/>
          <a:stretch>
            <a:fillRect/>
          </a:stretch>
        </p:blipFill>
        <p:spPr bwMode="auto">
          <a:xfrm>
            <a:off x="2476500" y="1193800"/>
            <a:ext cx="4191000" cy="3390900"/>
          </a:xfrm>
          <a:prstGeom prst="rect">
            <a:avLst/>
          </a:prstGeom>
          <a:noFill/>
          <a:ln w="9525">
            <a:noFill/>
            <a:headEnd/>
            <a:tailEnd/>
          </a:ln>
        </p:spPr>
      </p:pic>
    </p:spTree>
  </p:cSld>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 of a self-stabilizing system…</a:t>
            </a:r>
          </a:p>
        </p:txBody>
      </p:sp>
      <p:sp>
        <p:nvSpPr>
          <p:cNvPr id="3" name="Content Placeholder 2"/>
          <p:cNvSpPr>
            <a:spLocks noGrp="1"/>
          </p:cNvSpPr>
          <p:nvPr>
            <p:ph idx="1"/>
          </p:nvPr>
        </p:nvSpPr>
        <p:spPr/>
        <p:txBody>
          <a:bodyPr/>
          <a:lstStyle/>
          <a:p>
            <a:pPr lvl="0" indent="0" marL="0">
              <a:buNone/>
            </a:pPr>
            <a:r>
              <a:rPr>
                <a:hlinkClick r:id="rId2"/>
              </a:rPr>
              <a:t>https://www.youtube.com/embed/JGArTWOJtXs</a:t>
            </a:r>
          </a:p>
        </p:txBody>
      </p:sp>
    </p:spTree>
  </p:cSld>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Parts of the eye</a:t>
            </a:r>
          </a:p>
        </p:txBody>
      </p:sp>
      <p:sp>
        <p:nvSpPr>
          <p:cNvPr id="3" name="Content Placeholder 2"/>
          <p:cNvSpPr>
            <a:spLocks noGrp="1"/>
          </p:cNvSpPr>
          <p:nvPr>
            <p:ph idx="1"/>
          </p:nvPr>
        </p:nvSpPr>
        <p:spPr/>
        <p:txBody>
          <a:bodyPr/>
          <a:lstStyle/>
          <a:p>
            <a:pPr lvl="0"/>
            <a:r>
              <a:rPr i="1"/>
              <a:t>Cornea</a:t>
            </a:r>
            <a:r>
              <a:rPr/>
              <a:t> - refraction (2/3 of total)</a:t>
            </a:r>
          </a:p>
          <a:p>
            <a:pPr lvl="0"/>
            <a:r>
              <a:rPr i="1"/>
              <a:t>Pupil</a:t>
            </a:r>
            <a:r>
              <a:rPr/>
              <a:t> - light intensity; diameter regulated by Iris.</a:t>
            </a:r>
          </a:p>
          <a:p>
            <a:pPr lvl="0"/>
            <a:r>
              <a:rPr i="1"/>
              <a:t>Lens</a:t>
            </a:r>
            <a:r>
              <a:rPr/>
              <a:t> - refraction (remaining 1/3; focus)</a:t>
            </a:r>
          </a:p>
          <a:p>
            <a:pPr lvl="0"/>
            <a:r>
              <a:rPr i="1"/>
              <a:t>Retina</a:t>
            </a:r>
            <a:r>
              <a:rPr/>
              <a:t> - light detection</a:t>
            </a:r>
          </a:p>
          <a:p>
            <a:pPr lvl="1"/>
            <a:r>
              <a:rPr/>
              <a:t>~ skin or organ of Corti in inner ear</a:t>
            </a:r>
          </a:p>
          <a:p>
            <a:pPr lvl="0"/>
            <a:r>
              <a:rPr i="1"/>
              <a:t>Pigment epithelium</a:t>
            </a:r>
            <a:r>
              <a:rPr/>
              <a:t> - regenerate photopigment</a:t>
            </a:r>
          </a:p>
          <a:p>
            <a:pPr lvl="0"/>
            <a:r>
              <a:rPr i="1"/>
              <a:t>Muscles</a:t>
            </a:r>
            <a:r>
              <a:rPr/>
              <a:t> - move eye, reshape lens, change pupil diameter</a:t>
            </a:r>
          </a:p>
        </p:txBody>
      </p:sp>
    </p:spTree>
  </p:cSld>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1" y="204787"/>
            <a:ext cx="3008313" cy="871538"/>
          </a:xfrm>
        </p:spPr>
        <p:txBody>
          <a:bodyPr/>
          <a:lstStyle/>
          <a:p>
            <a:pPr lvl="0" indent="0" marL="0">
              <a:buNone/>
            </a:pPr>
            <a:r>
              <a:rPr/>
              <a:t>Geometry of retinal image</a:t>
            </a:r>
          </a:p>
        </p:txBody>
      </p:sp>
      <p:sp>
        <p:nvSpPr>
          <p:cNvPr id="4" name="Text Placeholder 3"/>
          <p:cNvSpPr>
            <a:spLocks noGrp="1"/>
          </p:cNvSpPr>
          <p:nvPr>
            <p:ph idx="2" sz="half" type="body"/>
          </p:nvPr>
        </p:nvSpPr>
        <p:spPr/>
        <p:txBody>
          <a:bodyPr/>
          <a:lstStyle/>
          <a:p>
            <a:pPr lvl="0"/>
            <a:r>
              <a:rPr/>
              <a:t>Image inverted (up/down)</a:t>
            </a:r>
          </a:p>
          <a:p>
            <a:pPr lvl="0"/>
            <a:r>
              <a:rPr/>
              <a:t>Image reversed (left/right)</a:t>
            </a:r>
          </a:p>
          <a:p>
            <a:pPr lvl="0"/>
            <a:r>
              <a:rPr/>
              <a:t>Point-to-point map (</a:t>
            </a:r>
            <a:r>
              <a:rPr i="1"/>
              <a:t>retinotopic</a:t>
            </a:r>
            <a:r>
              <a:rPr/>
              <a:t>)</a:t>
            </a:r>
          </a:p>
          <a:p>
            <a:pPr lvl="0"/>
            <a:r>
              <a:rPr/>
              <a:t>Binocular and monocular zones</a:t>
            </a:r>
          </a:p>
        </p:txBody>
      </p:sp>
      <p:pic>
        <p:nvPicPr>
          <p:cNvPr descr="../include/img/retinal-image.jpg" id="0" name="Picture 1"/>
          <p:cNvPicPr>
            <a:picLocks noGrp="1" noChangeAspect="1"/>
          </p:cNvPicPr>
          <p:nvPr/>
        </p:nvPicPr>
        <p:blipFill>
          <a:blip r:embed="rId2"/>
          <a:stretch>
            <a:fillRect/>
          </a:stretch>
        </p:blipFill>
        <p:spPr bwMode="auto">
          <a:xfrm>
            <a:off x="3568700" y="635000"/>
            <a:ext cx="5105400" cy="3517900"/>
          </a:xfrm>
          <a:prstGeom prst="rect">
            <a:avLst/>
          </a:prstGeom>
          <a:noFill/>
          <a:ln w="9525">
            <a:noFill/>
            <a:headEnd/>
            <a:tailEnd/>
          </a:ln>
        </p:spPr>
      </p:pic>
    </p:spTree>
  </p:cSld>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visual-fields.jpg" id="0" name="Picture 1"/>
          <p:cNvPicPr>
            <a:picLocks noGrp="1" noChangeAspect="1"/>
          </p:cNvPicPr>
          <p:nvPr/>
        </p:nvPicPr>
        <p:blipFill>
          <a:blip r:embed="rId2"/>
          <a:stretch>
            <a:fillRect/>
          </a:stretch>
        </p:blipFill>
        <p:spPr bwMode="auto">
          <a:xfrm>
            <a:off x="2336800" y="1193800"/>
            <a:ext cx="4470400" cy="3390900"/>
          </a:xfrm>
          <a:prstGeom prst="rect">
            <a:avLst/>
          </a:prstGeom>
          <a:noFill/>
          <a:ln w="9525">
            <a:noFill/>
            <a:headEnd/>
            <a:tailEnd/>
          </a:ln>
        </p:spPr>
      </p:pic>
    </p:spTree>
  </p:cSld>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The </a:t>
            </a:r>
            <a:r>
              <a:rPr i="1"/>
              <a:t>fovea</a:t>
            </a:r>
          </a:p>
        </p:txBody>
      </p:sp>
      <p:pic>
        <p:nvPicPr>
          <p:cNvPr descr="../include/img/fovea.jpg" id="0" name="Picture 1"/>
          <p:cNvPicPr>
            <a:picLocks noGrp="1" noChangeAspect="1"/>
          </p:cNvPicPr>
          <p:nvPr/>
        </p:nvPicPr>
        <p:blipFill>
          <a:blip r:embed="rId2"/>
          <a:stretch>
            <a:fillRect/>
          </a:stretch>
        </p:blipFill>
        <p:spPr bwMode="auto">
          <a:xfrm>
            <a:off x="2997200" y="1193800"/>
            <a:ext cx="3149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http://www.brainhq.com/sites/default/files/fovea.jpg</a:t>
            </a:r>
          </a:p>
        </p:txBody>
      </p:sp>
      <p:sp>
        <p:nvSpPr>
          <p:cNvPr id="3" name="Content Placeholder 2"/>
          <p:cNvSpPr>
            <a:spLocks noGrp="1"/>
          </p:cNvSpPr>
          <p:nvPr>
            <p:ph idx="1"/>
          </p:nvPr>
        </p:nvSpPr>
        <p:spPr/>
        <p:txBody>
          <a:bodyPr/>
          <a:lstStyle/>
          <a:p>
            <a:pPr lvl="0"/>
            <a:r>
              <a:rPr/>
              <a:t>Central 1-2 deg of visual field</a:t>
            </a:r>
          </a:p>
          <a:p>
            <a:pPr lvl="0"/>
            <a:r>
              <a:rPr/>
              <a:t>Aligned with visual axis</a:t>
            </a:r>
          </a:p>
          <a:p>
            <a:pPr lvl="0"/>
            <a:r>
              <a:rPr i="1"/>
              <a:t>Retinal ganglion cells</a:t>
            </a:r>
            <a:r>
              <a:rPr/>
              <a:t> pushed aside</a:t>
            </a:r>
          </a:p>
          <a:p>
            <a:pPr lvl="0"/>
            <a:r>
              <a:rPr/>
              <a:t>Highest </a:t>
            </a:r>
            <a:r>
              <a:rPr i="1"/>
              <a:t>acuity</a:t>
            </a:r>
            <a:r>
              <a:rPr/>
              <a:t> vision == best for details</a:t>
            </a:r>
          </a:p>
          <a:p>
            <a:pPr lvl="0"/>
            <a:r>
              <a:rPr/>
              <a:t>Acuity varies from center to periphery</a:t>
            </a:r>
          </a:p>
        </p:txBody>
      </p:sp>
    </p:spTree>
  </p:cSld>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acuity-across-visual-field.jpg" id="0" name="Picture 1"/>
          <p:cNvPicPr>
            <a:picLocks noGrp="1" noChangeAspect="1"/>
          </p:cNvPicPr>
          <p:nvPr/>
        </p:nvPicPr>
        <p:blipFill>
          <a:blip r:embed="rId2"/>
          <a:stretch>
            <a:fillRect/>
          </a:stretch>
        </p:blipFill>
        <p:spPr bwMode="auto">
          <a:xfrm>
            <a:off x="2717800" y="1193800"/>
            <a:ext cx="3708400" cy="3390900"/>
          </a:xfrm>
          <a:prstGeom prst="rect">
            <a:avLst/>
          </a:prstGeom>
          <a:noFill/>
          <a:ln w="9525">
            <a:noFill/>
            <a:headEnd/>
            <a:tailEnd/>
          </a:ln>
        </p:spPr>
      </p:pic>
    </p:spTree>
  </p:cSld>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acuity-across-visual-field-graph.jpg" id="0" name="Picture 1"/>
          <p:cNvPicPr>
            <a:picLocks noGrp="1" noChangeAspect="1"/>
          </p:cNvPicPr>
          <p:nvPr/>
        </p:nvPicPr>
        <p:blipFill>
          <a:blip r:embed="rId2"/>
          <a:stretch>
            <a:fillRect/>
          </a:stretch>
        </p:blipFill>
        <p:spPr bwMode="auto">
          <a:xfrm>
            <a:off x="2628900" y="1193800"/>
            <a:ext cx="38989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http://michaeldmann.net/pix_7/blndspot.gif</a:t>
            </a:r>
          </a:p>
        </p:txBody>
      </p:sp>
    </p:spTree>
  </p:cSld>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part of the skin is like the fovea?</a:t>
            </a:r>
          </a:p>
        </p:txBody>
      </p:sp>
      <p:pic>
        <p:nvPicPr>
          <p:cNvPr descr="../include/img/two-point-thresholds.jpg" id="0" name="Picture 1"/>
          <p:cNvPicPr>
            <a:picLocks noGrp="1" noChangeAspect="1"/>
          </p:cNvPicPr>
          <p:nvPr/>
        </p:nvPicPr>
        <p:blipFill>
          <a:blip r:embed="rId2"/>
          <a:stretch>
            <a:fillRect/>
          </a:stretch>
        </p:blipFill>
        <p:spPr bwMode="auto">
          <a:xfrm>
            <a:off x="2501900" y="1193800"/>
            <a:ext cx="4127500" cy="3390900"/>
          </a:xfrm>
          <a:prstGeom prst="rect">
            <a:avLst/>
          </a:prstGeom>
          <a:noFill/>
          <a:ln w="9525">
            <a:noFill/>
            <a:headEnd/>
            <a:tailEnd/>
          </a:ln>
        </p:spPr>
      </p:pic>
    </p:spTree>
  </p:cSld>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i="1"/>
              <a:t>Photoreceptors</a:t>
            </a:r>
            <a:r>
              <a:rPr/>
              <a:t> in retina detect light</a:t>
            </a:r>
          </a:p>
        </p:txBody>
      </p:sp>
      <p:pic>
        <p:nvPicPr>
          <p:cNvPr descr="../include/img/photoreceptors.jpg" id="0" name="Picture 1"/>
          <p:cNvPicPr>
            <a:picLocks noGrp="1" noChangeAspect="1"/>
          </p:cNvPicPr>
          <p:nvPr/>
        </p:nvPicPr>
        <p:blipFill>
          <a:blip r:embed="rId2"/>
          <a:stretch>
            <a:fillRect/>
          </a:stretch>
        </p:blipFill>
        <p:spPr bwMode="auto">
          <a:xfrm>
            <a:off x="3187700" y="1193800"/>
            <a:ext cx="2768600" cy="3390900"/>
          </a:xfrm>
          <a:prstGeom prst="rect">
            <a:avLst/>
          </a:prstGeom>
          <a:noFill/>
          <a:ln w="9525">
            <a:noFill/>
            <a:headEnd/>
            <a:tailEnd/>
          </a:ln>
        </p:spPr>
      </p:pic>
    </p:spTree>
  </p:cSld>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i="1"/>
              <a:t>Rods</a:t>
            </a:r>
          </a:p>
          <a:p>
            <a:pPr lvl="1"/>
            <a:r>
              <a:rPr/>
              <a:t>~120 M/eye</a:t>
            </a:r>
          </a:p>
          <a:p>
            <a:pPr lvl="1"/>
            <a:r>
              <a:rPr/>
              <a:t>Mostly in periphery</a:t>
            </a:r>
          </a:p>
          <a:p>
            <a:pPr lvl="1"/>
            <a:r>
              <a:rPr/>
              <a:t>Active in low light conditions</a:t>
            </a:r>
          </a:p>
          <a:p>
            <a:pPr lvl="1"/>
            <a:r>
              <a:rPr/>
              <a:t>One wavelength range</a:t>
            </a:r>
          </a:p>
          <a:p>
            <a:pPr lvl="0"/>
            <a:r>
              <a:rPr i="1"/>
              <a:t>Cones</a:t>
            </a:r>
          </a:p>
          <a:p>
            <a:pPr lvl="1"/>
            <a:r>
              <a:rPr/>
              <a:t>~5 M/eye</a:t>
            </a:r>
          </a:p>
          <a:p>
            <a:pPr lvl="1"/>
            <a:r>
              <a:rPr/>
              <a:t>Mostly in center</a:t>
            </a:r>
          </a:p>
          <a:p>
            <a:pPr lvl="1"/>
            <a:r>
              <a:rPr/>
              <a:t>3 wavelength ranges</a:t>
            </a:r>
          </a:p>
        </p:txBody>
      </p:sp>
    </p:spTree>
  </p:cSld>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https://foundationsofvision.stanford.edu/wp-content/uploads/2012/02/rod.cone_.distribution2-1024x467.png" id="0" name="Picture 1"/>
          <p:cNvPicPr>
            <a:picLocks noGrp="1" noChangeAspect="1"/>
          </p:cNvPicPr>
          <p:nvPr/>
        </p:nvPicPr>
        <p:blipFill>
          <a:blip r:embed="rId2"/>
          <a:stretch>
            <a:fillRect/>
          </a:stretch>
        </p:blipFill>
        <p:spPr bwMode="auto">
          <a:xfrm>
            <a:off x="2413000" y="1193800"/>
            <a:ext cx="4318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https://foundationsofvision.stanford.edu/</a:t>
            </a:r>
          </a:p>
        </p:txBody>
      </p:sp>
    </p:spTree>
  </p:cSld>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1416_Color_Sensitivity.jpg" id="0" name="Picture 1"/>
          <p:cNvPicPr>
            <a:picLocks noGrp="1" noChangeAspect="1"/>
          </p:cNvPicPr>
          <p:nvPr/>
        </p:nvPicPr>
        <p:blipFill>
          <a:blip r:embed="rId2"/>
          <a:stretch>
            <a:fillRect/>
          </a:stretch>
        </p:blipFill>
        <p:spPr bwMode="auto">
          <a:xfrm>
            <a:off x="2362200" y="1193800"/>
            <a:ext cx="44196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http://cnx.org/content/col11496/1.6/</a:t>
            </a:r>
          </a:p>
        </p:txBody>
      </p:sp>
    </p:spTree>
  </p:cSld>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Photoreceptor physiology</a:t>
            </a:r>
          </a:p>
        </p:txBody>
      </p:sp>
      <p:sp>
        <p:nvSpPr>
          <p:cNvPr id="3" name="Content Placeholder 2"/>
          <p:cNvSpPr>
            <a:spLocks noGrp="1"/>
          </p:cNvSpPr>
          <p:nvPr>
            <p:ph idx="1"/>
          </p:nvPr>
        </p:nvSpPr>
        <p:spPr/>
        <p:txBody>
          <a:bodyPr/>
          <a:lstStyle/>
          <a:p>
            <a:pPr lvl="0"/>
            <a:r>
              <a:rPr/>
              <a:t>Outer segment</a:t>
            </a:r>
          </a:p>
          <a:p>
            <a:pPr lvl="1"/>
            <a:r>
              <a:rPr/>
              <a:t>Membrane disks</a:t>
            </a:r>
          </a:p>
          <a:p>
            <a:pPr lvl="1"/>
            <a:r>
              <a:rPr i="1"/>
              <a:t>Photopigments</a:t>
            </a:r>
          </a:p>
          <a:p>
            <a:pPr lvl="2"/>
            <a:r>
              <a:rPr/>
              <a:t>Sense light, trigger chemical cascade</a:t>
            </a:r>
          </a:p>
          <a:p>
            <a:pPr lvl="0"/>
            <a:r>
              <a:rPr/>
              <a:t>Inner segment</a:t>
            </a:r>
          </a:p>
          <a:p>
            <a:pPr lvl="1"/>
            <a:r>
              <a:rPr/>
              <a:t>Synaptic terminal</a:t>
            </a:r>
          </a:p>
          <a:p>
            <a:pPr lvl="0"/>
            <a:r>
              <a:rPr/>
              <a:t>Light </a:t>
            </a:r>
            <a:r>
              <a:rPr i="1"/>
              <a:t>hyperpolarizes</a:t>
            </a:r>
            <a:r>
              <a:rPr/>
              <a:t> photoreceptor!</a:t>
            </a:r>
          </a:p>
          <a:p>
            <a:pPr lvl="1"/>
            <a:r>
              <a:rPr/>
              <a:t>The </a:t>
            </a:r>
            <a:r>
              <a:rPr i="1"/>
              <a:t>dark current</a:t>
            </a:r>
          </a:p>
        </p:txBody>
      </p:sp>
    </p:spTree>
  </p:cSld>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Retina</a:t>
            </a:r>
          </a:p>
        </p:txBody>
      </p:sp>
      <p:sp>
        <p:nvSpPr>
          <p:cNvPr id="3" name="Content Placeholder 2"/>
          <p:cNvSpPr>
            <a:spLocks noGrp="1"/>
          </p:cNvSpPr>
          <p:nvPr>
            <p:ph idx="1"/>
          </p:nvPr>
        </p:nvSpPr>
        <p:spPr/>
        <p:txBody>
          <a:bodyPr/>
          <a:lstStyle/>
          <a:p>
            <a:pPr lvl="0"/>
            <a:r>
              <a:rPr/>
              <a:t>Physiologically </a:t>
            </a:r>
            <a:r>
              <a:rPr i="1"/>
              <a:t>backwards</a:t>
            </a:r>
          </a:p>
          <a:p>
            <a:pPr lvl="1"/>
            <a:r>
              <a:rPr/>
              <a:t>Dark current</a:t>
            </a:r>
          </a:p>
          <a:p>
            <a:pPr lvl="0"/>
            <a:r>
              <a:rPr/>
              <a:t>Anatomically </a:t>
            </a:r>
            <a:r>
              <a:rPr i="1"/>
              <a:t>inside-out</a:t>
            </a:r>
          </a:p>
          <a:p>
            <a:pPr lvl="1"/>
            <a:r>
              <a:rPr/>
              <a:t>Photoreceptors at back of eye</a:t>
            </a:r>
          </a:p>
        </p:txBody>
      </p:sp>
    </p:spTree>
  </p:cSld>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retinal-layers.jpg" id="0" name="Picture 1"/>
          <p:cNvPicPr>
            <a:picLocks noGrp="1" noChangeAspect="1"/>
          </p:cNvPicPr>
          <p:nvPr/>
        </p:nvPicPr>
        <p:blipFill>
          <a:blip r:embed="rId2"/>
          <a:stretch>
            <a:fillRect/>
          </a:stretch>
        </p:blipFill>
        <p:spPr bwMode="auto">
          <a:xfrm>
            <a:off x="2908300" y="1193800"/>
            <a:ext cx="33274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http://www.retinareference.com/anatomy/</a:t>
            </a:r>
          </a:p>
        </p:txBody>
      </p:sp>
    </p:spTree>
  </p:cSld>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Retina</a:t>
            </a:r>
          </a:p>
        </p:txBody>
      </p:sp>
      <p:sp>
        <p:nvSpPr>
          <p:cNvPr id="3" name="Content Placeholder 2"/>
          <p:cNvSpPr>
            <a:spLocks noGrp="1"/>
          </p:cNvSpPr>
          <p:nvPr>
            <p:ph idx="1"/>
          </p:nvPr>
        </p:nvSpPr>
        <p:spPr/>
        <p:txBody>
          <a:bodyPr/>
          <a:lstStyle/>
          <a:p>
            <a:pPr lvl="0"/>
            <a:r>
              <a:rPr/>
              <a:t>Information flows…</a:t>
            </a:r>
          </a:p>
          <a:p>
            <a:pPr lvl="1"/>
            <a:r>
              <a:rPr/>
              <a:t>From photoreceptors…</a:t>
            </a:r>
          </a:p>
          <a:p>
            <a:pPr lvl="1"/>
            <a:r>
              <a:rPr/>
              <a:t>To </a:t>
            </a:r>
            <a:r>
              <a:rPr i="1"/>
              <a:t>Bipolar cells</a:t>
            </a:r>
          </a:p>
          <a:p>
            <a:pPr lvl="2"/>
            <a:r>
              <a:rPr/>
              <a:t>&lt;-&gt; and </a:t>
            </a:r>
            <a:r>
              <a:rPr i="1"/>
              <a:t>Horizontal cells</a:t>
            </a:r>
          </a:p>
          <a:p>
            <a:pPr lvl="1"/>
            <a:r>
              <a:rPr/>
              <a:t>To </a:t>
            </a:r>
            <a:r>
              <a:rPr i="1"/>
              <a:t>Retinal ganglion cells</a:t>
            </a:r>
          </a:p>
          <a:p>
            <a:pPr lvl="2"/>
            <a:r>
              <a:rPr/>
              <a:t>&lt;-&gt; and </a:t>
            </a:r>
            <a:r>
              <a:rPr i="1"/>
              <a:t>Amacrine cells</a:t>
            </a:r>
          </a:p>
          <a:p>
            <a:pPr lvl="1"/>
            <a:r>
              <a:rPr/>
              <a:t>To cerebral cortex</a:t>
            </a:r>
          </a:p>
        </p:txBody>
      </p:sp>
    </p:spTree>
  </p:cSld>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Center-surround receptive fields</a:t>
            </a:r>
          </a:p>
        </p:txBody>
      </p:sp>
      <p:pic>
        <p:nvPicPr>
          <p:cNvPr descr="../include/img/on-center-off-center-receptive-fields.jpg" id="0" name="Picture 1"/>
          <p:cNvPicPr>
            <a:picLocks noGrp="1" noChangeAspect="1"/>
          </p:cNvPicPr>
          <p:nvPr/>
        </p:nvPicPr>
        <p:blipFill>
          <a:blip r:embed="rId2"/>
          <a:stretch>
            <a:fillRect/>
          </a:stretch>
        </p:blipFill>
        <p:spPr bwMode="auto">
          <a:xfrm>
            <a:off x="3162300" y="1193800"/>
            <a:ext cx="2819400" cy="3390900"/>
          </a:xfrm>
          <a:prstGeom prst="rect">
            <a:avLst/>
          </a:prstGeom>
          <a:noFill/>
          <a:ln w="9525">
            <a:noFill/>
            <a:headEnd/>
            <a:tailEnd/>
          </a:ln>
        </p:spPr>
      </p:pic>
    </p:spTree>
  </p:cSld>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Center region</a:t>
            </a:r>
          </a:p>
          <a:p>
            <a:pPr lvl="1"/>
            <a:r>
              <a:rPr/>
              <a:t>Excites (or inhibits)</a:t>
            </a:r>
          </a:p>
          <a:p>
            <a:pPr lvl="0"/>
            <a:r>
              <a:rPr/>
              <a:t>Surround region</a:t>
            </a:r>
          </a:p>
          <a:p>
            <a:pPr lvl="1"/>
            <a:r>
              <a:rPr/>
              <a:t>Does the opposite</a:t>
            </a:r>
          </a:p>
          <a:p>
            <a:pPr lvl="0"/>
            <a:r>
              <a:rPr/>
              <a:t>Bipolar cells &amp; Retinal Ganglion cells -&gt;</a:t>
            </a:r>
          </a:p>
          <a:p>
            <a:pPr lvl="0"/>
            <a:r>
              <a:rPr/>
              <a:t>Most activated by “donuts” of light/dark</a:t>
            </a:r>
          </a:p>
          <a:p>
            <a:pPr lvl="1"/>
            <a:r>
              <a:rPr/>
              <a:t>Local contrast (light/dark differences)</a:t>
            </a:r>
          </a:p>
        </p:txBody>
      </p:sp>
    </p:spTree>
  </p:cSld>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Opponent processing</a:t>
            </a:r>
          </a:p>
        </p:txBody>
      </p:sp>
      <p:pic>
        <p:nvPicPr>
          <p:cNvPr descr="../include/img/RGBOpponent.gif" id="0" name="Picture 1"/>
          <p:cNvPicPr>
            <a:picLocks noGrp="1" noChangeAspect="1"/>
          </p:cNvPicPr>
          <p:nvPr/>
        </p:nvPicPr>
        <p:blipFill>
          <a:blip r:embed="rId2"/>
          <a:stretch>
            <a:fillRect/>
          </a:stretch>
        </p:blipFill>
        <p:spPr bwMode="auto">
          <a:xfrm>
            <a:off x="1905000" y="1193800"/>
            <a:ext cx="5334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http://www.visualexpert.com/sbfaqimages/RGBOpponent.gif</a:t>
            </a:r>
          </a:p>
        </p:txBody>
      </p:sp>
      <p:sp>
        <p:nvSpPr>
          <p:cNvPr id="3" name="Content Placeholder 2"/>
          <p:cNvSpPr>
            <a:spLocks noGrp="1"/>
          </p:cNvSpPr>
          <p:nvPr>
            <p:ph idx="1"/>
          </p:nvPr>
        </p:nvSpPr>
        <p:spPr/>
        <p:txBody>
          <a:bodyPr/>
          <a:lstStyle/>
          <a:p>
            <a:pPr lvl="0"/>
            <a:r>
              <a:rPr/>
              <a:t>Black (darker) vs. white (lighter) (achromatic)</a:t>
            </a:r>
          </a:p>
          <a:p>
            <a:pPr lvl="0"/>
            <a:r>
              <a:rPr/>
              <a:t>Long (red) vs. Medium (green) wavelength cones</a:t>
            </a:r>
          </a:p>
          <a:p>
            <a:pPr lvl="0"/>
            <a:r>
              <a:rPr/>
              <a:t>(Long + Medium) vs. Short cones</a:t>
            </a:r>
          </a:p>
          <a:p>
            <a:pPr lvl="0"/>
            <a:r>
              <a:rPr/>
              <a:t>Can’t really see reddish-green or bluish-yellow</a:t>
            </a:r>
          </a:p>
          <a:p>
            <a:pPr lvl="1"/>
            <a:r>
              <a:rPr/>
              <a:t>“Oppose” one another at cellular/circuit level</a:t>
            </a:r>
          </a:p>
          <a:p>
            <a:pPr lvl="1"/>
            <a:r>
              <a:rPr>
                <a:hlinkClick r:id="rId3"/>
              </a:rPr>
              <a:t>DEMO</a:t>
            </a:r>
          </a:p>
        </p:txBody>
      </p:sp>
    </p:spTree>
  </p:cSld>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eye to brain</a:t>
            </a:r>
          </a:p>
        </p:txBody>
      </p:sp>
      <p:pic>
        <p:nvPicPr>
          <p:cNvPr descr="../include/img/eye-to-brain.jpg" id="0" name="Picture 1"/>
          <p:cNvPicPr>
            <a:picLocks noGrp="1" noChangeAspect="1"/>
          </p:cNvPicPr>
          <p:nvPr/>
        </p:nvPicPr>
        <p:blipFill>
          <a:blip r:embed="rId2"/>
          <a:stretch>
            <a:fillRect/>
          </a:stretch>
        </p:blipFill>
        <p:spPr bwMode="auto">
          <a:xfrm>
            <a:off x="2044700" y="1193800"/>
            <a:ext cx="5054600" cy="3390900"/>
          </a:xfrm>
          <a:prstGeom prst="rect">
            <a:avLst/>
          </a:prstGeom>
          <a:noFill/>
          <a:ln w="9525">
            <a:noFill/>
            <a:headEnd/>
            <a:tailEnd/>
          </a:ln>
        </p:spPr>
      </p:pic>
    </p:spTree>
  </p:cSld>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p:txBody>
              <a:bodyPr/>
              <a:lstStyle/>
              <a:p>
                <a:pPr lvl="0"/>
                <a:r>
                  <a:rPr/>
                  <a:t>Retinal ganglion cells</a:t>
                </a:r>
              </a:p>
              <a:p>
                <a:pPr lvl="0"/>
                <a:r>
                  <a:rPr/>
                  <a:t>2nd/II cranial (optic) nerve</a:t>
                </a:r>
              </a:p>
              <a:p>
                <a:pPr lvl="1"/>
                <a:r>
                  <a:rPr/>
                  <a:t>Optic chiasm (</a:t>
                </a:r>
                <a14:m>
                  <m:oMath xmlns:m="http://schemas.openxmlformats.org/officeDocument/2006/math">
                    <m:r>
                      <m:t>χ</m:t>
                    </m:r>
                  </m:oMath>
                </a14:m>
                <a:r>
                  <a:rPr/>
                  <a:t> - asm): Partial crossing of fibers</a:t>
                </a:r>
              </a:p>
              <a:p>
                <a:pPr lvl="1"/>
                <a:r>
                  <a:rPr/>
                  <a:t>Nasal hemiretina (lateral/peripheral visual field) cross</a:t>
                </a:r>
              </a:p>
              <a:p>
                <a:pPr lvl="1"/>
                <a:r>
                  <a:rPr/>
                  <a:t>Left visual field (from L &amp; R retinae) -&gt; right hemisphere &amp; vice versa</a:t>
                </a:r>
              </a:p>
              <a:p>
                <a:pPr lvl="0"/>
                <a:r>
                  <a:rPr i="1"/>
                  <a:t>Lateral Geniculate Nucleus (LGN)</a:t>
                </a:r>
                <a:r>
                  <a:rPr/>
                  <a:t> of thalamus (receives 90% of retinal projections)</a:t>
                </a:r>
              </a:p>
              <a:p>
                <a:pPr lvl="0"/>
                <a:r>
                  <a:rPr/>
                  <a:t>Hypothalamus</a:t>
                </a:r>
              </a:p>
              <a:p>
                <a:pPr lvl="1"/>
                <a:r>
                  <a:rPr i="1"/>
                  <a:t>Suprachiasmatic nucleus</a:t>
                </a:r>
                <a:r>
                  <a:rPr/>
                  <a:t> (superior to the optic chiasm): Synchronizes day/night cycle with circadian rhythms</a:t>
                </a:r>
              </a:p>
              <a:p>
                <a:pPr lvl="0"/>
                <a:r>
                  <a:rPr/>
                  <a:t>Superior colliculus &amp; brainstem</a:t>
                </a:r>
              </a:p>
            </p:txBody>
          </p:sp>
        </mc:Choice>
      </mc:AlternateContent>
    </p:spTree>
  </p:cSld>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LGN</a:t>
            </a:r>
          </a:p>
        </p:txBody>
      </p:sp>
      <p:pic>
        <p:nvPicPr>
          <p:cNvPr descr="../include/img/lgn.jpg" id="0" name="Picture 1"/>
          <p:cNvPicPr>
            <a:picLocks noGrp="1" noChangeAspect="1"/>
          </p:cNvPicPr>
          <p:nvPr/>
        </p:nvPicPr>
        <p:blipFill>
          <a:blip r:embed="rId2"/>
          <a:stretch>
            <a:fillRect/>
          </a:stretch>
        </p:blipFill>
        <p:spPr bwMode="auto">
          <a:xfrm>
            <a:off x="2667000" y="1193800"/>
            <a:ext cx="3810000" cy="3390900"/>
          </a:xfrm>
          <a:prstGeom prst="rect">
            <a:avLst/>
          </a:prstGeom>
          <a:noFill/>
          <a:ln w="9525">
            <a:noFill/>
            <a:headEnd/>
            <a:tailEnd/>
          </a:ln>
        </p:spPr>
      </p:pic>
    </p:spTree>
  </p:cSld>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idx="2" sz="half" type="body"/>
          </p:nvPr>
        </p:nvSpPr>
        <p:spPr/>
        <p:txBody>
          <a:bodyPr/>
          <a:lstStyle/>
          <a:p>
            <a:pPr lvl="0"/>
            <a:r>
              <a:rPr/>
              <a:t>6 layers + intralaminar zone</a:t>
            </a:r>
          </a:p>
          <a:p>
            <a:pPr lvl="1"/>
            <a:r>
              <a:rPr/>
              <a:t>Parvocellular (small cells): chromatic</a:t>
            </a:r>
          </a:p>
          <a:p>
            <a:pPr lvl="1"/>
            <a:r>
              <a:rPr/>
              <a:t>Magnocellular (big cells): achromatic</a:t>
            </a:r>
          </a:p>
          <a:p>
            <a:pPr lvl="1"/>
            <a:r>
              <a:rPr/>
              <a:t>Koniocellular (chromatic - short wavelength?)</a:t>
            </a:r>
          </a:p>
          <a:p>
            <a:pPr lvl="0"/>
            <a:r>
              <a:rPr/>
              <a:t>Retinotopic map of opposite visual field</a:t>
            </a:r>
          </a:p>
          <a:p>
            <a:pPr lvl="0" indent="0" marL="0">
              <a:spcBef>
                <a:spcPts val="3000"/>
              </a:spcBef>
              <a:buNone/>
            </a:pPr>
            <a:r>
              <a:rPr b="1"/>
              <a:t>From LGN to V1</a:t>
            </a:r>
          </a:p>
        </p:txBody>
      </p:sp>
      <p:pic>
        <p:nvPicPr>
          <p:cNvPr descr="../include/img/eye-to-brain.jpg" id="0" name="Picture 1"/>
          <p:cNvPicPr>
            <a:picLocks noGrp="1" noChangeAspect="1"/>
          </p:cNvPicPr>
          <p:nvPr/>
        </p:nvPicPr>
        <p:blipFill>
          <a:blip r:embed="rId2"/>
          <a:stretch>
            <a:fillRect/>
          </a:stretch>
        </p:blipFill>
        <p:spPr bwMode="auto">
          <a:xfrm>
            <a:off x="3568700" y="685800"/>
            <a:ext cx="5105400" cy="3429000"/>
          </a:xfrm>
          <a:prstGeom prst="rect">
            <a:avLst/>
          </a:prstGeom>
          <a:noFill/>
          <a:ln w="9525">
            <a:noFill/>
            <a:headEnd/>
            <a:tailEnd/>
          </a:ln>
        </p:spPr>
      </p:pic>
    </p:spTree>
  </p:cSld>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Via </a:t>
            </a:r>
            <a:r>
              <a:rPr i="1"/>
              <a:t>optic radiations</a:t>
            </a:r>
          </a:p>
          <a:p>
            <a:pPr lvl="0"/>
            <a:r>
              <a:rPr i="1">
                <a:hlinkClick r:id="rId2"/>
              </a:rPr>
              <a:t>Primary visual cortex (V1)</a:t>
            </a:r>
            <a:r>
              <a:rPr/>
              <a:t> in occipital lobe</a:t>
            </a:r>
          </a:p>
          <a:p>
            <a:pPr lvl="0"/>
            <a:r>
              <a:rPr/>
              <a:t>Create “stria of Gennari” (visible stripe in layer 4)</a:t>
            </a:r>
          </a:p>
          <a:p>
            <a:pPr lvl="0"/>
            <a:r>
              <a:rPr/>
              <a:t>Calcarine fissure (medial occiptal lobe) divides lower/upper visual field</a:t>
            </a:r>
          </a:p>
        </p:txBody>
      </p:sp>
    </p:spTree>
  </p:cSld>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Human V1</a:t>
            </a:r>
          </a:p>
        </p:txBody>
      </p:sp>
      <p:pic>
        <p:nvPicPr>
          <p:cNvPr descr="http://www.scholarpedia.org/w/images/3/3a/03-Human-V1.png" id="0" name="Picture 1"/>
          <p:cNvPicPr>
            <a:picLocks noGrp="1" noChangeAspect="1"/>
          </p:cNvPicPr>
          <p:nvPr/>
        </p:nvPicPr>
        <p:blipFill>
          <a:blip r:embed="rId2"/>
          <a:stretch>
            <a:fillRect/>
          </a:stretch>
        </p:blipFill>
        <p:spPr bwMode="auto">
          <a:xfrm>
            <a:off x="1485900" y="1193800"/>
            <a:ext cx="6172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http://www.scholarpedia.org/w/images/3/3a/03-Human-V1.png</a:t>
            </a:r>
          </a:p>
        </p:txBody>
      </p:sp>
      <p:pic>
        <p:nvPicPr>
          <p:cNvPr descr="../include/img/mri-v1-retinotopy.jpg" id="0" name="Picture 1"/>
          <p:cNvPicPr>
            <a:picLocks noGrp="1" noChangeAspect="1"/>
          </p:cNvPicPr>
          <p:nvPr/>
        </p:nvPicPr>
        <p:blipFill>
          <a:blip r:embed="rId3"/>
          <a:stretch>
            <a:fillRect/>
          </a:stretch>
        </p:blipFill>
        <p:spPr bwMode="auto">
          <a:xfrm>
            <a:off x="2057400" y="1193800"/>
            <a:ext cx="50292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(Dougherty et al., 2003)</a:t>
            </a:r>
          </a:p>
        </p:txBody>
      </p:sp>
      <p:sp>
        <p:nvSpPr>
          <p:cNvPr id="3" name="Content Placeholder 2"/>
          <p:cNvSpPr>
            <a:spLocks noGrp="1"/>
          </p:cNvSpPr>
          <p:nvPr>
            <p:ph idx="1"/>
          </p:nvPr>
        </p:nvSpPr>
        <p:spPr/>
        <p:txBody>
          <a:bodyPr/>
          <a:lstStyle/>
          <a:p>
            <a:pPr lvl="0"/>
            <a:r>
              <a:rPr/>
              <a:t>Fovea overrepresented</a:t>
            </a:r>
          </a:p>
          <a:p>
            <a:pPr lvl="1"/>
            <a:r>
              <a:rPr/>
              <a:t>Analogous to somatosensation</a:t>
            </a:r>
          </a:p>
          <a:p>
            <a:pPr lvl="1"/>
            <a:r>
              <a:rPr/>
              <a:t>High acuity in fovea vs. lower outside it</a:t>
            </a:r>
          </a:p>
          <a:p>
            <a:pPr lvl="0"/>
            <a:r>
              <a:rPr/>
              <a:t>Upper visual field/lower (ventral) V1 and </a:t>
            </a:r>
            <a:r>
              <a:rPr i="1"/>
              <a:t>vice versa</a:t>
            </a:r>
          </a:p>
        </p:txBody>
      </p:sp>
    </p:spTree>
  </p:cSld>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Laminar, columnar organization</a:t>
            </a:r>
          </a:p>
        </p:txBody>
      </p:sp>
      <p:pic>
        <p:nvPicPr>
          <p:cNvPr descr="../include/img/cortical-hypercolumn.jpg" id="0" name="Picture 1"/>
          <p:cNvPicPr>
            <a:picLocks noGrp="1" noChangeAspect="1"/>
          </p:cNvPicPr>
          <p:nvPr/>
        </p:nvPicPr>
        <p:blipFill>
          <a:blip r:embed="rId2"/>
          <a:stretch>
            <a:fillRect/>
          </a:stretch>
        </p:blipFill>
        <p:spPr bwMode="auto">
          <a:xfrm>
            <a:off x="2603500" y="1193800"/>
            <a:ext cx="3937000" cy="3390900"/>
          </a:xfrm>
          <a:prstGeom prst="rect">
            <a:avLst/>
          </a:prstGeom>
          <a:noFill/>
          <a:ln w="9525">
            <a:noFill/>
            <a:headEnd/>
            <a:tailEnd/>
          </a:ln>
        </p:spPr>
      </p:pic>
    </p:spTree>
  </p:cSld>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6 laminae (layers)</a:t>
            </a:r>
          </a:p>
          <a:p>
            <a:pPr lvl="1"/>
            <a:r>
              <a:rPr/>
              <a:t>Input: Layer 4 (remember stria of Gennari?)</a:t>
            </a:r>
          </a:p>
          <a:p>
            <a:pPr lvl="1"/>
            <a:r>
              <a:rPr/>
              <a:t>Output: Layers 2-3 (to cortex), 5 (to brainstem), 6 (to LGN)</a:t>
            </a:r>
          </a:p>
          <a:p>
            <a:pPr lvl="0"/>
            <a:r>
              <a:rPr/>
              <a:t>Columns</a:t>
            </a:r>
          </a:p>
          <a:p>
            <a:pPr lvl="1"/>
            <a:r>
              <a:rPr/>
              <a:t>Orientation/angle</a:t>
            </a:r>
          </a:p>
          <a:p>
            <a:pPr lvl="1"/>
            <a:r>
              <a:rPr/>
              <a:t>Spatial frequency</a:t>
            </a:r>
          </a:p>
          <a:p>
            <a:pPr lvl="1"/>
            <a:r>
              <a:rPr/>
              <a:t>Color/wavelength</a:t>
            </a:r>
          </a:p>
          <a:p>
            <a:pPr lvl="1"/>
            <a:r>
              <a:rPr/>
              <a:t>Eye of origin, </a:t>
            </a:r>
            <a:r>
              <a:rPr i="1"/>
              <a:t>ocular dominance</a:t>
            </a:r>
          </a:p>
        </p:txBody>
      </p:sp>
    </p:spTree>
  </p:cSld>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dir.selective.png" id="0" name="Picture 1"/>
          <p:cNvPicPr>
            <a:picLocks noGrp="1" noChangeAspect="1"/>
          </p:cNvPicPr>
          <p:nvPr/>
        </p:nvPicPr>
        <p:blipFill>
          <a:blip r:embed="rId2"/>
          <a:stretch>
            <a:fillRect/>
          </a:stretch>
        </p:blipFill>
        <p:spPr bwMode="auto">
          <a:xfrm>
            <a:off x="3238500" y="1193800"/>
            <a:ext cx="2667000" cy="28829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https://foundationsofvision.stanford.edu/wp-content/uploads/2012/02/dir.selective.png</a:t>
            </a:r>
          </a:p>
        </p:txBody>
      </p:sp>
    </p:spTree>
  </p:cSld>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From center-surround receptive fields to line detection</a:t>
            </a:r>
          </a:p>
        </p:txBody>
      </p:sp>
      <p:pic>
        <p:nvPicPr>
          <p:cNvPr descr="http://www.scholarpedia.org/w/images/9/99/11-Hubel-Wiesel-model.png" id="0" name="Picture 1"/>
          <p:cNvPicPr>
            <a:picLocks noGrp="1" noChangeAspect="1"/>
          </p:cNvPicPr>
          <p:nvPr/>
        </p:nvPicPr>
        <p:blipFill>
          <a:blip r:embed="rId2"/>
          <a:stretch>
            <a:fillRect/>
          </a:stretch>
        </p:blipFill>
        <p:spPr bwMode="auto">
          <a:xfrm>
            <a:off x="1041400" y="1193800"/>
            <a:ext cx="7061200" cy="3390900"/>
          </a:xfrm>
          <a:prstGeom prst="rect">
            <a:avLst/>
          </a:prstGeom>
          <a:noFill/>
          <a:ln w="9525">
            <a:noFill/>
            <a:headEnd/>
            <a:tailEnd/>
          </a:ln>
        </p:spPr>
      </p:pic>
    </p:spTree>
  </p:cSld>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descr="../include/img/spatial-freq-fpsyg-03-00620-g003.jpg" id="0" name="Picture 1"/>
          <p:cNvPicPr>
            <a:picLocks noGrp="1" noChangeAspect="1"/>
          </p:cNvPicPr>
          <p:nvPr/>
        </p:nvPicPr>
        <p:blipFill>
          <a:blip r:embed="rId2"/>
          <a:stretch>
            <a:fillRect/>
          </a:stretch>
        </p:blipFill>
        <p:spPr bwMode="auto">
          <a:xfrm>
            <a:off x="457200" y="1409700"/>
            <a:ext cx="8229600" cy="2438400"/>
          </a:xfrm>
          <a:prstGeom prst="rect">
            <a:avLst/>
          </a:prstGeom>
          <a:noFill/>
          <a:ln w="9525">
            <a:noFill/>
            <a:headEnd/>
            <a:tailEnd/>
          </a:ln>
        </p:spPr>
      </p:pic>
      <p:sp>
        <p:nvSpPr>
          <p:cNvPr id="1" name="TextBox 3"/>
          <p:cNvSpPr txBox="1"/>
          <p:nvPr/>
        </p:nvSpPr>
        <p:spPr>
          <a:xfrm>
            <a:off x="457200" y="4076700"/>
            <a:ext cx="8229600" cy="508000"/>
          </a:xfrm>
          <a:prstGeom prst="rect">
            <a:avLst/>
          </a:prstGeom>
          <a:noFill/>
        </p:spPr>
        <p:txBody>
          <a:bodyPr/>
          <a:lstStyle/>
          <a:p>
            <a:pPr lvl="0" indent="0" marL="0" algn="ctr">
              <a:buNone/>
            </a:pPr>
            <a:r>
              <a:rPr/>
              <a:t>(Panichello et al., 2013)</a:t>
            </a:r>
          </a:p>
        </p:txBody>
      </p:sp>
    </p:spTree>
  </p:cSld>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Ocular dominance columns</a:t>
            </a:r>
          </a:p>
        </p:txBody>
      </p:sp>
      <p:pic>
        <p:nvPicPr>
          <p:cNvPr descr="../include/img/cortical-hypercolumn.jpg" id="0" name="Picture 1"/>
          <p:cNvPicPr>
            <a:picLocks noGrp="1" noChangeAspect="1"/>
          </p:cNvPicPr>
          <p:nvPr/>
        </p:nvPicPr>
        <p:blipFill>
          <a:blip r:embed="rId2"/>
          <a:stretch>
            <a:fillRect/>
          </a:stretch>
        </p:blipFill>
        <p:spPr bwMode="auto">
          <a:xfrm>
            <a:off x="2603500" y="1193800"/>
            <a:ext cx="3937000" cy="3390900"/>
          </a:xfrm>
          <a:prstGeom prst="rect">
            <a:avLst/>
          </a:prstGeom>
          <a:noFill/>
          <a:ln w="9525">
            <a:noFill/>
            <a:headEnd/>
            <a:tailEnd/>
          </a:ln>
        </p:spPr>
      </p:pic>
    </p:spTree>
  </p:cSld>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Beyond V1</a:t>
            </a:r>
          </a:p>
        </p:txBody>
      </p:sp>
      <p:pic>
        <p:nvPicPr>
          <p:cNvPr descr="../include/img/beyond-v1.jpg" id="0" name="Picture 1"/>
          <p:cNvPicPr>
            <a:picLocks noGrp="1" noChangeAspect="1"/>
          </p:cNvPicPr>
          <p:nvPr/>
        </p:nvPicPr>
        <p:blipFill>
          <a:blip r:embed="rId2"/>
          <a:stretch>
            <a:fillRect/>
          </a:stretch>
        </p:blipFill>
        <p:spPr bwMode="auto">
          <a:xfrm>
            <a:off x="3327400" y="1193800"/>
            <a:ext cx="2476500" cy="3390900"/>
          </a:xfrm>
          <a:prstGeom prst="rect">
            <a:avLst/>
          </a:prstGeom>
          <a:noFill/>
          <a:ln w="9525">
            <a:noFill/>
            <a:headEnd/>
            <a:tailEnd/>
          </a:ln>
        </p:spPr>
      </p:pic>
    </p:spTree>
  </p:cSld>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a:t>Larger, more complex receptive fields</a:t>
            </a:r>
          </a:p>
          <a:p>
            <a:pPr lvl="0"/>
            <a:r>
              <a:rPr i="1"/>
              <a:t>Dorsal stream</a:t>
            </a:r>
            <a:r>
              <a:rPr/>
              <a:t> (where/how)</a:t>
            </a:r>
          </a:p>
          <a:p>
            <a:pPr lvl="1"/>
            <a:r>
              <a:rPr/>
              <a:t>Toward parietal lobe</a:t>
            </a:r>
          </a:p>
          <a:p>
            <a:pPr lvl="0"/>
            <a:r>
              <a:rPr i="1"/>
              <a:t>Ventral stream</a:t>
            </a:r>
            <a:r>
              <a:rPr/>
              <a:t> (what)</a:t>
            </a:r>
          </a:p>
        </p:txBody>
      </p:sp>
    </p:spTree>
  </p:cSld>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What is vision for?</a:t>
            </a:r>
          </a:p>
        </p:txBody>
      </p:sp>
      <p:sp>
        <p:nvSpPr>
          <p:cNvPr id="3" name="Content Placeholder 2"/>
          <p:cNvSpPr>
            <a:spLocks noGrp="1"/>
          </p:cNvSpPr>
          <p:nvPr>
            <p:ph idx="1"/>
          </p:nvPr>
        </p:nvSpPr>
        <p:spPr/>
        <p:txBody>
          <a:bodyPr/>
          <a:lstStyle/>
          <a:p>
            <a:pPr lvl="0"/>
            <a:r>
              <a:rPr/>
              <a:t>What is it? (form perception)</a:t>
            </a:r>
          </a:p>
          <a:p>
            <a:pPr lvl="0"/>
            <a:r>
              <a:rPr/>
              <a:t>Where is it? (space perception)</a:t>
            </a:r>
          </a:p>
          <a:p>
            <a:pPr lvl="0"/>
            <a:r>
              <a:rPr/>
              <a:t>How do I get from here to there (action control)</a:t>
            </a:r>
          </a:p>
          <a:p>
            <a:pPr lvl="0"/>
            <a:r>
              <a:rPr/>
              <a:t>What time (or time of year) is it?</a:t>
            </a:r>
          </a:p>
        </p:txBody>
      </p:sp>
    </p:spTree>
  </p:cSld>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Somatosensation</a:t>
            </a:r>
          </a:p>
        </p:txBody>
      </p:sp>
    </p:spTree>
  </p:cSld>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Wrap-up</a:t>
            </a:r>
          </a:p>
        </p:txBody>
      </p:sp>
    </p:spTree>
  </p:cSld>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Main points</a:t>
            </a:r>
          </a:p>
        </p:txBody>
      </p:sp>
    </p:spTree>
  </p:cSld>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Next time</a:t>
            </a:r>
          </a:p>
        </p:txBody>
      </p:sp>
    </p:spTree>
  </p:cSld>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22313" y="3305176"/>
            <a:ext cx="7772400" cy="1021556"/>
          </a:xfrm>
        </p:spPr>
        <p:txBody>
          <a:bodyPr/>
          <a:lstStyle/>
          <a:p>
            <a:pPr lvl="0" indent="0" marL="0">
              <a:buNone/>
            </a:pPr>
            <a:r>
              <a:rPr/>
              <a:t>Resources</a:t>
            </a:r>
          </a:p>
        </p:txBody>
      </p:sp>
    </p:spTree>
  </p:cSld>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About</a:t>
            </a:r>
          </a:p>
        </p:txBody>
      </p:sp>
      <p:sp>
        <p:nvSpPr>
          <p:cNvPr id="3" name="Content Placeholder 2"/>
          <p:cNvSpPr>
            <a:spLocks noGrp="1"/>
          </p:cNvSpPr>
          <p:nvPr>
            <p:ph idx="1"/>
          </p:nvPr>
        </p:nvSpPr>
        <p:spPr/>
        <p:txBody>
          <a:bodyPr/>
          <a:lstStyle/>
          <a:p>
            <a:pPr lvl="0" indent="0" marL="0">
              <a:buNone/>
            </a:pPr>
            <a:r>
              <a:rPr/>
              <a:t>This talk was produced using </a:t>
            </a:r>
            <a:r>
              <a:rPr>
                <a:hlinkClick r:id="rId2"/>
              </a:rPr>
              <a:t>Quarto</a:t>
            </a:r>
            <a:r>
              <a:rPr/>
              <a:t>, using the </a:t>
            </a:r>
            <a:r>
              <a:rPr>
                <a:hlinkClick r:id="rId3"/>
              </a:rPr>
              <a:t>RStudio</a:t>
            </a:r>
            <a:r>
              <a:rPr/>
              <a:t> Integrated Development Environment (IDE), version 2026.1.0.392.</a:t>
            </a:r>
          </a:p>
          <a:p>
            <a:pPr lvl="0" indent="0" marL="0">
              <a:buNone/>
            </a:pPr>
            <a:r>
              <a:rPr/>
              <a:t>The source files are in R and R Markdown, then rendered to HTML using the </a:t>
            </a:r>
            <a:r>
              <a:rPr>
                <a:hlinkClick r:id="rId4"/>
              </a:rPr>
              <a:t>revealJS</a:t>
            </a:r>
            <a:r>
              <a:rPr/>
              <a:t> framework. The HTML slides are hosted in a </a:t>
            </a:r>
            <a:r>
              <a:rPr>
                <a:hlinkClick r:id="rId5"/>
              </a:rPr>
              <a:t>GitHub repo</a:t>
            </a:r>
            <a:r>
              <a:rPr/>
              <a:t> and served by GitHub pages: </a:t>
            </a:r>
            <a:r>
              <a:rPr>
                <a:hlinkClick r:id="rId6"/>
              </a:rPr>
              <a:t>https://psu-psychology.github.io/psy-511-scan-fdns-2026-spring/</a:t>
            </a:r>
          </a:p>
        </p:txBody>
      </p:sp>
    </p:spTree>
  </p:cSld>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lvl="0" indent="0" marL="0">
              <a:buNone/>
            </a:pPr>
            <a:r>
              <a:rPr/>
              <a:t>References</a:t>
            </a:r>
          </a:p>
        </p:txBody>
      </p:sp>
      <p:sp>
        <p:nvSpPr>
          <p:cNvPr id="3" name="Content Placeholder 2"/>
          <p:cNvSpPr>
            <a:spLocks noGrp="1"/>
          </p:cNvSpPr>
          <p:nvPr>
            <p:ph idx="1"/>
          </p:nvPr>
        </p:nvSpPr>
        <p:spPr/>
        <p:txBody>
          <a:bodyPr/>
          <a:lstStyle/>
          <a:p>
            <a:pPr lvl="0" indent="0" marL="0">
              <a:buNone/>
            </a:pPr>
            <a:r>
              <a:rPr/>
              <a:t>Alonso, J.-M., &amp; Chen, Y. (2009). Receptive field. </a:t>
            </a:r>
            <a:r>
              <a:rPr i="1"/>
              <a:t>Scholarpedia Journal</a:t>
            </a:r>
            <a:r>
              <a:rPr/>
              <a:t>, </a:t>
            </a:r>
            <a:r>
              <a:rPr i="1"/>
              <a:t>4</a:t>
            </a:r>
            <a:r>
              <a:rPr/>
              <a:t>, 5393. </a:t>
            </a:r>
            <a:r>
              <a:rPr>
                <a:hlinkClick r:id="rId2"/>
              </a:rPr>
              <a:t>https://doi.org/10.4249/scholarpedia.5393</a:t>
            </a:r>
          </a:p>
          <a:p>
            <a:pPr lvl="0" indent="0" marL="0">
              <a:buNone/>
            </a:pPr>
            <a:r>
              <a:rPr/>
              <a:t>Chandrashekar, J., Hoon, M. A., Ryba, N. J. P., &amp; Zuker, C. S. (2006). The receptors and cells for mammalian taste. </a:t>
            </a:r>
            <a:r>
              <a:rPr i="1"/>
              <a:t>Nature</a:t>
            </a:r>
            <a:r>
              <a:rPr/>
              <a:t>, </a:t>
            </a:r>
            <a:r>
              <a:rPr i="1"/>
              <a:t>444</a:t>
            </a:r>
            <a:r>
              <a:rPr/>
              <a:t>, 288–294. </a:t>
            </a:r>
            <a:r>
              <a:rPr>
                <a:hlinkClick r:id="rId3"/>
              </a:rPr>
              <a:t>https://doi.org/10.1038/nature05401</a:t>
            </a:r>
          </a:p>
          <a:p>
            <a:pPr lvl="0" indent="0" marL="0">
              <a:buNone/>
            </a:pPr>
            <a:r>
              <a:rPr/>
              <a:t>Dougherty, R. F., Koch, V. M., Brewer, A. A., Fischer, B., Modersitzki, J., &amp; Wandell, B. A. (2003). Visual field representations and locations of visual areas V1/2/3 in human visual cortex. </a:t>
            </a:r>
            <a:r>
              <a:rPr i="1"/>
              <a:t>Journal of Vision</a:t>
            </a:r>
            <a:r>
              <a:rPr/>
              <a:t>, </a:t>
            </a:r>
            <a:r>
              <a:rPr i="1"/>
              <a:t>3</a:t>
            </a:r>
            <a:r>
              <a:rPr/>
              <a:t>(10), 1–1. </a:t>
            </a:r>
            <a:r>
              <a:rPr>
                <a:hlinkClick r:id="rId4"/>
              </a:rPr>
              <a:t>https://doi.org/10.1167/3.10.1</a:t>
            </a:r>
          </a:p>
          <a:p>
            <a:pPr lvl="0" indent="0" marL="0">
              <a:buNone/>
            </a:pPr>
            <a:r>
              <a:rPr/>
              <a:t>ewakili. (2021). </a:t>
            </a:r>
            <a:r>
              <a:rPr i="1"/>
              <a:t>Foveated rendering shown by meta’s oculus, reducing compute load by 95%</a:t>
            </a:r>
            <a:r>
              <a:rPr/>
              <a:t>. Youtube. Retrieved from </a:t>
            </a:r>
            <a:r>
              <a:rPr>
                <a:hlinkClick r:id="rId5"/>
              </a:rPr>
              <a:t>https://www.youtube.com/watch?v=NPK8eQ4o8Pk</a:t>
            </a:r>
          </a:p>
          <a:p>
            <a:pPr lvl="0" indent="0" marL="0">
              <a:buNone/>
            </a:pPr>
            <a:r>
              <a:rPr/>
              <a:t>Gibson, J. J. (1966). </a:t>
            </a:r>
            <a:r>
              <a:rPr i="1"/>
              <a:t>The senses considered as perceptual systems</a:t>
            </a:r>
            <a:r>
              <a:rPr/>
              <a:t>. doi.apa.org. Retrieved from </a:t>
            </a:r>
            <a:r>
              <a:rPr>
                <a:hlinkClick r:id="rId6"/>
              </a:rPr>
              <a:t>http://doi.apa.org/psycinfo/1966-35026-000</a:t>
            </a:r>
          </a:p>
          <a:p>
            <a:pPr lvl="0" indent="0" marL="0">
              <a:buNone/>
            </a:pPr>
            <a:r>
              <a:rPr/>
              <a:t>Herman, J. P. (2013). Neural control of chronic stress adaptation. </a:t>
            </a:r>
            <a:r>
              <a:rPr i="1"/>
              <a:t>Frontiers in Behavioral Neuroscience</a:t>
            </a:r>
            <a:r>
              <a:rPr/>
              <a:t>, </a:t>
            </a:r>
            <a:r>
              <a:rPr i="1"/>
              <a:t>7</a:t>
            </a:r>
            <a:r>
              <a:rPr/>
              <a:t>, 61. </a:t>
            </a:r>
            <a:r>
              <a:rPr>
                <a:hlinkClick r:id="rId7"/>
              </a:rPr>
              <a:t>https://doi.org/10.3389/fnbeh.2013.00061</a:t>
            </a:r>
          </a:p>
          <a:p>
            <a:pPr lvl="0" indent="0" marL="0">
              <a:buNone/>
            </a:pPr>
            <a:r>
              <a:rPr/>
              <a:t>Humphries, C., Liebenthal, E., &amp; Binder, J. R. (2010). Tonotopic organization of human auditory cortex. </a:t>
            </a:r>
            <a:r>
              <a:rPr i="1"/>
              <a:t>NeuroImage</a:t>
            </a:r>
            <a:r>
              <a:rPr/>
              <a:t>, </a:t>
            </a:r>
            <a:r>
              <a:rPr i="1"/>
              <a:t>50</a:t>
            </a:r>
            <a:r>
              <a:rPr/>
              <a:t>, 1202–1211. </a:t>
            </a:r>
            <a:r>
              <a:rPr>
                <a:hlinkClick r:id="rId8"/>
              </a:rPr>
              <a:t>https://doi.org/10.1016/j.neuroimage.2010.01.046</a:t>
            </a:r>
          </a:p>
          <a:p>
            <a:pPr lvl="0" indent="0" marL="0">
              <a:buNone/>
            </a:pPr>
            <a:r>
              <a:rPr/>
              <a:t>Namkung, H., Kim, S.-H., &amp; Sawa, A. (2017). The insula: An underestimated brain area in clinical neuroscience, psychiatry, and neurology. </a:t>
            </a:r>
            <a:r>
              <a:rPr i="1"/>
              <a:t>Trends in Neurosciences</a:t>
            </a:r>
            <a:r>
              <a:rPr/>
              <a:t>, </a:t>
            </a:r>
            <a:r>
              <a:rPr i="1"/>
              <a:t>40</a:t>
            </a:r>
            <a:r>
              <a:rPr/>
              <a:t>(4), 200–207. </a:t>
            </a:r>
            <a:r>
              <a:rPr>
                <a:hlinkClick r:id="rId9"/>
              </a:rPr>
              <a:t>https://doi.org/10.1016/j.tins.2017.02.002</a:t>
            </a:r>
          </a:p>
          <a:p>
            <a:pPr lvl="0" indent="0" marL="0">
              <a:buNone/>
            </a:pPr>
            <a:r>
              <a:rPr/>
              <a:t>Panichello, M. F., Cheung, O. S., &amp; Bar, M. (2013). Predictive feedback and conscious visual experience. </a:t>
            </a:r>
            <a:r>
              <a:rPr i="1"/>
              <a:t>Perception Science</a:t>
            </a:r>
            <a:r>
              <a:rPr/>
              <a:t>, </a:t>
            </a:r>
            <a:r>
              <a:rPr i="1"/>
              <a:t>3</a:t>
            </a:r>
            <a:r>
              <a:rPr/>
              <a:t>, 620. </a:t>
            </a:r>
            <a:r>
              <a:rPr>
                <a:hlinkClick r:id="rId10"/>
              </a:rPr>
              <a:t>https://doi.org/10.3389/fpsyg.2012.00620</a:t>
            </a:r>
          </a:p>
          <a:p>
            <a:pPr lvl="0" indent="0" marL="0">
              <a:buNone/>
            </a:pPr>
            <a:r>
              <a:rPr/>
              <a:t>Randeberg, L. (2005). Diagnostic applications of diffuse reflectance spectroscopy. Retrieved from </a:t>
            </a:r>
            <a:r>
              <a:rPr>
                <a:hlinkClick r:id="rId11"/>
              </a:rPr>
              <a:t>https://www.semanticscholar.org/paper/ec9450b79923e2e2152b54ab9241b60bc5374944</a:t>
            </a:r>
          </a:p>
          <a:p>
            <a:pPr lvl="0" indent="0" marL="0">
              <a:buNone/>
            </a:pPr>
            <a:r>
              <a:rPr/>
              <a:t>Roark, M. W., &amp; Stringham, J. M. (2019). Visual performance in the “real world”: Contrast sensitivity, visual acuity, and effects of macular carotenoids. </a:t>
            </a:r>
            <a:r>
              <a:rPr i="1"/>
              <a:t>Molecular Nutrition &amp; Food Research</a:t>
            </a:r>
            <a:r>
              <a:rPr/>
              <a:t>, </a:t>
            </a:r>
            <a:r>
              <a:rPr i="1"/>
              <a:t>63</a:t>
            </a:r>
            <a:r>
              <a:rPr/>
              <a:t>(15), e1801053. </a:t>
            </a:r>
            <a:r>
              <a:rPr>
                <a:hlinkClick r:id="rId12"/>
              </a:rPr>
              <a:t>https://doi.org/10.1002/mnfr.201801053</a:t>
            </a:r>
          </a:p>
          <a:p>
            <a:pPr lvl="0" indent="0" marL="0">
              <a:buNone/>
            </a:pPr>
            <a:r>
              <a:rPr/>
              <a:t>Smith, G. E., Chouinard, P. A., &amp; Byosiere, S.-E. (2021). If I fits I sits: A citizen science investigation into illusory contour susceptibility in domestic cats (felis silvestris catus). </a:t>
            </a:r>
            <a:r>
              <a:rPr i="1"/>
              <a:t>Applied Animal Behaviour Science</a:t>
            </a:r>
            <a:r>
              <a:rPr/>
              <a:t>, </a:t>
            </a:r>
            <a:r>
              <a:rPr i="1"/>
              <a:t>240</a:t>
            </a:r>
            <a:r>
              <a:rPr/>
              <a:t>, 105338. </a:t>
            </a:r>
            <a:r>
              <a:rPr>
                <a:hlinkClick r:id="rId13"/>
              </a:rPr>
              <a:t>https://doi.org/10.1016/j.applanim.2021.105338</a:t>
            </a:r>
          </a:p>
          <a:p>
            <a:pPr lvl="0" indent="0" marL="0">
              <a:buNone/>
            </a:pPr>
            <a:r>
              <a:rPr/>
              <a:t>Swanson, L. W. (2005). Anatomy of the soul as reflected in the cerebral hemispheres: Neural circuits underlying voluntary control of basic motivated behaviors. </a:t>
            </a:r>
            <a:r>
              <a:rPr i="1"/>
              <a:t>Journal of Comparative Neurology</a:t>
            </a:r>
            <a:r>
              <a:rPr/>
              <a:t>, </a:t>
            </a:r>
            <a:r>
              <a:rPr i="1"/>
              <a:t>493</a:t>
            </a:r>
            <a:r>
              <a:rPr/>
              <a:t>(1), 122–131. </a:t>
            </a:r>
            <a:r>
              <a:rPr>
                <a:hlinkClick r:id="rId14"/>
              </a:rPr>
              <a:t>https://doi.org/10.1002/cne.20733</a:t>
            </a:r>
          </a:p>
          <a:p>
            <a:pPr lvl="0" indent="0" marL="0">
              <a:buNone/>
            </a:pPr>
            <a:r>
              <a:rPr/>
              <a:t>Swanson, L. W. (2012). </a:t>
            </a:r>
            <a:r>
              <a:rPr i="1"/>
              <a:t>Brain architecture: Understanding the basic plan</a:t>
            </a:r>
            <a:r>
              <a:rPr/>
              <a:t>. Oxford University Press.</a:t>
            </a:r>
          </a:p>
        </p:txBody>
      </p:sp>
    </p:spTree>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Perception</dc:title>
  <dc:creator/>
  <cp:keywords/>
  <dcterms:created xsi:type="dcterms:W3CDTF">2026-01-22T14:17:22Z</dcterms:created>
  <dcterms:modified xsi:type="dcterms:W3CDTF">2026-01-22T14:17:22Z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iblio-config">
    <vt:lpwstr>True</vt:lpwstr>
  </property>
  <property fmtid="{D5CDD505-2E9C-101B-9397-08002B2CF9AE}" pid="3" name="bibliography">
    <vt:lpwstr/>
  </property>
  <property fmtid="{D5CDD505-2E9C-101B-9397-08002B2CF9AE}" pid="4" name="bibliographystyle">
    <vt:lpwstr>apa</vt:lpwstr>
  </property>
  <property fmtid="{D5CDD505-2E9C-101B-9397-08002B2CF9AE}" pid="5" name="csl">
    <vt:lpwstr>../include/bib/apa.csl</vt:lpwstr>
  </property>
  <property fmtid="{D5CDD505-2E9C-101B-9397-08002B2CF9AE}" pid="6" name="editor">
    <vt:lpwstr>source</vt:lpwstr>
  </property>
  <property fmtid="{D5CDD505-2E9C-101B-9397-08002B2CF9AE}" pid="7" name="header-includes">
    <vt:lpwstr/>
  </property>
  <property fmtid="{D5CDD505-2E9C-101B-9397-08002B2CF9AE}" pid="8" name="include-after">
    <vt:lpwstr/>
  </property>
  <property fmtid="{D5CDD505-2E9C-101B-9397-08002B2CF9AE}" pid="9" name="include-before">
    <vt:lpwstr/>
  </property>
  <property fmtid="{D5CDD505-2E9C-101B-9397-08002B2CF9AE}" pid="10" name="knitr">
    <vt:lpwstr/>
  </property>
  <property fmtid="{D5CDD505-2E9C-101B-9397-08002B2CF9AE}" pid="11" name="labels">
    <vt:lpwstr/>
  </property>
  <property fmtid="{D5CDD505-2E9C-101B-9397-08002B2CF9AE}" pid="12" name="lightbox">
    <vt:lpwstr>True</vt:lpwstr>
  </property>
  <property fmtid="{D5CDD505-2E9C-101B-9397-08002B2CF9AE}" pid="13" name="subtitle">
    <vt:lpwstr>PSY 511.001 Spr 2026</vt:lpwstr>
  </property>
  <property fmtid="{D5CDD505-2E9C-101B-9397-08002B2CF9AE}" pid="14" name="toc-title">
    <vt:lpwstr>Table of contents</vt:lpwstr>
  </property>
</Properties>
</file>