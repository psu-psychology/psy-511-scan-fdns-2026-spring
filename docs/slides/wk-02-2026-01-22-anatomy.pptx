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gif" ContentType="image/gif"/>
  <Default Extension="txt" ContentType="text/plain"/>
  <Default Extension="jpg" ContentType="image/jpeg"/>
  <Default Extension="shtml" ContentType="text/html; charset=UTF-8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5" Type="http://schemas.openxmlformats.org/officeDocument/2006/relationships/viewProps" Target="viewProps.xml" /><Relationship Id="rId7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7" Type="http://schemas.openxmlformats.org/officeDocument/2006/relationships/tableStyles" Target="tableStyles.xml" /><Relationship Id="rId76" Type="http://schemas.openxmlformats.org/officeDocument/2006/relationships/theme" Target="theme/theme1.xml" /></Relationships>
</file>

<file path=ppt/media/image4.txt>Please set a user-agent and respect our robot policy https://w.wiki/4wJS. See also https://phabricator.wikimedia.org/T400119.

</file>

<file path=ppt/media/image6.txt>Please set a user-agent and respect our robot policy https://w.wiki/4wJS. See also https://phabricator.wikimedia.org/T400119.

</file>

<file path=ppt/media/image9.txt>Please set a user-agent and respect our robot policy https://w.wiki/4wJS. See also https://phabricator.wikimedia.org/T400119.

</file>

<file path=ppt/media/image10.txt>Please set a user-agent and respect our robot policy https://w.wiki/4wJS. See also https://phabricator.wikimedia.org/T400119.

</file>

<file path=ppt/media/image12.txt>Please set a user-agent and respect our robot policy https://w.wiki/4wJS. See also https://phabricator.wikimedia.org/T400119.

</file>

<file path=ppt/media/image13.txt>Please set a user-agent and respect our robot policy https://w.wiki/4wJS. See also https://phabricator.wikimedia.org/T400119.

</file>

<file path=ppt/media/image14.txt>Please set a user-agent and respect our robot policy https://w.wiki/4wJS. See also https://phabricator.wikimedia.org/T400119.

</file>

<file path=ppt/media/image15.txt>Please set a user-agent and respect our robot policy https://w.wiki/4wJS. See also https://phabricator.wikimedia.org/T400119.

</file>

<file path=ppt/media/image17.txt>Please set a user-agent and respect our robot policy https://w.wiki/4wJS. See also https://phabricator.wikimedia.org/T400119.

</file>

<file path=ppt/media/image19.txt>Please set a user-agent and respect our robot policy https://w.wiki/4wJS. See also https://phabricator.wikimedia.org/T400119.

</file>

<file path=ppt/media/image23.txt>Please set a user-agent and respect our robot policy https://w.wiki/4wJS. See also https://phabricator.wikimedia.org/T400119.

</file>

<file path=ppt/media/image27.txt>Please set a user-agent and respect our robot policy https://w.wiki/4wJS. See also https://phabricator.wikimedia.org/T400119.

</file>

<file path=ppt/media/image29.txt>Please set a user-agent and respect our robot policy https://w.wiki/4wJS. See also https://phabricator.wikimedia.org/T400119.

</file>

<file path=ppt/media/image30.txt>Please set a user-agent and respect our robot policy https://w.wiki/4wJS. See also https://phabricator.wikimedia.org/T400119.

</file>

<file path=ppt/media/image31.txt>Please set a user-agent and respect our robot policy https://w.wiki/4wJS. See also https://phabricator.wikimedia.org/T400119.

</file>

<file path=ppt/media/image36.txt>Please set a user-agent and respect our robot policy https://w.wiki/4wJS. See also https://phabricator.wikimedia.org/T400119.

</file>

<file path=ppt/media/image37.txt>Please set a user-agent and respect our robot policy https://w.wiki/4wJS. See also https://phabricator.wikimedia.org/T400119.

</file>

<file path=ppt/media/image39.txt>Please set a user-agent and respect our robot policy https://w.wiki/4wJS. See also https://phabricator.wikimedia.org/T400119.

</file>

<file path=ppt/media/image40.txt>Please set a user-agent and respect our robot policy https://w.wiki/4wJS. See also https://phabricator.wikimedia.org/T400119.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youtube.com/embed/snO68aJTOpM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youtube.com/embed/Qw8E9WnZTQk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su.instructure.com/courses/2441266/assignments/17981371" TargetMode="External" /><Relationship Id="rId3" Type="http://schemas.openxmlformats.org/officeDocument/2006/relationships/hyperlink" Target="https://psu.instructure.com/courses/2441266/assignments/17981392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exercises/ex-ANAT.qmd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gif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4" Type="http://schemas.openxmlformats.org/officeDocument/2006/relationships/hyperlink" Target="https://commons.wikimedia.org/w/index.php?curid=10187018" TargetMode="External" /><Relationship Id="rId3" Type="http://schemas.openxmlformats.org/officeDocument/2006/relationships/image" Target="../media/image4.txt" /><Relationship Id="rId2" Type="http://schemas.openxmlformats.org/officeDocument/2006/relationships/image" Target="../media/image3.jp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6.txt" /><Relationship Id="rId2" Type="http://schemas.openxmlformats.org/officeDocument/2006/relationships/image" Target="../media/image5.jp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txt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1.jpg" /><Relationship Id="rId2" Type="http://schemas.openxmlformats.org/officeDocument/2006/relationships/image" Target="../media/image10.txt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txt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txt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txt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txt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txt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jp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en.wikipedia.org/wiki/Korbinian_Brodmann" TargetMode="External" /><Relationship Id="rId3" Type="http://schemas.openxmlformats.org/officeDocument/2006/relationships/image" Target="../media/image17.txt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jp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txt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jp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jp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jp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txt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4.sht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5.jp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6.jp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7.txt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8.jp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9.txt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0.txt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1.txt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0.txt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2.jp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3.jp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4.jp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5.jp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7.txt" /><Relationship Id="rId2" Type="http://schemas.openxmlformats.org/officeDocument/2006/relationships/image" Target="../media/image36.txt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commons.wikimedia.org/w/index.php?curid=10187018" TargetMode="External" /><Relationship Id="rId2" Type="http://schemas.openxmlformats.org/officeDocument/2006/relationships/image" Target="../media/image4.txt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8.sht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40.txt" /><Relationship Id="rId2" Type="http://schemas.openxmlformats.org/officeDocument/2006/relationships/image" Target="../media/image39.txt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1.pn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wk-03-2026-01-29-action.qmd" TargetMode="External" /><Relationship Id="rId3" Type="http://schemas.openxmlformats.org/officeDocument/2006/relationships/hyperlink" Target="../exercises/ex-ANAT.qmd" TargetMode="External" /><Relationship Id="rId4" Type="http://schemas.openxmlformats.org/officeDocument/2006/relationships/hyperlink" Target="https://psu.instructure.com/courses/2441266/assignments/17981392" TargetMode="Externa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youtube.com/watch?v=snO68aJTOpM" TargetMode="External" /><Relationship Id="rId3" Type="http://schemas.openxmlformats.org/officeDocument/2006/relationships/hyperlink" Target="https://doi.org/10.1038/nrgastro.2012.32" TargetMode="External" /><Relationship Id="rId4" Type="http://schemas.openxmlformats.org/officeDocument/2006/relationships/hyperlink" Target="https://www.youtube.com/watch?v=Qw8E9WnZTQk" TargetMode="External" /><Relationship Id="rId5" Type="http://schemas.openxmlformats.org/officeDocument/2006/relationships/hyperlink" Target="https://www.psychologytoday.com/blog/i-got-mind-tell-you/201508/the-amygdala-is-not-the-brains-fear-center" TargetMode="External" /><Relationship Id="rId6" Type="http://schemas.openxmlformats.org/officeDocument/2006/relationships/hyperlink" Target="https://drexel.edu/legacy-center/blog/overview/2018/november/dissecting-harriet-cole-uncovering-womens-history-in-the-archives/" TargetMode="External" /><Relationship Id="rId7" Type="http://schemas.openxmlformats.org/officeDocument/2006/relationships/hyperlink" Target="https://doi.org/10.1016/j.tins.2017.02.002" TargetMode="External" /><Relationship Id="rId8" Type="http://schemas.openxmlformats.org/officeDocument/2006/relationships/hyperlink" Target="https://doi.org/10.1002/cne.20733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Neuroanatomy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PSY 511.001 Spr 2026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Prelude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https://www.youtube.com/embed/snO68aJTOpM</a:t>
            </a:r>
          </a:p>
          <a:p>
            <a:pPr lvl="0" indent="0" marL="0">
              <a:buNone/>
            </a:pPr>
            <a:r>
              <a:rPr/>
              <a:t>– ctdalilah (2006)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https://www.youtube.com/embed/Qw8E9WnZTQk</a:t>
            </a:r>
          </a:p>
          <a:p>
            <a:pPr lvl="0" indent="0" marL="0">
              <a:buNone/>
            </a:pPr>
            <a:r>
              <a:rPr/>
              <a:t>– Kids Learning Tube (2015) 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Exercise LVL due </a:t>
            </a:r>
            <a:r>
              <a:rPr b="1"/>
              <a:t>today</a:t>
            </a:r>
            <a:r>
              <a:rPr/>
              <a:t>.</a:t>
            </a:r>
          </a:p>
          <a:p>
            <a:pPr lvl="1"/>
            <a:r>
              <a:rPr>
                <a:hlinkClick r:id="rId2"/>
              </a:rPr>
              <a:t>Canvas dropbox</a:t>
            </a:r>
          </a:p>
          <a:p>
            <a:pPr lvl="0"/>
            <a:r>
              <a:rPr/>
              <a:t>Exercise ANAT due </a:t>
            </a:r>
            <a:r>
              <a:rPr b="1"/>
              <a:t>next Thursday, January 29, 2026</a:t>
            </a:r>
            <a:r>
              <a:rPr/>
              <a:t>.</a:t>
            </a:r>
          </a:p>
          <a:p>
            <a:pPr lvl="1"/>
            <a:r>
              <a:rPr>
                <a:hlinkClick r:id="rId3"/>
              </a:rPr>
              <a:t>Canvas dropbox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Neuroanatomy</a:t>
            </a:r>
          </a:p>
          <a:p>
            <a:pPr lvl="0"/>
            <a:r>
              <a:rPr/>
              <a:t>In-class lab</a:t>
            </a:r>
          </a:p>
          <a:p>
            <a:pPr lvl="1"/>
            <a:r>
              <a:rPr>
                <a:hlinkClick r:id="rId2"/>
              </a:rPr>
              <a:t>Exercise ANAT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Neuroanatomy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study?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Master basic vocabulary for reading literature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Computational perspective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Inputs from</a:t>
            </a:r>
          </a:p>
          <a:p>
            <a:pPr lvl="1"/>
            <a:r>
              <a:rPr/>
              <a:t>World</a:t>
            </a:r>
          </a:p>
          <a:p>
            <a:pPr lvl="1"/>
            <a:r>
              <a:rPr/>
              <a:t>Body</a:t>
            </a:r>
          </a:p>
          <a:p>
            <a:pPr lvl="1"/>
            <a:r>
              <a:rPr/>
              <a:t>Nervous system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wk-02-2026-01-22-anatomy_files/figure-pptx/mermaid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651500" y="1625600"/>
            <a:ext cx="20066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computations occur where?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Functional anatomy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Located where</a:t>
            </a:r>
          </a:p>
          <a:p>
            <a:pPr lvl="0"/>
            <a:r>
              <a:rPr/>
              <a:t>Connected to</a:t>
            </a:r>
          </a:p>
          <a:p>
            <a:pPr lvl="0"/>
            <a:r>
              <a:rPr/>
              <a:t>Involved in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Brain anatomy through 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browser does not support the audio tag. 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Anterior/Posterior</a:t>
            </a:r>
          </a:p>
          <a:p>
            <a:pPr lvl="0"/>
            <a:r>
              <a:rPr/>
              <a:t>Medial/Lateral</a:t>
            </a:r>
          </a:p>
          <a:p>
            <a:pPr lvl="0"/>
            <a:r>
              <a:rPr/>
              <a:t>Superior/Inferior</a:t>
            </a:r>
          </a:p>
          <a:p>
            <a:pPr lvl="0"/>
            <a:r>
              <a:rPr/>
              <a:t>Dorsal/Ventral</a:t>
            </a:r>
          </a:p>
          <a:p>
            <a:pPr lvl="0"/>
            <a:r>
              <a:rPr/>
              <a:t>Rostral/Caudal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Planes of section</a:t>
            </a:r>
          </a:p>
        </p:txBody>
      </p:sp>
      <p:pic>
        <p:nvPicPr>
          <p:cNvPr descr="http://www.scienceteacherprogram.org/biology/chillemistudentguide1-06/brain_directions_planes_sections__directions_-_small.gif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16200" y="1193800"/>
            <a:ext cx="391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Planes of section from http://www.scienceteacherprogram.org/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Nervous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Central Nervous System (CNS)</a:t>
            </a:r>
          </a:p>
          <a:p>
            <a:pPr lvl="1"/>
            <a:r>
              <a:rPr/>
              <a:t>Encased in bone</a:t>
            </a:r>
          </a:p>
          <a:p>
            <a:pPr lvl="1"/>
            <a:r>
              <a:rPr/>
              <a:t>Brain</a:t>
            </a:r>
          </a:p>
          <a:p>
            <a:pPr lvl="1"/>
            <a:r>
              <a:rPr/>
              <a:t>Spinal cord</a:t>
            </a:r>
          </a:p>
          <a:p>
            <a:pPr lvl="0"/>
            <a:r>
              <a:rPr/>
              <a:t>Peripheral Nervous System (PNS)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nclude/img/harriet-bw-237w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193800"/>
            <a:ext cx="2273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Nervous system of Harriet Cole, see McNaughton (2018)</a:t>
            </a:r>
          </a:p>
        </p:txBody>
      </p:sp>
      <p:pic>
        <p:nvPicPr>
          <p:cNvPr descr="https://upload.wikimedia.org/wikipedia/commons/thumb/b/b2/TE-Nervous_system_diagram.svg/1280px-TE-Nervous_system_diagram.svg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By Own work, CC BY 3.0, </a:t>
            </a:r>
            <a:r>
              <a:rPr>
                <a:hlinkClick r:id="rId4"/>
              </a:rPr>
              <a:t>https://commons.wikimedia.org/w/index.php?curid=10187018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CNS Organization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1463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Major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Ventricular Landmark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Embryonic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Forebrain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Telencephalon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Cerebral cortex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Basal ganglia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Hippocampus, amygdala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14600"/>
                <a:gridCol w="2286000"/>
                <a:gridCol w="1600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Major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Ventricular Landmark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Embryonic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Diencephalon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Thalamus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Hypothalamus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1463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Major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Ventricular Landmark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Embryonic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Midbrain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Cerebral Aqueduct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Mesencephalon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Tectum, tegmentum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1463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Major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Ventricular Landmark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Embryonic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Hindbrain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Metencephalon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Cerebellum, pons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Mylencephalon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Medulla oblongata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nclude/img/6_week_embryo_brain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0700" y="1193800"/>
            <a:ext cx="3911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Embryonic human brain from Wikipedia</a:t>
            </a:r>
          </a:p>
        </p:txBody>
      </p:sp>
      <p:pic>
        <p:nvPicPr>
          <p:cNvPr descr="https://upload.wikimedia.org/wikipedia/commons/thumb/5/54/EmbryonicBrain.svg/1200px-EmbryonicBrain.svg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Cross section of embryonic brain from Wikipedia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Forebrain, midbrain, hindbrain terminology derives from embryonic stages in CNS development.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(Cerebral) cortex</a:t>
            </a:r>
          </a:p>
          <a:p>
            <a:pPr lvl="0"/>
            <a:r>
              <a:rPr/>
              <a:t>Subcortical (below the cortex) structures</a:t>
            </a:r>
          </a:p>
        </p:txBody>
      </p:sp>
      <p:pic>
        <p:nvPicPr>
          <p:cNvPr descr="../include/img/medial-labell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324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Labelled MRI including thalamus and hypothalamus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Cerebral Cortex: Landmarks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Cerebral hemispheres</a:t>
            </a:r>
          </a:p>
          <a:p>
            <a:pPr lvl="0"/>
            <a:r>
              <a:rPr/>
              <a:t>Bumps</a:t>
            </a:r>
          </a:p>
          <a:p>
            <a:pPr lvl="1"/>
            <a:r>
              <a:rPr/>
              <a:t>Gyrus or gyri</a:t>
            </a:r>
          </a:p>
          <a:p>
            <a:pPr lvl="0"/>
            <a:r>
              <a:rPr/>
              <a:t>Grooves</a:t>
            </a:r>
          </a:p>
          <a:p>
            <a:pPr lvl="1"/>
            <a:r>
              <a:rPr/>
              <a:t>Sulcus or sulci: shallow</a:t>
            </a:r>
          </a:p>
          <a:p>
            <a:pPr lvl="1"/>
            <a:r>
              <a:rPr/>
              <a:t>Fissure: deep</a:t>
            </a:r>
          </a:p>
          <a:p>
            <a:pPr lvl="0"/>
            <a:r>
              <a:rPr/>
              <a:t>Medial longitudinal fissure</a:t>
            </a:r>
          </a:p>
          <a:p>
            <a:pPr lvl="0"/>
            <a:r>
              <a:rPr/>
              <a:t>Corpus callosum</a:t>
            </a:r>
          </a:p>
        </p:txBody>
      </p:sp>
      <p:pic>
        <p:nvPicPr>
          <p:cNvPr descr="https://i0.wp.com/www.anatomyqa.com/wp-content/uploads/2017/07/Picture1-2.png?resize=599%2C312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587500"/>
            <a:ext cx="4038600" cy="210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From www.anatomyqa.com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Cerebral cortex: Lobes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Lateral (sagittal) view</a:t>
            </a:r>
          </a:p>
          <a:p>
            <a:pPr lvl="0"/>
            <a:r>
              <a:rPr/>
              <a:t>Lobes</a:t>
            </a:r>
          </a:p>
          <a:p>
            <a:pPr lvl="1"/>
            <a:r>
              <a:rPr/>
              <a:t>Frontal</a:t>
            </a:r>
          </a:p>
          <a:p>
            <a:pPr lvl="1"/>
            <a:r>
              <a:rPr/>
              <a:t>Temporal</a:t>
            </a:r>
          </a:p>
          <a:p>
            <a:pPr lvl="1"/>
            <a:r>
              <a:rPr/>
              <a:t>Parietal</a:t>
            </a:r>
          </a:p>
          <a:p>
            <a:pPr lvl="1"/>
            <a:r>
              <a:rPr/>
              <a:t>Occipital</a:t>
            </a:r>
          </a:p>
        </p:txBody>
      </p:sp>
      <p:pic>
        <p:nvPicPr>
          <p:cNvPr descr="https://upload.wikimedia.org/wikipedia/commons/4/46/LobesCaptsLate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By Sebastian023, CC BY-SA 3.0, https://commons.wikimedia.org/w/index.php?curid=21020857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Cerebral cortex: Lobes</a:t>
            </a:r>
          </a:p>
        </p:txBody>
      </p:sp>
      <p:pic>
        <p:nvPicPr>
          <p:cNvPr descr="https://upload.wikimedia.org/wikipedia/commons/thumb/6/6e/Human_skull_side_simplified_%28bones%29.svg/1200px-Human_skull_side_simplified_%28bones%29.sv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Bones of the skull from Wikipedia</a:t>
            </a:r>
          </a:p>
        </p:txBody>
      </p:sp>
      <p:pic>
        <p:nvPicPr>
          <p:cNvPr descr="http://40.media.tumblr.com/tumblr_m1kpkr7Wsq1rn6pqko1_500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334000" y="1193800"/>
            <a:ext cx="265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Alternative view of the relationship between bones of the skull and lobes of the cerebral cortex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Cerebral cortex: Lobes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Frontal: Motor cortex (M1)</a:t>
            </a:r>
          </a:p>
          <a:p>
            <a:pPr lvl="0"/>
            <a:r>
              <a:rPr/>
              <a:t>Temporal: Auditory cortex (A1)</a:t>
            </a:r>
          </a:p>
          <a:p>
            <a:pPr lvl="0"/>
            <a:r>
              <a:rPr/>
              <a:t>Parietal: Somatosensory cortex (S1)</a:t>
            </a:r>
          </a:p>
          <a:p>
            <a:pPr lvl="0"/>
            <a:r>
              <a:rPr/>
              <a:t>Occipital: Visual cortex (V1)</a:t>
            </a:r>
          </a:p>
          <a:p>
            <a:pPr lvl="0"/>
            <a:r>
              <a:rPr/>
              <a:t>Insula: Gustatory</a:t>
            </a:r>
          </a:p>
        </p:txBody>
      </p:sp>
      <p:pic>
        <p:nvPicPr>
          <p:cNvPr descr="https://upload.wikimedia.org/wikipedia/commons/4/46/LobesCaptsLater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By Sebastian023, CC BY-SA 3.0, https://commons.wikimedia.org/w/index.php?curid=21020857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Cerebral cortex: M1</a:t>
            </a:r>
          </a:p>
        </p:txBody>
      </p:sp>
      <p:pic>
        <p:nvPicPr>
          <p:cNvPr descr="https://upload.wikimedia.org/wikipedia/commons/3/33/Human_motor_cortex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By Cortex sensorimoteur1.jpg: Pancratderivative work: Iamozy - Own work, This file was derived from: Cortex sensorimoteur1.jpg:, CC BY-SA 3.0, https://commons.wikimedia.org/w/index.php?curid=33981076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Cerebral cortex: A1</a:t>
            </a:r>
          </a:p>
        </p:txBody>
      </p:sp>
      <p:pic>
        <p:nvPicPr>
          <p:cNvPr descr="https://upload.wikimedia.org/wikipedia/commons/thumb/e/ec/Auditory_Cortex_Frequency_Mapping.svg/2560px-Auditory_Cortex_Frequency_Mapping.sv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By Chittka L, Brockmann - Perception Space—The Final Frontier, A PLoS Biology Vol. 3, No. 4, e137 doi:10.1371/journal.pbio.0030137 ([1]/[2]), vectorised by Inductiveload, CC BY-SA 2.5, https://commons.wikimedia.org/w/index.php?curid=5958918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Cerebral cortex: S1</a:t>
            </a:r>
          </a:p>
        </p:txBody>
      </p:sp>
      <p:pic>
        <p:nvPicPr>
          <p:cNvPr descr="https://upload.wikimedia.org/wikipedia/commons/6/66/Postcentral_gyru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By Jimhutchins (talk) - The original image was uploaded on en.wikipedia as en:Image:Postcentral_gyrus.png, CC BY-SA 3.0, https://commons.wikimedia.org/w/index.php?curid=4481990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Cerebral cortex: V1</a:t>
            </a:r>
          </a:p>
        </p:txBody>
      </p:sp>
      <p:pic>
        <p:nvPicPr>
          <p:cNvPr descr="https://upload.wikimedia.org/wikipedia/commons/3/33/Brodmann_Cytoarchitectonics_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By Brodmann - File:Brodmann_Cytoarchitectonics.PNG, Public Domain, https://commons.wikimedia.org/w/index.php?curid=8221432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Cerebral cortex: Insula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Primary gustatory cortex</a:t>
            </a:r>
          </a:p>
          <a:p>
            <a:pPr lvl="0"/>
            <a:r>
              <a:rPr/>
              <a:t>Self-awareness, interpersonal experiences, motor control, interoception</a:t>
            </a:r>
          </a:p>
        </p:txBody>
      </p:sp>
      <p:pic>
        <p:nvPicPr>
          <p:cNvPr descr="https://ars.els-cdn.com/content/image/1-s2.0-S0166223617300176-gr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76800" y="1193800"/>
            <a:ext cx="356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Namkung et al. (2017) Figure 1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Cerebral cortex: Brodmann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Korbinian Brodmann</a:t>
            </a:r>
          </a:p>
          <a:p>
            <a:pPr lvl="0"/>
            <a:r>
              <a:rPr/>
              <a:t>Cytoarchitecture</a:t>
            </a:r>
          </a:p>
          <a:p>
            <a:pPr lvl="0"/>
            <a:r>
              <a:rPr/>
              <a:t>Examples</a:t>
            </a:r>
          </a:p>
          <a:p>
            <a:pPr lvl="1"/>
            <a:r>
              <a:rPr/>
              <a:t>BA 41 &amp; 42: audition; BA 44 &amp; 45: Broca’s area</a:t>
            </a:r>
          </a:p>
          <a:p>
            <a:pPr lvl="1"/>
            <a:r>
              <a:rPr/>
              <a:t>BA 17, 18: vision</a:t>
            </a:r>
          </a:p>
        </p:txBody>
      </p:sp>
      <p:pic>
        <p:nvPicPr>
          <p:cNvPr descr="https://upload.wikimedia.org/wikipedia/commons/0/09/Brodmann-area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Brodmann areas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Cerebrum: Subcortical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Basal ganglia</a:t>
            </a:r>
          </a:p>
          <a:p>
            <a:pPr lvl="0"/>
            <a:r>
              <a:rPr/>
              <a:t>Hippocampus</a:t>
            </a:r>
          </a:p>
          <a:p>
            <a:pPr lvl="0"/>
            <a:r>
              <a:rPr/>
              <a:t>Amygdala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Basal ganglia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Striatum</a:t>
            </a:r>
          </a:p>
          <a:p>
            <a:pPr lvl="1"/>
            <a:r>
              <a:rPr/>
              <a:t>Caudate nucleus</a:t>
            </a:r>
          </a:p>
          <a:p>
            <a:pPr lvl="1"/>
            <a:r>
              <a:rPr/>
              <a:t>Putamen</a:t>
            </a:r>
          </a:p>
          <a:p>
            <a:pPr lvl="0"/>
            <a:r>
              <a:rPr/>
              <a:t>Globus pallidus</a:t>
            </a:r>
          </a:p>
          <a:p>
            <a:pPr lvl="0"/>
            <a:r>
              <a:rPr/>
              <a:t>Subthalamic nucleus</a:t>
            </a:r>
          </a:p>
          <a:p>
            <a:pPr lvl="0"/>
            <a:r>
              <a:rPr/>
              <a:t>Substantia nigra (tegmentum)</a:t>
            </a:r>
          </a:p>
        </p:txBody>
      </p:sp>
      <p:pic>
        <p:nvPicPr>
          <p:cNvPr descr="https://fhs122anatomyelab.files.wordpress.com/2014/05/basal-ganglia.jpg?w=524&amp;h=393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MRI of the basal ganglia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Basal ganglia</a:t>
            </a:r>
          </a:p>
        </p:txBody>
      </p:sp>
      <p:pic>
        <p:nvPicPr>
          <p:cNvPr descr="https://upload.wikimedia.org/wikipedia/commons/8/8c/Cortical_surface_with_an_overlay_of_the_basal_ganglia_and_thalamu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https://upload.wikimedia.org/wikipedia/commons/8/8c/Cortical_surface_with_an_overlay_of_the_basal_ganglia_and_thalamus.jpg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Hippocampus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Hippocampus means “sea horse”</a:t>
            </a:r>
          </a:p>
          <a:p>
            <a:pPr lvl="0"/>
            <a:r>
              <a:rPr/>
              <a:t>Fornix (axon fiber bundle) projects to (mammillary bodies of) hypothalamus</a:t>
            </a:r>
          </a:p>
        </p:txBody>
      </p:sp>
      <p:pic>
        <p:nvPicPr>
          <p:cNvPr descr="https://images.theconversation.com/files/60945/original/qrtd9rv8-1412620559.JPG?ixlib=rb-1.1.0&amp;q=45&amp;auto=format&amp;w=1000&amp;fit=cli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371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Hippocampus and Sea Horse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Hippocampus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Initial storage of memories for specific facts (semantic memory) or events (episodic memory)</a:t>
            </a:r>
          </a:p>
          <a:p>
            <a:pPr lvl="0"/>
            <a:r>
              <a:rPr/>
              <a:t>Place memory in non-human animals (&amp; humans?)</a:t>
            </a:r>
          </a:p>
        </p:txBody>
      </p:sp>
      <p:pic>
        <p:nvPicPr>
          <p:cNvPr descr="http://www.neuro24.de/hip0006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324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MRI of hippocampus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Amygdala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Physiological state, behavioral readiness, affect</a:t>
            </a:r>
          </a:p>
          <a:p>
            <a:pPr lvl="0"/>
            <a:r>
              <a:rPr/>
              <a:t>NOT the fear center! (LeDoux, 2015).</a:t>
            </a:r>
          </a:p>
          <a:p>
            <a:pPr lvl="0"/>
            <a:r>
              <a:rPr/>
              <a:t>Projection to hypothalamus</a:t>
            </a:r>
          </a:p>
        </p:txBody>
      </p:sp>
      <p:pic>
        <p:nvPicPr>
          <p:cNvPr descr="http://www.frontiersin.org/files/Articles/31697/fpsyg-03-00319-HTML/image_m/fpsyg-03-00319-g002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19200"/>
            <a:ext cx="40386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Cassidy2012-ue Figure 2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14600"/>
                <a:gridCol w="2286000"/>
                <a:gridCol w="1600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Major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Ventricular Landmark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Embryonic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Diencephalon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Thalamus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Hypothalamus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Diencephalon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Thalamus</a:t>
            </a:r>
          </a:p>
          <a:p>
            <a:pPr lvl="0"/>
            <a:r>
              <a:rPr/>
              <a:t>Hypothalamus</a:t>
            </a:r>
          </a:p>
        </p:txBody>
      </p:sp>
      <p:pic>
        <p:nvPicPr>
          <p:cNvPr descr="https://upload.wikimedia.org/wikipedia/commons/a/a0/1310_Diencephalon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Diencephalon from Wikipedia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Thalamus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Input to cortex</a:t>
            </a:r>
          </a:p>
          <a:p>
            <a:pPr lvl="0"/>
            <a:r>
              <a:rPr/>
              <a:t>Functionally distinct </a:t>
            </a:r>
            <a:r>
              <a:rPr i="1"/>
              <a:t>nuclei</a:t>
            </a:r>
          </a:p>
          <a:p>
            <a:pPr lvl="1"/>
            <a:r>
              <a:rPr/>
              <a:t>Lateral geniculate nucleus (LGN), vision</a:t>
            </a:r>
          </a:p>
          <a:p>
            <a:pPr lvl="1"/>
            <a:r>
              <a:rPr/>
              <a:t>Medial geniculate nucleus (MGN), audition</a:t>
            </a:r>
          </a:p>
          <a:p>
            <a:pPr lvl="1"/>
            <a:r>
              <a:rPr/>
              <a:t>Pulvinar, attention?</a:t>
            </a:r>
          </a:p>
        </p:txBody>
      </p:sp>
      <p:pic>
        <p:nvPicPr>
          <p:cNvPr descr="http://neurobiologychapter3.weebly.com/uploads/1/4/1/8/1418733/5118342.jpg?401x231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Nuclei of the thalamus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Hypothalamus</a:t>
            </a:r>
          </a:p>
        </p:txBody>
      </p:sp>
      <p:pic>
        <p:nvPicPr>
          <p:cNvPr descr="http://higheredbcs.wiley.com/legacy/college/tortora/0470565101/hearthis_ill/pap13e_ch14_illustr_audio_mp3_am/simulations/figures/hypothalamu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Nuclei of the hypothalamus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Hypothalamus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Five Fs:</a:t>
            </a:r>
          </a:p>
          <a:p>
            <a:pPr lvl="1"/>
            <a:r>
              <a:rPr/>
              <a:t>Fighting/fleeing/freezing</a:t>
            </a:r>
          </a:p>
          <a:p>
            <a:pPr lvl="1"/>
            <a:r>
              <a:rPr/>
              <a:t>Feeding</a:t>
            </a:r>
          </a:p>
          <a:p>
            <a:pPr lvl="1"/>
            <a:r>
              <a:rPr/>
              <a:t>Reproduction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Hypothalamus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Controls pituitary gland (“master” gland)</a:t>
            </a:r>
          </a:p>
          <a:p>
            <a:pPr lvl="1"/>
            <a:r>
              <a:rPr/>
              <a:t>Anterior pituitary (indirect release of hormones)</a:t>
            </a:r>
          </a:p>
          <a:p>
            <a:pPr lvl="2"/>
            <a:r>
              <a:rPr/>
              <a:t>e.g., Corticotropin Releasing Hormone (CRH) -&gt; release of cortisol from Adrenal Cortex (adjacent to kidney)</a:t>
            </a:r>
          </a:p>
          <a:p>
            <a:pPr lvl="1"/>
            <a:r>
              <a:rPr/>
              <a:t>Posterior pituitary (direct release of hormones)</a:t>
            </a:r>
          </a:p>
          <a:p>
            <a:pPr lvl="2"/>
            <a:r>
              <a:rPr/>
              <a:t>Oxytocin</a:t>
            </a:r>
          </a:p>
          <a:p>
            <a:pPr lvl="2"/>
            <a:r>
              <a:rPr/>
              <a:t>Vasopressin (aka, Arginine Vasopressin – AVP; Anti-diuretic Hormone – ADH)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146300"/>
                <a:gridCol w="2032000"/>
                <a:gridCol w="2032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Major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Ventricular Landmark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Embryonic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Structure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Midbrain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Cerebral Aqueduct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Mesencephalon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Tectum, tegmentum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Hindbrain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Metencephalon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Cerebellum, pons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Mylencephalon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Medulla oblongata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Midbrain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Tectum (roof), dorsal</a:t>
            </a:r>
          </a:p>
          <a:p>
            <a:pPr lvl="0"/>
            <a:r>
              <a:rPr/>
              <a:t>Tegmentum (floor), ventral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“Roof” of the midbrain</a:t>
            </a:r>
          </a:p>
          <a:p>
            <a:pPr lvl="0"/>
            <a:r>
              <a:rPr/>
              <a:t>Superior and inferior colliculus (colliculi is plural for ‘little hill’)</a:t>
            </a:r>
          </a:p>
        </p:txBody>
      </p:sp>
      <p:pic>
        <p:nvPicPr>
          <p:cNvPr descr="http://www.radioanatomie.com/30_irm_sagittale_mediane/99_images/2_Tectu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Labeled MRI of Tectum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Tectum: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Superior colliculus (colliculi)</a:t>
            </a:r>
          </a:p>
          <a:p>
            <a:pPr lvl="1"/>
            <a:r>
              <a:rPr/>
              <a:t>Reflexive orienting of eyes, head, ears (superior colliculi)</a:t>
            </a:r>
          </a:p>
          <a:p>
            <a:pPr lvl="0"/>
            <a:r>
              <a:rPr/>
              <a:t>Inferior colliculus</a:t>
            </a:r>
          </a:p>
          <a:p>
            <a:pPr lvl="1"/>
            <a:r>
              <a:rPr/>
              <a:t>Auditory processing (from brainstem to auditory thalamus)</a:t>
            </a:r>
          </a:p>
        </p:txBody>
      </p:sp>
      <p:pic>
        <p:nvPicPr>
          <p:cNvPr descr="https://upload.wikimedia.org/wikipedia/commons/0/0b/Gray7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Labeled locations of Inferior and Superior Colliculi of the dorsal midbrain or Tectum from Wikipedia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Tegmentum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“Floor” of the midbrain</a:t>
            </a:r>
          </a:p>
          <a:p>
            <a:pPr lvl="0"/>
            <a:r>
              <a:rPr/>
              <a:t>Species-typical movement sequences</a:t>
            </a:r>
          </a:p>
          <a:p>
            <a:pPr lvl="0"/>
            <a:r>
              <a:rPr/>
              <a:t>Neuromodulatory nuclei release NTs</a:t>
            </a:r>
          </a:p>
          <a:p>
            <a:pPr lvl="1"/>
            <a:r>
              <a:rPr/>
              <a:t>Norepinephrine (NE)</a:t>
            </a:r>
          </a:p>
          <a:p>
            <a:pPr lvl="1"/>
            <a:r>
              <a:rPr/>
              <a:t>Serotonin (5-HT)</a:t>
            </a:r>
          </a:p>
          <a:p>
            <a:pPr lvl="1"/>
            <a:r>
              <a:rPr/>
              <a:t>Dopamine (DA) – from </a:t>
            </a:r>
            <a:r>
              <a:rPr i="1"/>
              <a:t>ventral tegmental area (VTA)</a:t>
            </a:r>
          </a:p>
        </p:txBody>
      </p:sp>
      <p:pic>
        <p:nvPicPr>
          <p:cNvPr descr="https://i0.wp.com/neupsykey.com/wp-content/uploads/2019/05/00254.jpeg?w=960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11800" y="1193800"/>
            <a:ext cx="2298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https://neupsykey.com/the-midbrain/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Hindbrain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Structures adjacent (or caudal to) 4th ventricle</a:t>
            </a:r>
          </a:p>
          <a:p>
            <a:pPr lvl="0"/>
            <a:r>
              <a:rPr/>
              <a:t>Components</a:t>
            </a:r>
          </a:p>
          <a:p>
            <a:pPr lvl="1"/>
            <a:r>
              <a:rPr/>
              <a:t>Pons</a:t>
            </a:r>
          </a:p>
          <a:p>
            <a:pPr lvl="1"/>
            <a:r>
              <a:rPr/>
              <a:t>Cerebellum</a:t>
            </a:r>
          </a:p>
          <a:p>
            <a:pPr lvl="1"/>
            <a:r>
              <a:rPr/>
              <a:t>Medulla oblongata</a:t>
            </a:r>
          </a:p>
        </p:txBody>
      </p:sp>
      <p:pic>
        <p:nvPicPr>
          <p:cNvPr descr="https://upload.wikimedia.org/wikipedia/commons/thumb/b/b9/Gray708.svg/500px-Gray708.sv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Lateral view of brainstem from Wikipedia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Bulge on ventral brain stem</a:t>
            </a:r>
          </a:p>
          <a:p>
            <a:pPr lvl="0"/>
            <a:r>
              <a:rPr/>
              <a:t>Relay to cerebellum</a:t>
            </a:r>
          </a:p>
        </p:txBody>
      </p:sp>
      <p:pic>
        <p:nvPicPr>
          <p:cNvPr descr="https://upload.wikimedia.org/wikipedia/commons/6/69/1311_Brain_Ste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Illustration of brainstem from Wikipedia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Cerebellum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“Little brain”, but most neurons in CNS</a:t>
            </a:r>
          </a:p>
          <a:p>
            <a:pPr lvl="0"/>
            <a:r>
              <a:rPr/>
              <a:t>Dorsal to pons</a:t>
            </a:r>
          </a:p>
          <a:p>
            <a:pPr lvl="0"/>
            <a:r>
              <a:rPr/>
              <a:t>Movement coordination, simple learning (classical conditioning)</a:t>
            </a:r>
          </a:p>
        </p:txBody>
      </p:sp>
      <p:pic>
        <p:nvPicPr>
          <p:cNvPr descr="https://upload.wikimedia.org/wikipedia/commons/1/14/Cerebellum_animation_small.gif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Animated GIF of cerebellum from Wikipedia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Medulla oblongata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Cardiovascular regulation</a:t>
            </a:r>
          </a:p>
          <a:p>
            <a:pPr lvl="0"/>
            <a:r>
              <a:rPr/>
              <a:t>Muscle tone</a:t>
            </a:r>
          </a:p>
          <a:p>
            <a:pPr lvl="0"/>
            <a:r>
              <a:rPr/>
              <a:t>Fibers of passage</a:t>
            </a:r>
          </a:p>
          <a:p>
            <a:pPr lvl="1"/>
            <a:r>
              <a:rPr b="1"/>
              <a:t>A</a:t>
            </a:r>
            <a:r>
              <a:rPr/>
              <a:t>scending fibers (from body), a.k.a. </a:t>
            </a:r>
            <a:r>
              <a:rPr b="1"/>
              <a:t>a</a:t>
            </a:r>
            <a:r>
              <a:rPr/>
              <a:t>fferents</a:t>
            </a:r>
          </a:p>
          <a:p>
            <a:pPr lvl="1"/>
            <a:r>
              <a:rPr/>
              <a:t>Descending fibers (</a:t>
            </a:r>
            <a:r>
              <a:rPr b="1"/>
              <a:t>e</a:t>
            </a:r>
            <a:r>
              <a:rPr/>
              <a:t>xiting brain), a.k.a., </a:t>
            </a:r>
            <a:r>
              <a:rPr b="1"/>
              <a:t>e</a:t>
            </a:r>
            <a:r>
              <a:rPr/>
              <a:t>fferents</a:t>
            </a:r>
          </a:p>
        </p:txBody>
      </p:sp>
      <p:pic>
        <p:nvPicPr>
          <p:cNvPr descr="https://upload.wikimedia.org/wikipedia/commons/6/69/1311_Brain_Ste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Illustration of brainstem from Wikipedia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Input/output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Via cranial nerves (in CNS)</a:t>
            </a:r>
          </a:p>
          <a:p>
            <a:pPr lvl="0"/>
            <a:r>
              <a:rPr/>
              <a:t>Via spinal nerves (in PNS)</a:t>
            </a:r>
          </a:p>
          <a:p>
            <a:pPr lvl="0"/>
            <a:r>
              <a:rPr/>
              <a:t>Hierarchical organization</a:t>
            </a:r>
          </a:p>
          <a:p>
            <a:pPr lvl="1"/>
            <a:r>
              <a:rPr/>
              <a:t>Substantial interconnection</a:t>
            </a:r>
          </a:p>
        </p:txBody>
      </p:sp>
      <p:pic>
        <p:nvPicPr>
          <p:cNvPr descr="../include/img/swanson-2005-fig-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524000"/>
            <a:ext cx="40386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Swanson (2005) Figure 1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Cranial nerves</a:t>
            </a:r>
          </a:p>
        </p:txBody>
      </p:sp>
      <p:pic>
        <p:nvPicPr>
          <p:cNvPr descr="../include/img/nerves-pairs-muscles-region-head-sense-organ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Cranial nerves from https://www.britannica.com/science/cranial-nerve#/media/1/141797/46720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Spinal nerves</a:t>
            </a:r>
          </a:p>
        </p:txBody>
      </p:sp>
      <p:pic>
        <p:nvPicPr>
          <p:cNvPr descr="../include/img/Diagram-showing-the-relationship-between-spinal-nerve-roots-and-vertebrae-27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97200" y="1193800"/>
            <a:ext cx="3136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https://www.researchgate.net/profile/Saeede-Rahimi-Damirchi-Darasi/publication/324683974/figure/fig10/AS:753484697726976@1556656159277/Diagram-showing-the-relationship-between-spinal-nerve-roots-and-vertebrae-27.jp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Spinal 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Spinal column w/ vertebrae</a:t>
            </a:r>
          </a:p>
          <a:p>
            <a:pPr lvl="0"/>
            <a:r>
              <a:rPr/>
              <a:t>Segments</a:t>
            </a:r>
          </a:p>
          <a:p>
            <a:pPr lvl="1"/>
            <a:r>
              <a:rPr/>
              <a:t>Cervical (8), thoracic (12), lumbar (5), sacral (5), coccygeal (1)</a:t>
            </a:r>
          </a:p>
          <a:p>
            <a:pPr lvl="0"/>
            <a:r>
              <a:rPr/>
              <a:t>31 (anterior &amp; posterior) nerve pairs</a:t>
            </a:r>
          </a:p>
          <a:p>
            <a:pPr lvl="0"/>
            <a:r>
              <a:rPr/>
              <a:t>Cauda equina</a:t>
            </a:r>
          </a:p>
        </p:txBody>
      </p:sp>
      <p:pic>
        <p:nvPicPr>
          <p:cNvPr descr="https://www.physio-pedia.com/images/6/68/Colored_Spin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19800" y="1193800"/>
            <a:ext cx="1282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https://www.physio-pedia.com/Cauda_Equina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Spinal cord: Axial</a:t>
            </a:r>
          </a:p>
        </p:txBody>
      </p:sp>
      <p:pic>
        <p:nvPicPr>
          <p:cNvPr descr="https://upload.wikimedia.org/wikipedia/commons/e/e6/Gray67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Anterior and posterior roots of spinal cord</a:t>
            </a:r>
          </a:p>
        </p:txBody>
      </p:sp>
      <p:pic>
        <p:nvPicPr>
          <p:cNvPr descr="https://upload.wikimedia.org/wikipedia/commons/thumb/d/dc/Medulla_spinalis_-_Section_-_English.svg/1024px-Medulla_spinalis_-_Section_-_English.svg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Axial view of spinal cord anterior and posterior roots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PNS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Somatic nervous system</a:t>
            </a:r>
          </a:p>
          <a:p>
            <a:pPr lvl="0"/>
            <a:r>
              <a:rPr/>
              <a:t>Autonomic nervous system (ANS)</a:t>
            </a:r>
          </a:p>
          <a:p>
            <a:pPr lvl="1"/>
            <a:r>
              <a:rPr/>
              <a:t>Sympathetic</a:t>
            </a:r>
          </a:p>
          <a:p>
            <a:pPr lvl="1"/>
            <a:r>
              <a:rPr/>
              <a:t>Parasympathetic</a:t>
            </a:r>
          </a:p>
          <a:p>
            <a:pPr lvl="1"/>
            <a:r>
              <a:rPr/>
              <a:t>Enteric (gut, intestinal tract)</a:t>
            </a:r>
          </a:p>
        </p:txBody>
      </p:sp>
      <p:pic>
        <p:nvPicPr>
          <p:cNvPr descr="https://upload.wikimedia.org/wikipedia/commons/thumb/b/b2/TE-Nervous_system_diagram.svg/1280px-TE-Nervous_system_diagram.sv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By Own work, CC BY 3.0, </a:t>
            </a:r>
            <a:r>
              <a:rPr>
                <a:hlinkClick r:id="rId3"/>
              </a:rPr>
              <a:t>https://commons.wikimedia.org/w/index.php?curid=10187018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Somatic nervous system</a:t>
            </a:r>
          </a:p>
        </p:txBody>
      </p:sp>
      <p:pic>
        <p:nvPicPr>
          <p:cNvPr descr="https://www.simplypsychology.org/wp-content/uploads/somatic-nervous-system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SimplyPsychology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Autonomic nervous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Controls “vegetative functions”</a:t>
            </a:r>
          </a:p>
          <a:p>
            <a:pPr lvl="1"/>
            <a:r>
              <a:rPr/>
              <a:t>Limited voluntary control</a:t>
            </a:r>
          </a:p>
          <a:p>
            <a:pPr lvl="0"/>
            <a:r>
              <a:rPr/>
              <a:t>Sympathetic</a:t>
            </a:r>
          </a:p>
          <a:p>
            <a:pPr lvl="1"/>
            <a:r>
              <a:rPr/>
              <a:t>Prepares body for action</a:t>
            </a:r>
          </a:p>
          <a:p>
            <a:pPr lvl="1"/>
            <a:r>
              <a:rPr/>
              <a:t>“Fight, flee, or fight”</a:t>
            </a:r>
          </a:p>
          <a:p>
            <a:pPr lvl="0"/>
            <a:r>
              <a:rPr/>
              <a:t>Parasympathetic (around the sympathetic)</a:t>
            </a:r>
          </a:p>
          <a:p>
            <a:pPr lvl="1"/>
            <a:r>
              <a:rPr/>
              <a:t>Restorative function</a:t>
            </a:r>
          </a:p>
          <a:p>
            <a:pPr lvl="1"/>
            <a:r>
              <a:rPr/>
              <a:t>“Rest &amp; digest”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Autonomic nervous system</a:t>
            </a:r>
          </a:p>
        </p:txBody>
      </p:sp>
      <p:pic>
        <p:nvPicPr>
          <p:cNvPr descr="https://upload.wikimedia.org/wikipedia/commons/thumb/f/f3/1503_Connections_of_the_Parasympathetic_Nervous_System.jpg/1280px-1503_Connections_of_the_Parasympathetic_Nervous_Syste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By OpenStax College - Anatomy &amp; Physiology, Connexions Web site. http://cnx.org/content/col11496/1.6/, Jun 19, 2013., CC BY 3.0, https://commons.wikimedia.org/w/index.php?curid=30148020</a:t>
            </a:r>
          </a:p>
        </p:txBody>
      </p:sp>
      <p:pic>
        <p:nvPicPr>
          <p:cNvPr descr="https://upload.wikimedia.org/wikipedia/commons/f/f7/Gray83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By Henry Vandyke Carter - Henry Gray (1918) Anatomy of the Human Body (See “Book” section below)Bartleby.com: Gray’s Anatomy, Plate 839, Public Domain, https://commons.wikimedia.org/w/index.php?curid=792179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Autonomic nervous system: Enteric</a:t>
            </a:r>
          </a:p>
        </p:txBody>
      </p:sp>
      <p:pic>
        <p:nvPicPr>
          <p:cNvPr descr="../include/img/enteric-nervous-syst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21100" y="1193800"/>
            <a:ext cx="171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Furness (2012) Figure 1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Neuroanatomy lab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 groups</a:t>
            </a:r>
          </a:p>
          <a:p>
            <a:pPr lvl="0"/>
            <a:r>
              <a:rPr/>
              <a:t>Rotate among stations every ~25 min</a:t>
            </a:r>
          </a:p>
          <a:p>
            <a:pPr lvl="0"/>
            <a:r>
              <a:rPr/>
              <a:t>Identify as many structures as possible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Directional terms</a:t>
            </a:r>
          </a:p>
          <a:p>
            <a:pPr lvl="0"/>
            <a:r>
              <a:rPr/>
              <a:t>What is it</a:t>
            </a:r>
          </a:p>
          <a:p>
            <a:pPr lvl="0"/>
            <a:r>
              <a:rPr/>
              <a:t>Where is it</a:t>
            </a:r>
          </a:p>
          <a:p>
            <a:pPr lvl="1"/>
            <a:r>
              <a:rPr/>
              <a:t>Relative to other things</a:t>
            </a:r>
          </a:p>
          <a:p>
            <a:pPr lvl="1"/>
            <a:r>
              <a:rPr/>
              <a:t>CNS/PNS</a:t>
            </a:r>
          </a:p>
          <a:p>
            <a:pPr lvl="1"/>
            <a:r>
              <a:rPr/>
              <a:t>Forebrain/midbrain/hindbrain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Cerebral cortex and its subparts</a:t>
            </a:r>
          </a:p>
          <a:p>
            <a:pPr lvl="0"/>
            <a:r>
              <a:rPr/>
              <a:t>Grey matter vs. white matter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time…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Action</a:t>
            </a:r>
          </a:p>
          <a:p>
            <a:pPr lvl="0"/>
            <a:r>
              <a:rPr i="1"/>
              <a:t>Due</a:t>
            </a:r>
            <a:r>
              <a:rPr/>
              <a:t>: </a:t>
            </a:r>
            <a:r>
              <a:rPr>
                <a:hlinkClick r:id="rId3"/>
              </a:rPr>
              <a:t>Exercise ANAT • Neuroanatomy</a:t>
            </a:r>
          </a:p>
          <a:p>
            <a:pPr lvl="1"/>
            <a:r>
              <a:rPr>
                <a:hlinkClick r:id="rId4"/>
              </a:rPr>
              <a:t>Canvas dropbox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ctdalilah. (2006, October). Pinky and the brain-brainstem. Youtube. Retrieved from </a:t>
            </a:r>
            <a:r>
              <a:rPr>
                <a:hlinkClick r:id="rId2"/>
              </a:rPr>
              <a:t>https://www.youtube.com/watch?v=snO68aJTOpM</a:t>
            </a:r>
          </a:p>
          <a:p>
            <a:pPr lvl="0" indent="0" marL="0">
              <a:buNone/>
            </a:pPr>
            <a:r>
              <a:rPr/>
              <a:t>Furness, J. B. (2012). The enteric nervous system and neurogastroenterology. </a:t>
            </a:r>
            <a:r>
              <a:rPr i="1"/>
              <a:t>Nature Reviews. Gastroenterology &amp; Hepatology</a:t>
            </a:r>
            <a:r>
              <a:rPr/>
              <a:t>, </a:t>
            </a:r>
            <a:r>
              <a:rPr i="1"/>
              <a:t>9</a:t>
            </a:r>
            <a:r>
              <a:rPr/>
              <a:t>(5), 286–294. </a:t>
            </a:r>
            <a:r>
              <a:rPr>
                <a:hlinkClick r:id="rId3"/>
              </a:rPr>
              <a:t>https://doi.org/10.1038/nrgastro.2012.32</a:t>
            </a:r>
          </a:p>
          <a:p>
            <a:pPr lvl="0" indent="0" marL="0">
              <a:buNone/>
            </a:pPr>
            <a:r>
              <a:rPr/>
              <a:t>Kids Learning Tube. (2015, October). Human body for Kids/Brain Song/Human body systems. Youtube. Retrieved from </a:t>
            </a:r>
            <a:r>
              <a:rPr>
                <a:hlinkClick r:id="rId4"/>
              </a:rPr>
              <a:t>https://www.youtube.com/watch?v=Qw8E9WnZTQk</a:t>
            </a:r>
          </a:p>
          <a:p>
            <a:pPr lvl="0" indent="0" marL="0">
              <a:buNone/>
            </a:pPr>
            <a:r>
              <a:rPr/>
              <a:t>LeDoux, J. (2015, August 10). The Amygdala Is NOT the Brain’s Fear Center. </a:t>
            </a:r>
            <a:r>
              <a:rPr i="1"/>
              <a:t>Psychology Today</a:t>
            </a:r>
            <a:r>
              <a:rPr/>
              <a:t>. Retrieved from </a:t>
            </a:r>
            <a:r>
              <a:rPr>
                <a:hlinkClick r:id="rId5"/>
              </a:rPr>
              <a:t>https://www.psychologytoday.com/blog/i-got-mind-tell-you/201508/the-amygdala-is-not-the-brains-fear-center</a:t>
            </a:r>
          </a:p>
          <a:p>
            <a:pPr lvl="0" indent="0" marL="0">
              <a:buNone/>
            </a:pPr>
            <a:r>
              <a:rPr/>
              <a:t>McNaughton, A. (2018, November 20). Dissecting Harriet Cole: Uncovering women’s history in the archives. Retrieved January 8, 2025, from </a:t>
            </a:r>
            <a:r>
              <a:rPr>
                <a:hlinkClick r:id="rId6"/>
              </a:rPr>
              <a:t>https://drexel.edu/legacy-center/blog/overview/2018/november/dissecting-harriet-cole-uncovering-womens-history-in-the-archives/</a:t>
            </a:r>
          </a:p>
          <a:p>
            <a:pPr lvl="0" indent="0" marL="0">
              <a:buNone/>
            </a:pPr>
            <a:r>
              <a:rPr/>
              <a:t>Namkung, H., Kim, S.-H., &amp; Sawa, A. (2017). The insula: An underestimated brain area in clinical neuroscience, psychiatry, and neurology. </a:t>
            </a:r>
            <a:r>
              <a:rPr i="1"/>
              <a:t>Trends in Neurosciences</a:t>
            </a:r>
            <a:r>
              <a:rPr/>
              <a:t>, </a:t>
            </a:r>
            <a:r>
              <a:rPr i="1"/>
              <a:t>40</a:t>
            </a:r>
            <a:r>
              <a:rPr/>
              <a:t>(4), 200–207. </a:t>
            </a:r>
            <a:r>
              <a:rPr>
                <a:hlinkClick r:id="rId7"/>
              </a:rPr>
              <a:t>https://doi.org/10.1016/j.tins.2017.02.002</a:t>
            </a:r>
          </a:p>
          <a:p>
            <a:pPr lvl="0" indent="0" marL="0">
              <a:buNone/>
            </a:pPr>
            <a:r>
              <a:rPr/>
              <a:t>Swanson, L. W. (2005). Anatomy of the soul as reflected in the cerebral hemispheres: Neural circuits underlying voluntary control of basic motivated behaviors. </a:t>
            </a:r>
            <a:r>
              <a:rPr i="1"/>
              <a:t>Journal of Comparative Neurology</a:t>
            </a:r>
            <a:r>
              <a:rPr/>
              <a:t>, </a:t>
            </a:r>
            <a:r>
              <a:rPr i="1"/>
              <a:t>493</a:t>
            </a:r>
            <a:r>
              <a:rPr/>
              <a:t>(1), 122–131. </a:t>
            </a:r>
            <a:r>
              <a:rPr>
                <a:hlinkClick r:id="rId8"/>
              </a:rPr>
              <a:t>https://doi.org/10.1002/cne.20733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Neuroanatomy</dc:title>
  <dc:creator/>
  <cp:keywords/>
  <dcterms:created xsi:type="dcterms:W3CDTF">2026-01-22T14:15:19Z</dcterms:created>
  <dcterms:modified xsi:type="dcterms:W3CDTF">2026-01-22T14:15:19Z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/>
  </property>
  <property fmtid="{D5CDD505-2E9C-101B-9397-08002B2CF9AE}" pid="4" name="bibliographystyle">
    <vt:lpwstr>apa</vt:lpwstr>
  </property>
  <property fmtid="{D5CDD505-2E9C-101B-9397-08002B2CF9AE}" pid="5" name="csl">
    <vt:lpwstr>../include/bib/apa.csl</vt:lpwstr>
  </property>
  <property fmtid="{D5CDD505-2E9C-101B-9397-08002B2CF9AE}" pid="6" name="editor">
    <vt:lpwstr>source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lightbox">
    <vt:lpwstr>True</vt:lpwstr>
  </property>
  <property fmtid="{D5CDD505-2E9C-101B-9397-08002B2CF9AE}" pid="13" name="subtitle">
    <vt:lpwstr>PSY 511.001 Spr 2026</vt:lpwstr>
  </property>
  <property fmtid="{D5CDD505-2E9C-101B-9397-08002B2CF9AE}" pid="14" name="toc-title">
    <vt:lpwstr>Table of contents</vt:lpwstr>
  </property>
</Properties>
</file>