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gif" ContentType="image/gif"/>
  <Default Extension="png" ContentType="image/png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1" Type="http://schemas.openxmlformats.org/officeDocument/2006/relationships/viewProps" Target="viewProps.xml" /><Relationship Id="rId8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3" Type="http://schemas.openxmlformats.org/officeDocument/2006/relationships/tableStyles" Target="tableStyles.xml" /><Relationship Id="rId8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JB7jSFeVz1U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gif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en.wikipedia.org/wiki/Spherical_cow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-psychology.github.io/psy-511-scan-fdns-2026-spring/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6.jpg" /><Relationship Id="rId2" Type="http://schemas.openxmlformats.org/officeDocument/2006/relationships/image" Target="../media/image15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webp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gif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gif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x.doi.org/10.1016/j.neuron.2016.12.041" TargetMode="External" /><Relationship Id="rId3" Type="http://schemas.openxmlformats.org/officeDocument/2006/relationships/hyperlink" Target="https://doi.org/10.3389/fpsyg.2018.00433" TargetMode="Externa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psychologicalscience.org/observer/if-neuroscience-needs-behavior-what-does-behavioral-science-need" TargetMode="Externa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jp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jp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jp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jp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jp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LVL.qmd" TargetMode="Externa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ources/anatomy.qmd" TargetMode="External" /><Relationship Id="rId3" Type="http://schemas.openxmlformats.org/officeDocument/2006/relationships/hyperlink" Target="exercises/ex-ANAT.pdf" TargetMode="Externa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146/annurev-neuro-111020-094019" TargetMode="External" /><Relationship Id="rId3" Type="http://schemas.openxmlformats.org/officeDocument/2006/relationships/hyperlink" Target="https://doi.org/10.1016/j.tins.2018.05.006" TargetMode="External" /><Relationship Id="rId4" Type="http://schemas.openxmlformats.org/officeDocument/2006/relationships/hyperlink" Target="https://www.quantamagazine.org/mental-phenomena-dont-map-into-the-brain-as-expected-20210824/" TargetMode="External" /><Relationship Id="rId5" Type="http://schemas.openxmlformats.org/officeDocument/2006/relationships/hyperlink" Target="https://www.quantamagazine.org/mental-phenomena-dont-map-into-the-brain-as-expected-20210824/" TargetMode="External" /><Relationship Id="rId6" Type="http://schemas.openxmlformats.org/officeDocument/2006/relationships/hyperlink" Target="https://doi.org/10.3758/s13414-019-01760-1" TargetMode="External" /><Relationship Id="rId7" Type="http://schemas.openxmlformats.org/officeDocument/2006/relationships/hyperlink" Target="https://doi.org/10.1038/s41467-019-10301-1" TargetMode="External" /><Relationship Id="rId8" Type="http://schemas.openxmlformats.org/officeDocument/2006/relationships/hyperlink" Target="https://doi.org/10.1002/wcs.1525" TargetMode="External" /><Relationship Id="rId9" Type="http://schemas.openxmlformats.org/officeDocument/2006/relationships/hyperlink" Target="https://doi.org/10.1016/j.tics.2004.02.004" TargetMode="External" /><Relationship Id="rId10" Type="http://schemas.openxmlformats.org/officeDocument/2006/relationships/hyperlink" Target="https://doi.org/10.1177/0141076814562718" TargetMode="External" /><Relationship Id="rId11" Type="http://schemas.openxmlformats.org/officeDocument/2006/relationships/hyperlink" Target="https://www.amazon.com/Thinking-Fast-Slow-Daniel-Kahneman/dp/0374533555" TargetMode="External" /><Relationship Id="rId12" Type="http://schemas.openxmlformats.org/officeDocument/2006/relationships/hyperlink" Target="https://doi.org/10.1016/j.neuron.2016.12.041" TargetMode="External" /><Relationship Id="rId13" Type="http://schemas.openxmlformats.org/officeDocument/2006/relationships/hyperlink" Target="https://doi.org/10.1016/j.anbehav.2009.03.018" TargetMode="External" /><Relationship Id="rId14" Type="http://schemas.openxmlformats.org/officeDocument/2006/relationships/hyperlink" Target="https://mitpress.mit.edu/books/vision" TargetMode="External" /><Relationship Id="rId15" Type="http://schemas.openxmlformats.org/officeDocument/2006/relationships/hyperlink" Target="https://www.youtube.com/watch?v=JB7jSFeVz1U" TargetMode="External" /><Relationship Id="rId16" Type="http://schemas.openxmlformats.org/officeDocument/2006/relationships/hyperlink" Target="https://www.youtube.com/watch?v=nvXuq9jRWKE" TargetMode="External" /><Relationship Id="rId17" Type="http://schemas.openxmlformats.org/officeDocument/2006/relationships/hyperlink" Target="https://doi.org/10.3389/fpsyg.2018.00433" TargetMode="External" /><Relationship Id="rId18" Type="http://schemas.openxmlformats.org/officeDocument/2006/relationships/hyperlink" Target="https://doi.org/10.1038/s41583-023-00778-7" TargetMode="External" /><Relationship Id="rId19" Type="http://schemas.openxmlformats.org/officeDocument/2006/relationships/hyperlink" Target="https://doi.org/10.1038/nn.3839" TargetMode="External" /><Relationship Id="rId20" Type="http://schemas.openxmlformats.org/officeDocument/2006/relationships/hyperlink" Target="https://doi.org/10.1038/s41583-022-00583-8" TargetMode="External" /><Relationship Id="rId21" Type="http://schemas.openxmlformats.org/officeDocument/2006/relationships/hyperlink" Target="https://doi.org/10.1126/science.aav7893" TargetMode="External" /><Relationship Id="rId22" Type="http://schemas.openxmlformats.org/officeDocument/2006/relationships/hyperlink" Target="https://doi.org/10.1002/cne.20733" TargetMode="External" /><Relationship Id="rId23" Type="http://schemas.openxmlformats.org/officeDocument/2006/relationships/hyperlink" Target="https://doi.org/10.4249/scholarpedia.192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Social, Cognitive, and Affective Neuroscience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https://www.youtube.com/embed/JB7jSFeVz1U</a:t>
            </a:r>
          </a:p>
          <a:p>
            <a:pPr lvl="0" indent="0" marL="0">
              <a:buNone/>
            </a:pPr>
            <a:r>
              <a:rPr/>
              <a:t>– melodysheep (2011)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understanding everything we need to know about the brain is a mile, how far have we walked?</a:t>
            </a:r>
          </a:p>
          <a:p>
            <a:pPr lvl="0" indent="0" marL="0">
              <a:buNone/>
            </a:pPr>
            <a:r>
              <a:rPr/>
              <a:t>– National Geographic (2014)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Why </a:t>
            </a:r>
            <a:r>
              <a:rPr strike="sngStrike"/>
              <a:t>neuroscience</a:t>
            </a:r>
            <a:r>
              <a:rPr/>
              <a:t> psychology is harder than physics</a:t>
            </a:r>
          </a:p>
          <a:p>
            <a:pPr lvl="0"/>
            <a:r>
              <a:rPr/>
              <a:t>Course overview</a:t>
            </a:r>
          </a:p>
          <a:p>
            <a:pPr lvl="0"/>
            <a:r>
              <a:rPr/>
              <a:t>Does neuroscience need behavior? Does behavioral science need the brain?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psychology is harder than physics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psych-harder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44700" y="1193800"/>
            <a:ext cx="5054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psych-harder-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Physics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Simplifying assumptions</a:t>
            </a:r>
          </a:p>
          <a:p>
            <a:pPr lvl="0"/>
            <a:r>
              <a:rPr/>
              <a:t>Universal laws</a:t>
            </a:r>
          </a:p>
          <a:p>
            <a:pPr lvl="0"/>
            <a:r>
              <a:rPr/>
              <a:t>Macro phenomena</a:t>
            </a:r>
          </a:p>
          <a:p>
            <a:pPr lvl="0"/>
            <a:r>
              <a:rPr/>
              <a:t>Low dimensional state space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state spaces…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State space is the set of all possible states of a dynamical system; each state of the system corresponds to a unique point in the state space. For example, the state of an idealized pendulum is uniquely defined by its angle and angular velocity…</a:t>
            </a:r>
          </a:p>
          <a:p>
            <a:pPr lvl="0" indent="0" marL="0">
              <a:buNone/>
            </a:pPr>
            <a:r>
              <a:rPr/>
              <a:t>– Terman &amp; Izhikevich (2008)</a:t>
            </a:r>
          </a:p>
        </p:txBody>
      </p:sp>
      <p:pic>
        <p:nvPicPr>
          <p:cNvPr descr="http://www.scholarpedia.org/w/images/thumb/0/07/State_space_cylinder.gif/200px-State_space_cylinder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0" y="1193800"/>
            <a:ext cx="1651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Terman &amp; Izhikevich (2008)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Psychological perspective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What is the state…</a:t>
                </a:r>
              </a:p>
              <a:p>
                <a:pPr lvl="1"/>
                <a:r>
                  <a:rPr/>
                  <a:t>Of the world (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)?</a:t>
                </a:r>
              </a:p>
              <a:p>
                <a:pPr lvl="1"/>
                <a:r>
                  <a:rPr/>
                  <a:t>Of the organism?</a:t>
                </a:r>
              </a:p>
              <a:p>
                <a:pPr lvl="2"/>
                <a:r>
                  <a:rPr/>
                  <a:t>Body (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)</a:t>
                </a:r>
              </a:p>
              <a:p>
                <a:pPr lvl="2"/>
                <a:r>
                  <a:rPr/>
                  <a:t>Nervous system (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)</a:t>
                </a:r>
              </a:p>
              <a:p>
                <a:pPr lvl="2"/>
                <a:r>
                  <a:rPr/>
                  <a:t>Mind (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How do these states change over time?</a:t>
                </a:r>
              </a:p>
              <a:p>
                <a:pPr lvl="0"/>
                <a:r>
                  <a:rPr/>
                  <a:t>What causes the changes?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1-2026-01-15-intro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30900" y="1625600"/>
            <a:ext cx="1460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55800" y="1193800"/>
            <a:ext cx="521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States high dimensional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~86 billion neurons</a:t>
            </a:r>
          </a:p>
          <a:p>
            <a:pPr lvl="0"/>
            <a:r>
              <a:rPr/>
              <a:t>~100 trillion - 1 quadrillion synapses</a:t>
            </a:r>
          </a:p>
          <a:p>
            <a:pPr lvl="0"/>
            <a:r>
              <a:rPr/>
              <a:t>?? # of motor units</a:t>
            </a:r>
          </a:p>
          <a:p>
            <a:pPr lvl="0"/>
            <a:r>
              <a:rPr/>
              <a:t>600+ skeletal muscles; 300+ joints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lw685/springer-static/image/art%3A10.1038%2Fnn.3839/MediaObjects/41593_2014_Article_BFnn3839_Fig1_HTM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Sejnowski et al. (2014) Figure 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 vs. indirect measurement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(more or less) </a:t>
                </a:r>
                <a:r>
                  <a:rPr b="1"/>
                  <a:t>directly</a:t>
                </a:r>
              </a:p>
              <a:p>
                <a:pPr lvl="0"/>
                <a:r>
                  <a:rPr/>
                  <a:t>vs. 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measured </a:t>
                </a:r>
                <a:r>
                  <a:rPr b="1"/>
                  <a:t>indirectly</a:t>
                </a:r>
              </a:p>
              <a:p>
                <a:pPr lvl="1"/>
                <a:r>
                  <a:rPr/>
                  <a:t>Via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Your turn</a:t>
                </a:r>
              </a:p>
              <a:p>
                <a:pPr lvl="0"/>
                <a:r>
                  <a:rPr sz="2000"/>
                  <a:t>Do you agree or disagree?</a:t>
                </a:r>
              </a:p>
              <a:p>
                <a:pPr lvl="0"/>
                <a:r>
                  <a:rPr sz="2000"/>
                  <a:t>Does it matter?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 to simplify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Consider a spherical cow</a:t>
            </a:r>
          </a:p>
          <a:p>
            <a:pPr lvl="0"/>
            <a:r>
              <a:rPr/>
              <a:t>Computation (and memory) often distributed</a:t>
            </a:r>
          </a:p>
          <a:p>
            <a:pPr lvl="0"/>
            <a:r>
              <a:rPr/>
              <a:t>Single functions -&gt; multiple parts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Keenan Crane; (The source material is licensed under CC0), CC BY-SA 4.0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Single parts -&gt; multiple functions</a:t>
            </a:r>
          </a:p>
        </p:txBody>
      </p:sp>
      <p:pic>
        <p:nvPicPr>
          <p:cNvPr descr="../include/img/calabrese-2018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31900" y="1193800"/>
            <a:ext cx="2501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Calabrese (2018)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Many circuit wiring patterns yield similar dynamics</a:t>
            </a:r>
          </a:p>
          <a:p>
            <a:pPr lvl="0"/>
            <a:r>
              <a:rPr/>
              <a:t>Wiring diagram (i.e., connectome) important, but not definitive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systems not “designed”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…like human-engineered ones</a:t>
            </a:r>
          </a:p>
        </p:txBody>
      </p:sp>
      <p:pic>
        <p:nvPicPr>
          <p:cNvPr descr="../include/img/Computer_architecture_bloc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20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https://en.wikipedia.org/wiki/Computer_architecture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Studying such systems is hard because…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Change structure/function over time</a:t>
            </a:r>
          </a:p>
          <a:p>
            <a:pPr lvl="0"/>
            <a:r>
              <a:rPr/>
              <a:t>Hard to measure what is being exchanged, what is being </a:t>
            </a:r>
            <a:r>
              <a:rPr i="1"/>
              <a:t>controlled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full/springer-static/image/art%3A10.3758%2Fs13414-019-01760-1/MediaObjects/13414_2019_1760_Fig3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37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(Cisek, 2019, fig. 3). Schematic behavioral control systems. (A) When the current nutrient state deviates from a desired state, locomotion is initiated, ultimately bringing the animal to a more desirable state. (B) Elaboration of nutrient state control into a high-level controller (ANS) and a lower-level controller (BNS) capable of two modes of locomotion, local exploitation, and long-range exploration. 5HT, serotonin; ANS/BNS, apical/blastoporal nervous system; DA, dopamine; NPY, neuropeptide 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overview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fundamentals of neuroscientific concepts and facts</a:t>
            </a:r>
          </a:p>
          <a:p>
            <a:pPr lvl="0"/>
            <a:r>
              <a:rPr/>
              <a:t>Prepare to read primary source literature in social, behavioral, cognitive, affective, and clinical neuroscience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https://psu-psychology.github.io/psy-511-scan-fdns-2026-spring/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is the basic organizational plan of the nervous system?</a:t>
            </a:r>
          </a:p>
          <a:p>
            <a:pPr lvl="0"/>
            <a:r>
              <a:rPr/>
              <a:t>How does the nervous system undergird…</a:t>
            </a:r>
          </a:p>
          <a:p>
            <a:pPr lvl="1"/>
            <a:r>
              <a:rPr/>
              <a:t>action</a:t>
            </a:r>
          </a:p>
          <a:p>
            <a:pPr lvl="1"/>
            <a:r>
              <a:rPr/>
              <a:t>perception</a:t>
            </a:r>
          </a:p>
          <a:p>
            <a:pPr lvl="1"/>
            <a:r>
              <a:rPr/>
              <a:t>emotion</a:t>
            </a:r>
          </a:p>
          <a:p>
            <a:pPr lvl="1"/>
            <a:r>
              <a:rPr/>
              <a:t>learning &amp; memory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happens to the brain during sleep?</a:t>
            </a:r>
          </a:p>
          <a:p>
            <a:pPr lvl="0"/>
            <a:r>
              <a:rPr/>
              <a:t>How does the nervous system develop? How has it evolved?</a:t>
            </a:r>
          </a:p>
          <a:p>
            <a:pPr lvl="0"/>
            <a:r>
              <a:rPr/>
              <a:t>How do neurons work? How do they communicate?</a:t>
            </a:r>
          </a:p>
          <a:p>
            <a:pPr lvl="0"/>
            <a:r>
              <a:rPr/>
              <a:t>How do disorders of the mind reveal themselves in the nervous system?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Biologically essential behaviors</a:t>
            </a:r>
          </a:p>
          <a:p>
            <a:pPr lvl="0"/>
            <a:r>
              <a:rPr/>
              <a:t>Brain architecture (neuroanatomy)</a:t>
            </a:r>
          </a:p>
          <a:p>
            <a:pPr lvl="0"/>
            <a:r>
              <a:rPr/>
              <a:t>Brain function (neurophysiology)</a:t>
            </a:r>
          </a:p>
          <a:p>
            <a:pPr lvl="0"/>
            <a:r>
              <a:rPr/>
              <a:t>Brain communication (neurochemistry)</a:t>
            </a:r>
          </a:p>
          <a:p>
            <a:pPr lvl="0"/>
            <a:r>
              <a:rPr/>
              <a:t>Changes over evolutionary and developmental time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nervous system as a mechanism</a:t>
            </a:r>
          </a:p>
          <a:p>
            <a:pPr lvl="0"/>
            <a:r>
              <a:rPr/>
              <a:t>Specifically, an information processing system</a:t>
            </a:r>
          </a:p>
        </p:txBody>
      </p:sp>
      <p:pic>
        <p:nvPicPr>
          <p:cNvPr descr="../include/img/Information_processing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20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Wikipedia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Mindful of limitations in brain/computer metaphors</a:t>
            </a:r>
          </a:p>
        </p:txBody>
      </p:sp>
      <p:pic>
        <p:nvPicPr>
          <p:cNvPr descr="https://cdn4.explainthatstuff.com/how-computer-work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https://www.explainthatstuff.com/howcomputerswork.html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From environment, body, brain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Current inputs + brain state + body state + possible future states…</a:t>
            </a:r>
          </a:p>
          <a:p>
            <a:pPr lvl="0"/>
            <a:r>
              <a:rPr/>
              <a:t>Stored information</a:t>
            </a:r>
          </a:p>
          <a:p>
            <a:pPr lvl="0"/>
            <a:r>
              <a:rPr/>
              <a:t>Physiological &amp; behavioral goals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full/springer-static/image/art%3A10.3758%2Fs13414-019-01760-1/MediaObjects/13414_2019_1760_Fig1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8500" y="1193800"/>
            <a:ext cx="775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Cisek (2019) Figure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brain, body, environment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Mapping structures to functions…</a:t>
            </a:r>
          </a:p>
        </p:txBody>
      </p:sp>
      <p:pic>
        <p:nvPicPr>
          <p:cNvPr descr="https://media.springernature.com/full/springer-static/image/art%3A10.3758%2Fs13414-019-01760-1/MediaObjects/13414_2019_1760_Fig8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1193800"/>
            <a:ext cx="264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Cisek (2019) Figure 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</a:t>
            </a:r>
            <a:r>
              <a:rPr i="1"/>
              <a:t>vice versa</a:t>
            </a:r>
            <a:r>
              <a:rPr/>
              <a:t>?</a:t>
            </a:r>
          </a:p>
        </p:txBody>
      </p:sp>
      <p:pic>
        <p:nvPicPr>
          <p:cNvPr descr="../include/img/quanta-20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193800"/>
            <a:ext cx="7975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Cepelewicz (2021)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brainwide representation of behavioral variables suggests that information encoded nearly anywhere in the forebrain is combined with behavioral state variables into a mixed representation…Our data indicate that it happens as early as primary sensory cortex.</a:t>
            </a:r>
          </a:p>
          <a:p>
            <a:pPr lvl="0" indent="0" marL="0">
              <a:buNone/>
            </a:pPr>
            <a:r>
              <a:rPr/>
              <a:t>– Stringer et al. (2019)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we have the right “psychological” structures?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Psychological sciences have identified a wealth of cognitive processes and behavioral phenomena, yet struggle to produce cumulative knowledge…</a:t>
            </a:r>
          </a:p>
          <a:p>
            <a:pPr lvl="0" indent="0" marL="0">
              <a:buNone/>
            </a:pPr>
            <a:r>
              <a:rPr/>
              <a:t>– Eisenberg et al. (2019)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Progress is hamstrung by siloed scientific traditions and a focus on explanation over prediction…two issues that are particularly damaging for the study of </a:t>
            </a:r>
            <a:r>
              <a:rPr sz="2000" b="1"/>
              <a:t>multifaceted constructs like self-regulation</a:t>
            </a:r>
            <a:r>
              <a:rPr sz="2000"/>
              <a:t>…We conclude that </a:t>
            </a:r>
            <a:r>
              <a:rPr sz="2000" b="1"/>
              <a:t>self-regulation lacks coherence as a construct</a:t>
            </a:r>
            <a:r>
              <a:rPr sz="2000"/>
              <a:t>…</a:t>
            </a:r>
          </a:p>
          <a:p>
            <a:pPr lvl="0" indent="0" marL="0">
              <a:buNone/>
            </a:pPr>
            <a:r>
              <a:rPr/>
              <a:t>– Eisenberg et al. (2019)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should behavior be defined?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is behaviour defined?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Behavioural biology is a major discipline within biology, centred on the key concept of ‘behaviour’. But how is ‘behaviour’ defined, and how should it be defined? …</a:t>
            </a:r>
          </a:p>
          <a:p>
            <a:pPr lvl="0" indent="0" marL="0">
              <a:buNone/>
            </a:pPr>
            <a:r>
              <a:rPr/>
              <a:t>– Levitis, Lidicker, &amp; Freund (2009)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We outline what characteristics we believe a scientific definition should have, and why we think it is important that a definition have these traits. We then examine the range of available published definitions for behaviour.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Finding no consensus, we present survey responses from 174 members of three behaviour-focused scientific societies as to their understanding of the term. Here again, </a:t>
            </a:r>
            <a:r>
              <a:rPr sz="2000" b="1"/>
              <a:t>we find surprisingly widespread disagreement as to what qualifies as behaviour</a:t>
            </a:r>
            <a:r>
              <a:rPr sz="2000"/>
              <a:t>…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Respondents contradict themselves, each other, and published definitions, indicating that they are using individually variable intuitive, rather than codified, meanings of `behaviour.’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We offer a new definition, based largely on survey responses: “Behaviour is the internally coordinated responses (actions or inactions) of whole living organisms (individuals or groups) to internal and/or external stimuli, excluding responses more easily understood as developmental changes.”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Levels of analysis</a:t>
            </a:r>
          </a:p>
        </p:txBody>
      </p:sp>
      <p:pic>
        <p:nvPicPr>
          <p:cNvPr descr="https://media.springernature.com/lw685/springer-static/image/art%3A10.1038%2Fnn.3839/MediaObjects/41593_2014_Article_BFnn3839_Fig1_HTM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Sejnowski et al. (2014) Figure 1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David Marr (1945-1980)</a:t>
            </a:r>
          </a:p>
        </p:txBody>
      </p:sp>
      <p:pic>
        <p:nvPicPr>
          <p:cNvPr descr="../include/img/david-mar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1193800"/>
            <a:ext cx="218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David Marr</a:t>
            </a:r>
          </a:p>
        </p:txBody>
      </p:sp>
      <p:pic>
        <p:nvPicPr>
          <p:cNvPr descr="https://mitp.silverchair-cdn.com/mitp/content_public/books/3299/book/2/m_9780262289610-cover.jpeg?Expires=1769881313&amp;Signature=qyyId5hIEiVXP1yVE8wHb5IImOGdDxFqEUNUC6OsEcdzLWyYPaumk9XEfk947b4V0h5kWvpHsARoXmLfr17j1DdJrulDTMZs261tRZv-PP78WpzKcYx5vGcvfQvm49IW2f~57KJQLByoXkNOxEPfILi07sUkLiQSgf5sPJEm4LFNolYby1tnwxrftDBiMEzf5AgcHh~H6VRIQwkxQH6UzHEJcQnZrDei4MTnjISJLVOM3DpQXcWP3M2YdLuEZPnx~IApHy8LNlV147Xz01xpl2zxiHUOmI8F5KEdOiuy2sp25kH~cbJfR4PyFVaN6fp2zE5sScQv1WxtLr6Q2B~6Yw__&amp;Key-Pair-Id=APKAIE5G5CRDK6RD3PGA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549900" y="1193800"/>
            <a:ext cx="2247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Marr (1980)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Marr’s Three Levels</a:t>
            </a:r>
          </a:p>
        </p:txBody>
      </p:sp>
      <p:pic>
        <p:nvPicPr>
          <p:cNvPr descr="../include/img/wcs1525-fig-0003-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70300" y="1193800"/>
            <a:ext cx="1816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Favela (2020) Figure 3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must be computed to carry out task X?</a:t>
            </a:r>
          </a:p>
          <a:p>
            <a:pPr lvl="0"/>
            <a:r>
              <a:rPr/>
              <a:t>What algorithm is used to carry out the computation?</a:t>
            </a:r>
          </a:p>
          <a:p>
            <a:pPr lvl="0"/>
            <a:r>
              <a:rPr/>
              <a:t>What hardware implements the algorithm?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Computational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has to be computed?</a:t>
            </a:r>
          </a:p>
          <a:p>
            <a:pPr lvl="1"/>
            <a:r>
              <a:rPr/>
              <a:t>What is the shape/form of that unknown object?</a:t>
            </a:r>
          </a:p>
          <a:p>
            <a:pPr lvl="1"/>
            <a:r>
              <a:rPr/>
              <a:t>What did that person just say?</a:t>
            </a:r>
          </a:p>
          <a:p>
            <a:pPr lvl="1"/>
            <a:r>
              <a:rPr/>
              <a:t>Is that unknown object a threat to me?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Algorithmic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What’s the ‘recipe’ or sequence of operations for…</a:t>
            </a:r>
          </a:p>
          <a:p>
            <a:pPr lvl="1"/>
            <a:r>
              <a:rPr/>
              <a:t>computing shape</a:t>
            </a:r>
          </a:p>
          <a:p>
            <a:pPr lvl="1"/>
            <a:r>
              <a:rPr/>
              <a:t>perceiving speech</a:t>
            </a:r>
          </a:p>
          <a:p>
            <a:pPr lvl="1"/>
            <a:r>
              <a:rPr/>
              <a:t>recognizing threats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do…</a:t>
            </a:r>
          </a:p>
          <a:p>
            <a:pPr lvl="1"/>
            <a:r>
              <a:rPr/>
              <a:t>neurons</a:t>
            </a:r>
          </a:p>
          <a:p>
            <a:pPr lvl="1"/>
            <a:r>
              <a:rPr/>
              <a:t>areas</a:t>
            </a:r>
          </a:p>
          <a:p>
            <a:pPr lvl="1"/>
            <a:r>
              <a:rPr/>
              <a:t>networks</a:t>
            </a:r>
          </a:p>
          <a:p>
            <a:pPr lvl="0"/>
            <a:r>
              <a:rPr/>
              <a:t>implement the recipe?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Causality in neuroscience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Siddiqi, Kording, Parvizi, &amp; Fox (2022)</a:t>
            </a:r>
          </a:p>
          <a:p>
            <a:pPr lvl="0"/>
            <a:r>
              <a:rPr/>
              <a:t>Stimulation &amp; lesion studies needed for inferring </a:t>
            </a:r>
            <a:r>
              <a:rPr i="1"/>
              <a:t>causation</a:t>
            </a:r>
            <a:r>
              <a:rPr/>
              <a:t>.</a:t>
            </a:r>
          </a:p>
          <a:p>
            <a:pPr lvl="0"/>
            <a:r>
              <a:rPr/>
              <a:t>Bradford-Hill criteria (Hill, 2015)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Varied notions of mechanism</a:t>
            </a:r>
          </a:p>
        </p:txBody>
      </p:sp>
      <p:pic>
        <p:nvPicPr>
          <p:cNvPr descr="../include/img/41583_2023_778_Fig1_HTML.png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796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 1: The narrow and broad notions of mechanism from Ross &amp; Bassett (2024)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 reverse neuroethology</a:t>
            </a:r>
          </a:p>
        </p:txBody>
      </p:sp>
      <p:pic>
        <p:nvPicPr>
          <p:cNvPr descr="https://www.annualreviews.org/docserver/fulltext/neuro/47/1/ne470369.f1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193800"/>
            <a:ext cx="3581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Asinof &amp; Card (2024)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…when faced with a difficult question, we often answer an easier one instead, usually without noticing the substitution.</a:t>
            </a:r>
          </a:p>
          <a:p>
            <a:pPr lvl="0" indent="0" marL="0">
              <a:buNone/>
            </a:pPr>
            <a:r>
              <a:rPr/>
              <a:t>– Kahneman (2013), p. 12 quoted in Krakauer, Ghazanfar, Gomez-Marin, MacIver, &amp; Poeppel (2017)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and back again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perception action-cycle</a:t>
            </a:r>
          </a:p>
        </p:txBody>
      </p:sp>
      <p:pic>
        <p:nvPicPr>
          <p:cNvPr descr="../include/img/fuster-2004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Fuster (2004) Figure 2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Another example…</a:t>
            </a:r>
          </a:p>
        </p:txBody>
      </p:sp>
      <p:pic>
        <p:nvPicPr>
          <p:cNvPr descr="wk-01-2026-01-15-intro_files/figure-pptx/mermaid-figure-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489200"/>
            <a:ext cx="8229600" cy="78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computer screen to cortex.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Pathways to move the finger.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Feedback from finger muscle.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wk-01-2026-01-15-intro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78000"/>
            <a:ext cx="82296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sources of sensory information from the finger.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wk-01-2026-01-15-intro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Inputs to primary somatosensory cortex.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Break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Does neuroscience need behavior?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Krakauer, J. W., Ghazanfar, A. A., Gomez-Marin, A., MacIver, M. A., &amp; Poeppel, D. (2017). Neuroscience needs behavior: Correcting a reductionist bias.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93</a:t>
            </a:r>
            <a:r>
              <a:rPr/>
              <a:t>(3), 480–490. </a:t>
            </a:r>
            <a:r>
              <a:rPr>
                <a:hlinkClick r:id="rId2"/>
              </a:rPr>
              <a:t>https://dx.doi.org/10.1016/j.neuron.2016.12.041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Parada, F. J. &amp; Rossi, A. (2018). If neuroscience needs behavior, what does psychology need? </a:t>
            </a:r>
            <a:r>
              <a:rPr i="1"/>
              <a:t>Frontiers in Psychology</a:t>
            </a:r>
            <a:r>
              <a:rPr/>
              <a:t>, </a:t>
            </a:r>
            <a:r>
              <a:rPr i="1"/>
              <a:t>9</a:t>
            </a:r>
            <a:r>
              <a:rPr/>
              <a:t>, 433. </a:t>
            </a:r>
            <a:r>
              <a:rPr>
                <a:hlinkClick r:id="rId3"/>
              </a:rPr>
              <a:t>https://doi.org/10.3389/fpsyg.2018.00433</a:t>
            </a:r>
            <a:r>
              <a:rPr/>
              <a:t>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Newcombe, N. (2017). If neuroscience needs behavior, what does behavioral science need? APS Observer, 31(1). </a:t>
            </a:r>
            <a:r>
              <a:rPr>
                <a:hlinkClick r:id="rId2"/>
              </a:rPr>
              <a:t>https://www.psychologicalscience.org/observer/if-neuroscience-needs-behavior-what-does-behavioral-science-need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Questions ‘often tacit…belief in the reductionist program for understanding the link between brain and behavior’</a:t>
            </a:r>
          </a:p>
          <a:p>
            <a:pPr lvl="0"/>
            <a:r>
              <a:rPr/>
              <a:t>Behavior -&gt; understanding; neural interventions -&gt; causality</a:t>
            </a:r>
          </a:p>
          <a:p>
            <a:pPr lvl="0"/>
            <a:r>
              <a:rPr/>
              <a:t>Marr’s 3 levels (computation; algorithm; implementation)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what is behavior?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“Behavioural biologists don’t agree on what constitutes behaviour”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Behaviour is the internally coordinated responses (actions or inactions) of whole living organisms (individuals or groups) to internal and/or external stimuli, excluding responses more easily understood as developmental changes.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1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1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2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3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193800"/>
            <a:ext cx="656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4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www.frontiersin.org/files/Articles/362280/fpsyg-09-00433-HTML/image_m/fpsyg-09-00433-g0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74800" y="1193800"/>
            <a:ext cx="6007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Parada &amp; Rossi (2018) Figure 1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LVL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Due next Thursday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Psychology is harder than physics</a:t>
            </a:r>
          </a:p>
          <a:p>
            <a:pPr lvl="0"/>
            <a:r>
              <a:rPr/>
              <a:t>Neuroscience needs behavior</a:t>
            </a:r>
          </a:p>
          <a:p>
            <a:pPr lvl="0"/>
            <a:r>
              <a:rPr/>
              <a:t>Psychology needs behavior + mental states + measures of environment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 lab</a:t>
            </a:r>
          </a:p>
          <a:p>
            <a:pPr lvl="1"/>
            <a:r>
              <a:rPr/>
              <a:t>Read/study</a:t>
            </a:r>
          </a:p>
          <a:p>
            <a:pPr lvl="2"/>
            <a:r>
              <a:rPr/>
              <a:t>Neuroanatomy </a:t>
            </a:r>
            <a:r>
              <a:rPr>
                <a:hlinkClick r:id="rId2"/>
              </a:rPr>
              <a:t>notes</a:t>
            </a:r>
          </a:p>
          <a:p>
            <a:pPr lvl="2"/>
            <a:r>
              <a:rPr/>
              <a:t>Bring to class a copy of </a:t>
            </a:r>
            <a:r>
              <a:rPr>
                <a:hlinkClick r:id="rId3"/>
              </a:rPr>
              <a:t>Exercise ANAT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Asinof, S. K., &amp; Card, G. M. (2024). Neural control of naturalistic behavior choices. </a:t>
            </a:r>
            <a:r>
              <a:rPr i="1"/>
              <a:t>Annual Review of Neuroscience</a:t>
            </a:r>
            <a:r>
              <a:rPr/>
              <a:t>, </a:t>
            </a:r>
            <a:r>
              <a:rPr i="1"/>
              <a:t>47</a:t>
            </a:r>
            <a:r>
              <a:rPr/>
              <a:t>, 369–388. </a:t>
            </a:r>
            <a:r>
              <a:rPr>
                <a:hlinkClick r:id="rId2"/>
              </a:rPr>
              <a:t>https://doi.org/10.1146/annurev-neuro-111020-094019</a:t>
            </a:r>
          </a:p>
          <a:p>
            <a:pPr lvl="0" indent="0" marL="0">
              <a:buNone/>
            </a:pPr>
            <a:r>
              <a:rPr/>
              <a:t>Calabrese, R. L. (2018). Inconvenient truth to principle of neuroscience. </a:t>
            </a:r>
            <a:r>
              <a:rPr i="1"/>
              <a:t>Trends in Neurosciences</a:t>
            </a:r>
            <a:r>
              <a:rPr/>
              <a:t>, </a:t>
            </a:r>
            <a:r>
              <a:rPr i="1"/>
              <a:t>41</a:t>
            </a:r>
            <a:r>
              <a:rPr/>
              <a:t>(8), 488–491. </a:t>
            </a:r>
            <a:r>
              <a:rPr>
                <a:hlinkClick r:id="rId3"/>
              </a:rPr>
              <a:t>https://doi.org/10.1016/j.tins.2018.05.006</a:t>
            </a:r>
          </a:p>
          <a:p>
            <a:pPr lvl="0" indent="0" marL="0">
              <a:buNone/>
            </a:pPr>
            <a:r>
              <a:rPr/>
              <a:t>Cepelewicz, J. (2021, August). Mental phenomena don’t map into the brain as expected. </a:t>
            </a:r>
            <a:r>
              <a:rPr>
                <a:hlinkClick r:id="rId4"/>
              </a:rPr>
              <a:t>https://www.quantamagazine.org/mental-phenomena-dont-map-into-the-brain-as-expected-20210824/</a:t>
            </a:r>
            <a:r>
              <a:rPr/>
              <a:t>. Retrieved from </a:t>
            </a:r>
            <a:r>
              <a:rPr>
                <a:hlinkClick r:id="rId5"/>
              </a:rPr>
              <a:t>https://www.quantamagazine.org/mental-phenomena-dont-map-into-the-brain-as-expected-20210824/</a:t>
            </a:r>
          </a:p>
          <a:p>
            <a:pPr lvl="0" indent="0" marL="0">
              <a:buNone/>
            </a:pPr>
            <a:r>
              <a:rPr/>
              <a:t>Cisek, P. (2019). Resynthesizing behavior through phylogenetic refinement. </a:t>
            </a:r>
            <a:r>
              <a:rPr i="1"/>
              <a:t>Attention, Perception &amp; Psychophysics</a:t>
            </a:r>
            <a:r>
              <a:rPr/>
              <a:t>. </a:t>
            </a:r>
            <a:r>
              <a:rPr>
                <a:hlinkClick r:id="rId6"/>
              </a:rPr>
              <a:t>https://doi.org/10.3758/s13414-019-01760-1</a:t>
            </a:r>
          </a:p>
          <a:p>
            <a:pPr lvl="0" indent="0" marL="0">
              <a:buNone/>
            </a:pPr>
            <a:r>
              <a:rPr/>
              <a:t>Eisenberg, I. W., Bissett, P. G., Zeynep Enkavi, A., Li, J., MacKinnon, D. P., Marsch, L. A., &amp; Poldrack, R. A. (2019). Uncovering the structure of self-regulation through data-driven ontology discovery. </a:t>
            </a:r>
            <a:r>
              <a:rPr i="1"/>
              <a:t>Nature Communications</a:t>
            </a:r>
            <a:r>
              <a:rPr/>
              <a:t>, </a:t>
            </a:r>
            <a:r>
              <a:rPr i="1"/>
              <a:t>10</a:t>
            </a:r>
            <a:r>
              <a:rPr/>
              <a:t>(1), 2319. </a:t>
            </a:r>
            <a:r>
              <a:rPr>
                <a:hlinkClick r:id="rId7"/>
              </a:rPr>
              <a:t>https://doi.org/10.1038/s41467-019-10301-1</a:t>
            </a:r>
          </a:p>
          <a:p>
            <a:pPr lvl="0" indent="0" marL="0">
              <a:buNone/>
            </a:pPr>
            <a:r>
              <a:rPr/>
              <a:t>Favela, L. H. (2020). Cognitive science as complexity science. </a:t>
            </a:r>
            <a:r>
              <a:rPr i="1"/>
              <a:t>Wiley Interdisciplinary Reviews. Cognitive Science</a:t>
            </a:r>
            <a:r>
              <a:rPr/>
              <a:t>, </a:t>
            </a:r>
            <a:r>
              <a:rPr i="1"/>
              <a:t>11</a:t>
            </a:r>
            <a:r>
              <a:rPr/>
              <a:t>(4), e1525. </a:t>
            </a:r>
            <a:r>
              <a:rPr>
                <a:hlinkClick r:id="rId8"/>
              </a:rPr>
              <a:t>https://doi.org/10.1002/wcs.1525</a:t>
            </a:r>
          </a:p>
          <a:p>
            <a:pPr lvl="0" indent="0" marL="0">
              <a:buNone/>
            </a:pPr>
            <a:r>
              <a:rPr/>
              <a:t>Fuster, J. M. (2004). Upper processing stages of the perception-action cycle. </a:t>
            </a:r>
            <a:r>
              <a:rPr i="1"/>
              <a:t>Trends in Cognitive Sciences</a:t>
            </a:r>
            <a:r>
              <a:rPr/>
              <a:t>, </a:t>
            </a:r>
            <a:r>
              <a:rPr i="1"/>
              <a:t>8</a:t>
            </a:r>
            <a:r>
              <a:rPr/>
              <a:t>, 143–145. </a:t>
            </a:r>
            <a:r>
              <a:rPr>
                <a:hlinkClick r:id="rId9"/>
              </a:rPr>
              <a:t>https://doi.org/10.1016/j.tics.2004.02.004</a:t>
            </a:r>
          </a:p>
          <a:p>
            <a:pPr lvl="0" indent="0" marL="0">
              <a:buNone/>
            </a:pPr>
            <a:r>
              <a:rPr/>
              <a:t>Hill, A. B. (2015). The environment and disease: Association or causation? 1965. </a:t>
            </a:r>
            <a:r>
              <a:rPr i="1"/>
              <a:t>Journal of the Royal Society of Medicine</a:t>
            </a:r>
            <a:r>
              <a:rPr/>
              <a:t>, </a:t>
            </a:r>
            <a:r>
              <a:rPr i="1"/>
              <a:t>108</a:t>
            </a:r>
            <a:r>
              <a:rPr/>
              <a:t>(1), 32–37. </a:t>
            </a:r>
            <a:r>
              <a:rPr>
                <a:hlinkClick r:id="rId10"/>
              </a:rPr>
              <a:t>https://doi.org/10.1177/0141076814562718</a:t>
            </a:r>
          </a:p>
          <a:p>
            <a:pPr lvl="0" indent="0" marL="0">
              <a:buNone/>
            </a:pPr>
            <a:r>
              <a:rPr/>
              <a:t>Kahneman, D. (2013). </a:t>
            </a:r>
            <a:r>
              <a:rPr i="1"/>
              <a:t>Thinking, fast and slow</a:t>
            </a:r>
            <a:r>
              <a:rPr/>
              <a:t> (1st edition). Farrar, Straus; Giroux. Retrieved from </a:t>
            </a:r>
            <a:r>
              <a:rPr>
                <a:hlinkClick r:id="rId11"/>
              </a:rPr>
              <a:t>https://www.amazon.com/Thinking-Fast-Slow-Daniel-Kahneman/dp/0374533555</a:t>
            </a:r>
          </a:p>
          <a:p>
            <a:pPr lvl="0" indent="0" marL="0">
              <a:buNone/>
            </a:pPr>
            <a:r>
              <a:rPr/>
              <a:t>Krakauer, J. W., Ghazanfar, A. A., Gomez-Marin, A., MacIver, M. A., &amp; Poeppel, D. (2017). Neuroscience needs behavior: Correcting a reductionist bias.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93</a:t>
            </a:r>
            <a:r>
              <a:rPr/>
              <a:t>(3), 480–490. </a:t>
            </a:r>
            <a:r>
              <a:rPr>
                <a:hlinkClick r:id="rId12"/>
              </a:rPr>
              <a:t>https://doi.org/10.1016/j.neuron.2016.12.041</a:t>
            </a:r>
          </a:p>
          <a:p>
            <a:pPr lvl="0" indent="0" marL="0">
              <a:buNone/>
            </a:pPr>
            <a:r>
              <a:rPr/>
              <a:t>Levitis, D. A., Lidicker, W. Z., &amp; Freund, G. (2009). Behavioural biologists don’t agree on what constitutes behaviour. </a:t>
            </a:r>
            <a:r>
              <a:rPr i="1"/>
              <a:t>Animal Behaviour</a:t>
            </a:r>
            <a:r>
              <a:rPr/>
              <a:t>, </a:t>
            </a:r>
            <a:r>
              <a:rPr i="1"/>
              <a:t>78</a:t>
            </a:r>
            <a:r>
              <a:rPr/>
              <a:t>(1), 103–110. </a:t>
            </a:r>
            <a:r>
              <a:rPr>
                <a:hlinkClick r:id="rId13"/>
              </a:rPr>
              <a:t>https://doi.org/10.1016/j.anbehav.2009.03.018</a:t>
            </a:r>
          </a:p>
          <a:p>
            <a:pPr lvl="0" indent="0" marL="0">
              <a:buNone/>
            </a:pPr>
            <a:r>
              <a:rPr/>
              <a:t>Marr, D. (1980). </a:t>
            </a:r>
            <a:r>
              <a:rPr i="1"/>
              <a:t>Vision</a:t>
            </a:r>
            <a:r>
              <a:rPr/>
              <a:t>. Retrieved from </a:t>
            </a:r>
            <a:r>
              <a:rPr>
                <a:hlinkClick r:id="rId14"/>
              </a:rPr>
              <a:t>https://mitpress.mit.edu/books/vision</a:t>
            </a:r>
          </a:p>
          <a:p>
            <a:pPr lvl="0" indent="0" marL="0">
              <a:buNone/>
            </a:pPr>
            <a:r>
              <a:rPr/>
              <a:t>melodysheep. (2011, March). Ode to the brain! By symphony of science. Youtube. Retrieved from </a:t>
            </a:r>
            <a:r>
              <a:rPr>
                <a:hlinkClick r:id="rId15"/>
              </a:rPr>
              <a:t>https://www.youtube.com/watch?v=JB7jSFeVz1U</a:t>
            </a:r>
          </a:p>
          <a:p>
            <a:pPr lvl="0" indent="0" marL="0">
              <a:buNone/>
            </a:pPr>
            <a:r>
              <a:rPr/>
              <a:t>National Geographic. (2014, January). Beautiful 3-D brain scans show every synapse | national geographic. YouTube. Retrieved from </a:t>
            </a:r>
            <a:r>
              <a:rPr>
                <a:hlinkClick r:id="rId16"/>
              </a:rPr>
              <a:t>https://www.youtube.com/watch?v=nvXuq9jRWKE</a:t>
            </a:r>
          </a:p>
          <a:p>
            <a:pPr lvl="0" indent="0" marL="0">
              <a:buNone/>
            </a:pPr>
            <a:r>
              <a:rPr/>
              <a:t>Parada, F. J., &amp; Rossi, A. (2018). If neuroscience needs behavior, what does psychology need? </a:t>
            </a:r>
            <a:r>
              <a:rPr i="1"/>
              <a:t>Frontiers in Psychology</a:t>
            </a:r>
            <a:r>
              <a:rPr/>
              <a:t>, </a:t>
            </a:r>
            <a:r>
              <a:rPr i="1"/>
              <a:t>9</a:t>
            </a:r>
            <a:r>
              <a:rPr/>
              <a:t>, 433. </a:t>
            </a:r>
            <a:r>
              <a:rPr>
                <a:hlinkClick r:id="rId17"/>
              </a:rPr>
              <a:t>https://doi.org/10.3389/fpsyg.2018.00433</a:t>
            </a:r>
          </a:p>
          <a:p>
            <a:pPr lvl="0" indent="0" marL="0">
              <a:buNone/>
            </a:pPr>
            <a:r>
              <a:rPr/>
              <a:t>Ross, L. N., &amp; Bassett, D. S. (2024). Causation in neuroscience: Keeping mechanism meaningful. </a:t>
            </a:r>
            <a:r>
              <a:rPr i="1"/>
              <a:t>Nature Reviews. Neuroscience</a:t>
            </a:r>
            <a:r>
              <a:rPr/>
              <a:t>. </a:t>
            </a:r>
            <a:r>
              <a:rPr>
                <a:hlinkClick r:id="rId18"/>
              </a:rPr>
              <a:t>https://doi.org/10.1038/s41583-023-00778-7</a:t>
            </a:r>
          </a:p>
          <a:p>
            <a:pPr lvl="0" indent="0" marL="0">
              <a:buNone/>
            </a:pPr>
            <a:r>
              <a:rPr/>
              <a:t>Sejnowski, T. J., Churchland, P. S., &amp; Movshon, J. A. (2014). Putting big data to good use in neuroscience. </a:t>
            </a:r>
            <a:r>
              <a:rPr i="1"/>
              <a:t>Nat. Neurosci.</a:t>
            </a:r>
            <a:r>
              <a:rPr/>
              <a:t>, </a:t>
            </a:r>
            <a:r>
              <a:rPr i="1"/>
              <a:t>17</a:t>
            </a:r>
            <a:r>
              <a:rPr/>
              <a:t>(11), 1440–1441. </a:t>
            </a:r>
            <a:r>
              <a:rPr>
                <a:hlinkClick r:id="rId19"/>
              </a:rPr>
              <a:t>https://doi.org/10.1038/nn.3839</a:t>
            </a:r>
          </a:p>
          <a:p>
            <a:pPr lvl="0" indent="0" marL="0">
              <a:buNone/>
            </a:pPr>
            <a:r>
              <a:rPr/>
              <a:t>Siddiqi, S. H., Kording, K. P., Parvizi, J., &amp; Fox, M. D. (2022). Causal mapping of human brain function. </a:t>
            </a:r>
            <a:r>
              <a:rPr i="1"/>
              <a:t>Nature Reviews Neuroscience</a:t>
            </a:r>
            <a:r>
              <a:rPr/>
              <a:t>, </a:t>
            </a:r>
            <a:r>
              <a:rPr i="1"/>
              <a:t>23</a:t>
            </a:r>
            <a:r>
              <a:rPr/>
              <a:t>(6), 361–375. </a:t>
            </a:r>
            <a:r>
              <a:rPr>
                <a:hlinkClick r:id="rId20"/>
              </a:rPr>
              <a:t>https://doi.org/10.1038/s41583-022-00583-8</a:t>
            </a:r>
          </a:p>
          <a:p>
            <a:pPr lvl="0" indent="0" marL="0">
              <a:buNone/>
            </a:pPr>
            <a:r>
              <a:rPr/>
              <a:t>Stringer, C., Pachitariu, M., Steinmetz, N., Reddy, C. B., Carandini, M., &amp; Harris, K. D. (2019). Spontaneous behaviors drive multidimensional, brainwide activity.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364</a:t>
            </a:r>
            <a:r>
              <a:rPr/>
              <a:t>(6437), 255. </a:t>
            </a:r>
            <a:r>
              <a:rPr>
                <a:hlinkClick r:id="rId21"/>
              </a:rPr>
              <a:t>https://doi.org/10.1126/science.aav7893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22"/>
              </a:rPr>
              <a:t>https://doi.org/10.1002/cne.20733</a:t>
            </a:r>
          </a:p>
          <a:p>
            <a:pPr lvl="0" indent="0" marL="0">
              <a:buNone/>
            </a:pPr>
            <a:r>
              <a:rPr/>
              <a:t>Terman, D., &amp; Izhikevich, E. (2008). State space. </a:t>
            </a:r>
            <a:r>
              <a:rPr i="1"/>
              <a:t>Scholarpedia Journal</a:t>
            </a:r>
            <a:r>
              <a:rPr/>
              <a:t>, </a:t>
            </a:r>
            <a:r>
              <a:rPr i="1"/>
              <a:t>3</a:t>
            </a:r>
            <a:r>
              <a:rPr/>
              <a:t>, 1924. </a:t>
            </a:r>
            <a:r>
              <a:rPr>
                <a:hlinkClick r:id="rId23"/>
              </a:rPr>
              <a:t>https://doi.org/10.4249/scholarpedia.1924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Foundations of Social, Cognitive, and Affective Neuroscience</dc:title>
  <dc:creator/>
  <cp:keywords/>
  <dcterms:created xsi:type="dcterms:W3CDTF">2026-01-15T19:16:24Z</dcterms:created>
  <dcterms:modified xsi:type="dcterms:W3CDTF">2026-01-15T19:16:24Z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lightbox">
    <vt:lpwstr>True</vt:lpwstr>
  </property>
  <property fmtid="{D5CDD505-2E9C-101B-9397-08002B2CF9AE}" pid="13" name="subtitle">
    <vt:lpwstr>PSY 511.001 Spr 2026</vt:lpwstr>
  </property>
  <property fmtid="{D5CDD505-2E9C-101B-9397-08002B2CF9AE}" pid="14" name="toc-title">
    <vt:lpwstr>Table of contents</vt:lpwstr>
  </property>
</Properties>
</file>