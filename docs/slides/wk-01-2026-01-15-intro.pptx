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gif" ContentType="image/gif"/>
  <Default Extension="png" ContentType="image/png"/>
  <Default Extension="txt" ContentType="text/plain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3" Type="http://schemas.openxmlformats.org/officeDocument/2006/relationships/viewProps" Target="viewProps.xml" /><Relationship Id="rId8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5" Type="http://schemas.openxmlformats.org/officeDocument/2006/relationships/tableStyles" Target="tableStyles.xml" /><Relationship Id="rId84" Type="http://schemas.openxmlformats.org/officeDocument/2006/relationships/theme" Target="theme/theme1.xml" /></Relationships>
</file>

<file path=ppt/media/image22.txt>deleted_source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JB7jSFeVz1U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gif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n.wikipedia.org/wiki/Network_science" TargetMode="External" /><Relationship Id="rId3" Type="http://schemas.openxmlformats.org/officeDocument/2006/relationships/image" Target="../media/image6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en.wikipedia.org/wiki/Spherical_cow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-psychology.github.io/psy-511-scan-fdns-2026-spring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2.txt" /><Relationship Id="rId2" Type="http://schemas.openxmlformats.org/officeDocument/2006/relationships/image" Target="../media/image21.gif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jp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webp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gif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x.doi.org/10.1016/j.neuron.2016.12.041" TargetMode="External" /><Relationship Id="rId3" Type="http://schemas.openxmlformats.org/officeDocument/2006/relationships/hyperlink" Target="https://doi.org/10.3389/fpsyg.2018.00433" TargetMode="External" /><Relationship Id="rId4" Type="http://schemas.openxmlformats.org/officeDocument/2006/relationships/hyperlink" Target="https://www.psychologicalscience.org/observer/if-neuroscience-needs-behavior-what-does-behavioral-science-need" TargetMode="Externa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jp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jp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jp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jp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jp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LVL.qmd" TargetMode="Externa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ources/anatomy.qmd" TargetMode="External" /><Relationship Id="rId3" Type="http://schemas.openxmlformats.org/officeDocument/2006/relationships/hyperlink" Target="exercises/ex02.pdf" TargetMode="Externa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146/annurev-neuro-111020-094019" TargetMode="External" /><Relationship Id="rId3" Type="http://schemas.openxmlformats.org/officeDocument/2006/relationships/hyperlink" Target="https://uxdesign.cc/a-comprehensive-list-of-human-computer-interactions-d72eaca2c0df" TargetMode="External" /><Relationship Id="rId4" Type="http://schemas.openxmlformats.org/officeDocument/2006/relationships/hyperlink" Target="https://doi.org/10.1016/j.tins.2018.05.006" TargetMode="External" /><Relationship Id="rId5" Type="http://schemas.openxmlformats.org/officeDocument/2006/relationships/hyperlink" Target="https://www.quantamagazine.org/mental-phenomena-dont-map-into-the-brain-as-expected-20210824/" TargetMode="External" /><Relationship Id="rId6" Type="http://schemas.openxmlformats.org/officeDocument/2006/relationships/hyperlink" Target="https://www.quantamagazine.org/mental-phenomena-dont-map-into-the-brain-as-expected-20210824/" TargetMode="External" /><Relationship Id="rId7" Type="http://schemas.openxmlformats.org/officeDocument/2006/relationships/hyperlink" Target="https://doi.org/10.3758/s13414-019-01760-1" TargetMode="External" /><Relationship Id="rId8" Type="http://schemas.openxmlformats.org/officeDocument/2006/relationships/hyperlink" Target="https://doi.org/10.1038/s41467-019-10301-1" TargetMode="External" /><Relationship Id="rId9" Type="http://schemas.openxmlformats.org/officeDocument/2006/relationships/hyperlink" Target="https://doi.org/10.1002/wcs.1525" TargetMode="External" /><Relationship Id="rId10" Type="http://schemas.openxmlformats.org/officeDocument/2006/relationships/hyperlink" Target="https://doi.org/10.1177/0141076814562718" TargetMode="External" /><Relationship Id="rId11" Type="http://schemas.openxmlformats.org/officeDocument/2006/relationships/hyperlink" Target="https://www.amazon.com/Thinking-Fast-Slow-Daniel-Kahneman/dp/0374533555" TargetMode="External" /><Relationship Id="rId12" Type="http://schemas.openxmlformats.org/officeDocument/2006/relationships/hyperlink" Target="https://doi.org/10.1016/j.neuron.2016.12.041" TargetMode="External" /><Relationship Id="rId13" Type="http://schemas.openxmlformats.org/officeDocument/2006/relationships/hyperlink" Target="https://doi.org/10.1016/j.anbehav.2009.03.018" TargetMode="External" /><Relationship Id="rId14" Type="http://schemas.openxmlformats.org/officeDocument/2006/relationships/hyperlink" Target="https://mitpress.mit.edu/books/vision" TargetMode="External" /><Relationship Id="rId15" Type="http://schemas.openxmlformats.org/officeDocument/2006/relationships/hyperlink" Target="https://www.youtube.com/watch?v=JB7jSFeVz1U" TargetMode="External" /><Relationship Id="rId16" Type="http://schemas.openxmlformats.org/officeDocument/2006/relationships/hyperlink" Target="https://www.youtube.com/watch?v=nvXuq9jRWKE" TargetMode="External" /><Relationship Id="rId17" Type="http://schemas.openxmlformats.org/officeDocument/2006/relationships/hyperlink" Target="https://doi.org/10.3389/fpsyg.2018.00433" TargetMode="External" /><Relationship Id="rId18" Type="http://schemas.openxmlformats.org/officeDocument/2006/relationships/hyperlink" Target="https://doi.org/10.1038/s41583-023-00778-7" TargetMode="External" /><Relationship Id="rId19" Type="http://schemas.openxmlformats.org/officeDocument/2006/relationships/hyperlink" Target="https://doi.org/10.1016/j.tics.2024.09.010" TargetMode="External" /><Relationship Id="rId20" Type="http://schemas.openxmlformats.org/officeDocument/2006/relationships/hyperlink" Target="https://doi.org/10.1038/nn.3839" TargetMode="External" /><Relationship Id="rId21" Type="http://schemas.openxmlformats.org/officeDocument/2006/relationships/hyperlink" Target="https://doi.org/10.1038/s41583-022-00583-8" TargetMode="External" /><Relationship Id="rId22" Type="http://schemas.openxmlformats.org/officeDocument/2006/relationships/hyperlink" Target="https://doi.org/10.1126/science.aav7893" TargetMode="External" /><Relationship Id="rId23" Type="http://schemas.openxmlformats.org/officeDocument/2006/relationships/hyperlink" Target="https://doi.org/10.1002/cne.20733" TargetMode="External" /><Relationship Id="rId24" Type="http://schemas.openxmlformats.org/officeDocument/2006/relationships/hyperlink" Target="https://doi.org/10.1146/annurev-neuro-071714-033954" TargetMode="External" /><Relationship Id="rId25" Type="http://schemas.openxmlformats.org/officeDocument/2006/relationships/hyperlink" Target="https://doi.org/10.4249/scholarpedia.192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Social, Cognitive, and Affective Neuroscience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https://www.youtube.com/embed/JB7jSFeVz1U</a:t>
            </a:r>
          </a:p>
          <a:p>
            <a:pPr lvl="0" indent="0" marL="0">
              <a:buNone/>
            </a:pPr>
            <a:r>
              <a:rPr/>
              <a:t>– melodysheep (2011)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</a:t>
            </a:r>
            <a:r>
              <a:rPr sz="2000" i="1"/>
              <a:t>If understanding everything we need to know about the brain is a mile, how far have we walked?</a:t>
            </a:r>
            <a:r>
              <a:rPr sz="2000"/>
              <a:t>”</a:t>
            </a:r>
          </a:p>
          <a:p>
            <a:pPr lvl="0" indent="0" marL="0">
              <a:buNone/>
            </a:pPr>
            <a:r>
              <a:rPr/>
              <a:t>– National Geographic (2014)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Why </a:t>
            </a:r>
            <a:r>
              <a:rPr strike="sngStrike"/>
              <a:t>neuroscience</a:t>
            </a:r>
            <a:r>
              <a:rPr/>
              <a:t> psychology is harder than physics</a:t>
            </a:r>
          </a:p>
          <a:p>
            <a:pPr lvl="0"/>
            <a:r>
              <a:rPr/>
              <a:t>Course overview</a:t>
            </a:r>
          </a:p>
          <a:p>
            <a:pPr lvl="0"/>
            <a:r>
              <a:rPr/>
              <a:t>Does neuroscience need behavior? Does behavioral science need the brain?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psychology is harder than physics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psych-harder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44700" y="1193800"/>
            <a:ext cx="5054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psych-harder-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we need to know?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What is the state…</a:t>
                </a:r>
              </a:p>
              <a:p>
                <a:pPr lvl="1"/>
                <a:r>
                  <a:rPr/>
                  <a:t>Of the world (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Of the organism</a:t>
                </a:r>
              </a:p>
              <a:p>
                <a:pPr lvl="2"/>
                <a:r>
                  <a:rPr/>
                  <a:t>Body (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)</a:t>
                </a:r>
              </a:p>
              <a:p>
                <a:pPr lvl="2"/>
                <a:r>
                  <a:rPr/>
                  <a:t>Nervous system (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)</a:t>
                </a:r>
              </a:p>
              <a:p>
                <a:pPr lvl="2"/>
                <a:r>
                  <a:rPr/>
                  <a:t>Mind (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How do these states change over time?</a:t>
                </a:r>
              </a:p>
              <a:p>
                <a:pPr lvl="0"/>
                <a:r>
                  <a:rPr/>
                  <a:t>What causes the changes?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state spaces…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State space is the set of all possible states of a dynamical system; each state of the system corresponds to a unique point in the state space. For example, the state of an idealized pendulum is uniquely defined by its angle and angular velocity…</a:t>
            </a:r>
          </a:p>
          <a:p>
            <a:pPr lvl="0" indent="0" marL="0">
              <a:buNone/>
            </a:pPr>
            <a:r>
              <a:rPr/>
              <a:t>– Terman &amp; Izhikevich (2008)</a:t>
            </a:r>
          </a:p>
        </p:txBody>
      </p:sp>
      <p:pic>
        <p:nvPicPr>
          <p:cNvPr descr="http://www.scholarpedia.org/w/images/thumb/0/07/State_space_cylinder.gif/200px-State_space_cylinder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0" y="1193800"/>
            <a:ext cx="1651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Terman &amp; Izhikevich (2008)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State spaces in brain &amp; behavior</a:t>
            </a:r>
          </a:p>
        </p:txBody>
      </p:sp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55800" y="1193800"/>
            <a:ext cx="521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states are more easily measured than others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(more or less) </a:t>
                </a:r>
                <a:r>
                  <a:rPr b="1"/>
                  <a:t>directly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lw685/springer-static/image/art%3A10.1038%2Fnn.3839/MediaObjects/41593_2014_Article_BFnn3839_Fig1_HTM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Sejnowski et al. (2014)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Mental states (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Measured </a:t>
                </a:r>
                <a:r>
                  <a:rPr b="1"/>
                  <a:t>indirectly</a:t>
                </a:r>
              </a:p>
              <a:p>
                <a:pPr lvl="0"/>
                <a:r>
                  <a:rPr/>
                  <a:t>Via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</a:p>
              <a:p>
                <a:pPr lvl="0"/>
                <a:r>
                  <a:rPr/>
                  <a:t>Do you agree?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are essential components/dimensions of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To explain/understand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(and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are essential components/dimensions of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explain/understand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Brain &amp; behavior are complex, dynamic </a:t>
            </a:r>
            <a:r>
              <a:rPr i="1"/>
              <a:t>systems</a:t>
            </a:r>
            <a:r>
              <a:rPr/>
              <a:t>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Components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Forces/influences</a:t>
            </a:r>
          </a:p>
          <a:p>
            <a:pPr lvl="0"/>
            <a:r>
              <a:rPr/>
              <a:t>Boundaries</a:t>
            </a:r>
          </a:p>
          <a:p>
            <a:pPr lvl="0"/>
            <a:r>
              <a:rPr/>
              <a:t>Inputs/outputs/processes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Systems…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“Behave” or change state across time</a:t>
                </a:r>
              </a:p>
              <a:p>
                <a:pPr lvl="0"/>
                <a:r>
                  <a:rPr/>
                  <a:t>Return to starting state</a:t>
                </a:r>
              </a:p>
              <a:p>
                <a:pPr lvl="0"/>
                <a:r>
                  <a:rPr/>
                  <a:t>Often regulated, controlled, influenced by feedback loops</a:t>
                </a:r>
              </a:p>
              <a:p>
                <a:pPr lvl="0"/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W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  <m:r>
                          <m:rPr>
                            <m:sty m:val="p"/>
                          </m:rPr>
                          <m:t>,</m:t>
                        </m:r>
                        <m:r>
                          <m:t>N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  <m:r>
                          <m:rPr>
                            <m:sty m:val="p"/>
                          </m:rPr>
                          <m:t>,</m:t>
                        </m:r>
                        <m:r>
                          <m:t>M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be analyzed of as </a:t>
            </a:r>
            <a:r>
              <a:rPr>
                <a:hlinkClick r:id="rId2"/>
              </a:rPr>
              <a:t>networks</a:t>
            </a:r>
          </a:p>
        </p:txBody>
      </p:sp>
      <p:pic>
        <p:nvPicPr>
          <p:cNvPr descr="https://source.wustl.edu/wp-content/uploads/2013/08/ColeCoverFlexHub470x340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https://source.wustl.edu/2013/08/brain-flexible-hub-network-helps-humans-adapt/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multiple levels of organization…</a:t>
            </a:r>
          </a:p>
        </p:txBody>
      </p:sp>
      <p:pic>
        <p:nvPicPr>
          <p:cNvPr descr="https://stats.idre.ucla.edu/wp-content/uploads/2016/02/sem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29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ne390197.f1_thmb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02000" y="1193800"/>
            <a:ext cx="2527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&amp; Lichtman (2016) Figure 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ne390197.f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14700" y="1193800"/>
            <a:ext cx="2527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&amp; Lichtman (2016) Figure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 to simplify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Consider a spherical cow</a:t>
            </a:r>
          </a:p>
          <a:p>
            <a:pPr lvl="0"/>
            <a:r>
              <a:rPr/>
              <a:t>Computation (and memory) often distributed</a:t>
            </a:r>
          </a:p>
          <a:p>
            <a:pPr lvl="0"/>
            <a:r>
              <a:rPr/>
              <a:t>Single functions -&gt; multiple parts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Keenan Crane; (The source material is licensed under CC0), CC BY-SA 4.0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Single parts -&gt; multiple functions</a:t>
            </a:r>
          </a:p>
        </p:txBody>
      </p:sp>
      <p:pic>
        <p:nvPicPr>
          <p:cNvPr descr="../include/img/calabrese-2018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31900" y="1193800"/>
            <a:ext cx="2501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Calabrese (2018)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Many circuit wiring patterns</a:t>
            </a:r>
          </a:p>
          <a:p>
            <a:pPr lvl="0"/>
            <a:r>
              <a:rPr/>
              <a:t>Similar dynamics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Biological systems not “designed”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…like human-engineered ones</a:t>
            </a:r>
          </a:p>
        </p:txBody>
      </p:sp>
      <p:pic>
        <p:nvPicPr>
          <p:cNvPr descr="../include/img/Computer_architecture_bloc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62400" y="203200"/>
            <a:ext cx="4305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https://en.wikipedia.org/wiki/Computer_architecture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Studying such systems is hard because…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Change structure/function over time</a:t>
            </a:r>
          </a:p>
          <a:p>
            <a:pPr lvl="0"/>
            <a:r>
              <a:rPr/>
              <a:t>Hard to measure what is being exchanged, what is being </a:t>
            </a:r>
            <a:r>
              <a:rPr i="1"/>
              <a:t>controlled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full/springer-static/image/art%3A10.3758%2Fs13414-019-01760-1/MediaObjects/13414_2019_1760_Fig3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37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(Cisek, 2019, fig. 3). Schematic behavioral control systems. (A) When the current nutrient state deviates from a desired state, locomotion is initiated, ultimately bringing the animal to a more desirable state. (B) Elaboration of nutrient state control into a high-level controller (ANS) and a lower-level controller (BNS) capable of two modes of locomotion, local exploitation, and long-range exploration. 5HT, serotonin; ANS/BNS, apical/blastoporal nervous system; DA, dopamine; NPY, neuropeptide 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 are problematic</a:t>
            </a:r>
          </a:p>
        </p:txBody>
      </p:sp>
      <p:pic>
        <p:nvPicPr>
          <p:cNvPr descr="../include/img/segal-2024-fig-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607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Segal et al. (2024)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overview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fundamentals of neuroscientific concepts and facts</a:t>
            </a:r>
          </a:p>
          <a:p>
            <a:pPr lvl="0"/>
            <a:r>
              <a:rPr/>
              <a:t>Prepare to read primary source literature in social, behavioral, cognitive, affective, and clinical neuroscience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https://psu-psychology.github.io/psy-511-scan-fdns-2026-spring/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is the basic organizational plan of the nervous system?</a:t>
            </a:r>
          </a:p>
          <a:p>
            <a:pPr lvl="0"/>
            <a:r>
              <a:rPr/>
              <a:t>How do neurons work?</a:t>
            </a:r>
          </a:p>
          <a:p>
            <a:pPr lvl="0"/>
            <a:r>
              <a:rPr/>
              <a:t>How do neurons connected in networks achieve behavioral goals?</a:t>
            </a:r>
          </a:p>
          <a:p>
            <a:pPr lvl="0"/>
            <a:r>
              <a:rPr/>
              <a:t>How does the nervous system develop? How has it evolved?</a:t>
            </a:r>
          </a:p>
          <a:p>
            <a:pPr lvl="0"/>
            <a:r>
              <a:rPr/>
              <a:t>How do disorders of the mind reveal themselves in the nervous system?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Brain architecture (neuroanatomy)</a:t>
            </a:r>
          </a:p>
          <a:p>
            <a:pPr lvl="0"/>
            <a:r>
              <a:rPr/>
              <a:t>Brain function (neurophysiology)</a:t>
            </a:r>
          </a:p>
          <a:p>
            <a:pPr lvl="0"/>
            <a:r>
              <a:rPr/>
              <a:t>Brain communication (neurochemistry)</a:t>
            </a:r>
          </a:p>
          <a:p>
            <a:pPr lvl="0"/>
            <a:r>
              <a:rPr/>
              <a:t>Changes over evolutionary and developmental time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nervous system as an information processing system</a:t>
            </a:r>
          </a:p>
        </p:txBody>
      </p:sp>
      <p:pic>
        <p:nvPicPr>
          <p:cNvPr descr="../include/img/Information_processing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20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Wikipedia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Mindful of limitations in brain/computer metaphors</a:t>
            </a:r>
          </a:p>
        </p:txBody>
      </p:sp>
      <p:pic>
        <p:nvPicPr>
          <p:cNvPr descr="https://cdn4.explainthatstuff.com/how-computer-work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https://www.explainthatstuff.com/howcomputerswork.html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 inspired by richer metaphors</a:t>
            </a:r>
          </a:p>
        </p:txBody>
      </p:sp>
      <p:pic>
        <p:nvPicPr>
          <p:cNvPr descr="../include/img/1*QvKZpHrmz1nWyK4VfY2VT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Becker (2021)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From environment, body, brain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Current inputs + brain state + body state + possible future states…</a:t>
            </a:r>
          </a:p>
          <a:p>
            <a:pPr lvl="0"/>
            <a:r>
              <a:rPr/>
              <a:t>Stored information</a:t>
            </a:r>
          </a:p>
          <a:p>
            <a:pPr lvl="0"/>
            <a:r>
              <a:rPr/>
              <a:t>Physiological &amp; behavioral goals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media.springernature.com/full/springer-static/image/art%3A10.3758%2Fs13414-019-01760-1/MediaObjects/13414_2019_1760_Fig1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8500" y="1193800"/>
            <a:ext cx="775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(Cisek, 2019, fig. 1)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brain, body, environment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Mapping structures to functions…</a:t>
            </a:r>
          </a:p>
        </p:txBody>
      </p:sp>
      <p:pic>
        <p:nvPicPr>
          <p:cNvPr descr="https://media.springernature.com/full/springer-static/image/art%3A10.3758%2Fs13414-019-01760-1/MediaObjects/13414_2019_1760_Fig8_HT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1193800"/>
            <a:ext cx="264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Cisek (2019) Figure 8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</a:t>
            </a:r>
            <a:r>
              <a:rPr i="1"/>
              <a:t>vice versa</a:t>
            </a:r>
            <a:r>
              <a:rPr/>
              <a:t>?</a:t>
            </a:r>
          </a:p>
        </p:txBody>
      </p:sp>
      <p:pic>
        <p:nvPicPr>
          <p:cNvPr descr="../include/img/quanta-20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193800"/>
            <a:ext cx="7975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Cepelewicz (2021)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brainwide representation of behavioral variables suggests that information encoded nearly anywhere in the forebrain is combined with behavioral state variables into a mixed representation…Our data indicate that it happens as early as primary sensory cortex.”</a:t>
            </a:r>
          </a:p>
          <a:p>
            <a:pPr lvl="0" indent="0" marL="0">
              <a:buNone/>
            </a:pPr>
            <a:r>
              <a:rPr/>
              <a:t>Stringer et al. (2019)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do we have the right “psychological” structures?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Psychological sciences have identified a wealth of cognitive processes and behavioral phenomena, yet struggle to produce cumulative knowledge. Progress is hamstrung by siloed scientific traditions and a focus on explanation over prediction…</a:t>
            </a:r>
          </a:p>
          <a:p>
            <a:pPr lvl="0" indent="0" marL="0">
              <a:buNone/>
            </a:pPr>
            <a:r>
              <a:rPr/>
              <a:t>– Eisenberg et al. (2019)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…two issues that are particularly damaging for the study of </a:t>
            </a:r>
            <a:r>
              <a:rPr sz="2000" b="1"/>
              <a:t>multifaceted constructs like self-regulation</a:t>
            </a:r>
            <a:r>
              <a:rPr sz="2000"/>
              <a:t>…We conclude that self-regulation lacks coherence as a construct…</a:t>
            </a:r>
          </a:p>
          <a:p>
            <a:pPr lvl="0" indent="0" marL="0">
              <a:buNone/>
            </a:pPr>
            <a:r>
              <a:rPr/>
              <a:t>– Eisenberg et al. (2019)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“Behavioural biologists don’t agree on what constitutes behaviour”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Behavioural biology is a major discipline within biology, centred on the key concept of ‘behaviour’. But how is ‘behaviour’ defined, and how should it be defined? We outline what characteristics we believe a scientific definition should have, and why we think it is important…</a:t>
            </a:r>
          </a:p>
          <a:p>
            <a:pPr lvl="0" indent="0" marL="0">
              <a:buNone/>
            </a:pPr>
            <a:r>
              <a:rPr/>
              <a:t>– Levitis, Lidicker, &amp; Freund (2009)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…that a definition have these traits. We then examine the range of available published definitions for behaviour.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Finding no consensus, we present survey responses from 174 members of three behaviour-focused scientific societies as to their understanding of the term. Here again, we find surprisingly widespread disagreement as to what qualifies as behaviour. Respondents contradict themselves…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…each other, and published definitions, indicating that they are using individually variable intuitive, rather than codified, meanings of `behaviour.’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We offer a new definition, based largely on survey responses: “Behaviour is the internally coordinated responses (actions or inactions) of whole living organisms (individuals or groups) to internal and/or external stimuli, excluding responses more easily understood as developmental changes.”</a:t>
            </a:r>
          </a:p>
          <a:p>
            <a:pPr lvl="0" indent="0" marL="0">
              <a:buNone/>
            </a:pPr>
            <a:r>
              <a:rPr/>
              <a:t>– Levitis et al. (2009)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Sciences of complexity</a:t>
            </a:r>
          </a:p>
        </p:txBody>
      </p:sp>
      <p:pic>
        <p:nvPicPr>
          <p:cNvPr descr="../include/img/wcs1525-fig-0001-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1193800"/>
            <a:ext cx="554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Favela (2020) Figure 1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Levels of analysis</a:t>
            </a:r>
          </a:p>
        </p:txBody>
      </p:sp>
      <p:pic>
        <p:nvPicPr>
          <p:cNvPr descr="https://media.springernature.com/lw685/springer-static/image/art%3A10.1038%2Fnn.3839/MediaObjects/41593_2014_Article_BFnn3839_Fig1_HTM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Sejnowski et al. (2014) Figure 1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David Marr (1945-1980)</a:t>
            </a:r>
          </a:p>
        </p:txBody>
      </p:sp>
      <p:pic>
        <p:nvPicPr>
          <p:cNvPr descr="https://encrypted-tbn0.gstatic.com/images?q=tbn:ANd9GcTZGutDYqHcIazwkXdQtGfedIVfGG-DcrtMAK_j93DQgrMI8lsiH7WGttQlgdh0-jO_u4w&amp;usqp=CAU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David Marr</a:t>
            </a:r>
          </a:p>
        </p:txBody>
      </p:sp>
      <p:pic>
        <p:nvPicPr>
          <p:cNvPr descr="https://mit-press-us.imgix.net/covers/9780262514620.jpg?auto=format&amp;w=298&amp;dpr=1&amp;q=20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Marr (1980)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Marr’s Three Levels</a:t>
            </a:r>
          </a:p>
        </p:txBody>
      </p:sp>
      <p:pic>
        <p:nvPicPr>
          <p:cNvPr descr="../include/img/wcs1525-fig-0003-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70300" y="1193800"/>
            <a:ext cx="1816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Favela (2020) Figure 3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must be computed to carry out task X?</a:t>
            </a:r>
          </a:p>
          <a:p>
            <a:pPr lvl="0"/>
            <a:r>
              <a:rPr/>
              <a:t>What algorithm is used to carry out the computation?</a:t>
            </a:r>
          </a:p>
          <a:p>
            <a:pPr lvl="0"/>
            <a:r>
              <a:rPr/>
              <a:t>What hardware implements the algorithm?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Computational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has to be computed?</a:t>
            </a:r>
          </a:p>
          <a:p>
            <a:pPr lvl="1"/>
            <a:r>
              <a:rPr/>
              <a:t>What is the shape/form of that unknown object?</a:t>
            </a:r>
          </a:p>
          <a:p>
            <a:pPr lvl="1"/>
            <a:r>
              <a:rPr/>
              <a:t>What did that person just say?</a:t>
            </a:r>
          </a:p>
          <a:p>
            <a:pPr lvl="1"/>
            <a:r>
              <a:rPr/>
              <a:t>Is that unknown object a threat to me?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Algorithmic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What’s the ‘recipe’ for…</a:t>
            </a:r>
          </a:p>
          <a:p>
            <a:pPr lvl="1"/>
            <a:r>
              <a:rPr/>
              <a:t>computing shape</a:t>
            </a:r>
          </a:p>
          <a:p>
            <a:pPr lvl="1"/>
            <a:r>
              <a:rPr/>
              <a:t>perceiving speech</a:t>
            </a:r>
          </a:p>
          <a:p>
            <a:pPr lvl="1"/>
            <a:r>
              <a:rPr/>
              <a:t>recognizing threats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do…</a:t>
            </a:r>
          </a:p>
          <a:p>
            <a:pPr lvl="1"/>
            <a:r>
              <a:rPr/>
              <a:t>neurons</a:t>
            </a:r>
          </a:p>
          <a:p>
            <a:pPr lvl="1"/>
            <a:r>
              <a:rPr/>
              <a:t>areas</a:t>
            </a:r>
          </a:p>
          <a:p>
            <a:pPr lvl="1"/>
            <a:r>
              <a:rPr/>
              <a:t>networks</a:t>
            </a:r>
          </a:p>
          <a:p>
            <a:pPr lvl="0"/>
            <a:r>
              <a:rPr/>
              <a:t>implement the recipe?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Causality in neuroscience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Siddiqi, Kording, Parvizi, &amp; Fox (2022)</a:t>
            </a:r>
          </a:p>
          <a:p>
            <a:pPr lvl="0"/>
            <a:r>
              <a:rPr/>
              <a:t>Stimulation &amp; lesion studies needed for inferring </a:t>
            </a:r>
            <a:r>
              <a:rPr i="1"/>
              <a:t>causation</a:t>
            </a:r>
            <a:r>
              <a:rPr/>
              <a:t>.</a:t>
            </a:r>
          </a:p>
          <a:p>
            <a:pPr lvl="0"/>
            <a:r>
              <a:rPr/>
              <a:t>Bradford-Hill criteria (Hill, 2015)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Varied notions of mechanism</a:t>
            </a:r>
          </a:p>
        </p:txBody>
      </p:sp>
      <p:pic>
        <p:nvPicPr>
          <p:cNvPr descr="../include/img/41583_2023_778_Fig1_HTML.png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796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 1: The narrow and broad notions of mechanism from Ross &amp; Bassett (2024)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 reverse neuroethology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 1 from Asinof &amp; Card (2024)</a:t>
            </a:r>
          </a:p>
        </p:txBody>
      </p:sp>
      <p:pic>
        <p:nvPicPr>
          <p:cNvPr descr="https://i.giphy.com/media/v1.Y2lkPTc5MGI3NjExcXh1NzNxdmlidTlxandjeGNtOHgzNWtodmNoN2Rja3duZWNiYm92ayZlcD12MV9pbnRlcm5hbF9naWZfYnlfaWQmY3Q9dg/DF34cUyak7TPs7D4GE/giphy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17600" y="1193800"/>
            <a:ext cx="692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https://giphy.com/clips/thefastsaga-fast-and-furious-saga-fate-of-the-DF34cUyak7TPs7D4GE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…when faced with a difficult question, we often answer an easier one instead, usually without noticing the substitution.</a:t>
            </a:r>
          </a:p>
          <a:p>
            <a:pPr lvl="0" indent="0" marL="0">
              <a:buNone/>
            </a:pPr>
            <a:r>
              <a:rPr/>
              <a:t>– Kahneman (2013), p. 12 quoted in Krakauer, Ghazanfar, Gomez-Marin, MacIver, &amp; Poeppel (2017)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Break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Does neuroscience need behavior?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Krakauer, J. W., Ghazanfar, A. A., Gomez-Marin, A., MacIver, M. A., &amp; Poeppel, D. (2017). Neuroscience needs behavior: Correcting a reductionist bias.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93</a:t>
            </a:r>
            <a:r>
              <a:rPr/>
              <a:t>(3), 480–490. </a:t>
            </a:r>
            <a:r>
              <a:rPr>
                <a:hlinkClick r:id="rId2"/>
              </a:rPr>
              <a:t>https://dx.doi.org/10.1016/j.neuron.2016.12.041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Parada, F. J. &amp; Rossi, A. (2018). If neuroscience needs behavior, what does psychology need? </a:t>
            </a:r>
            <a:r>
              <a:rPr i="1"/>
              <a:t>Frontiers in Psychology</a:t>
            </a:r>
            <a:r>
              <a:rPr/>
              <a:t>, </a:t>
            </a:r>
            <a:r>
              <a:rPr i="1"/>
              <a:t>9</a:t>
            </a:r>
            <a:r>
              <a:rPr/>
              <a:t>, 433. </a:t>
            </a:r>
            <a:r>
              <a:rPr>
                <a:hlinkClick r:id="rId3"/>
              </a:rPr>
              <a:t>https://doi.org/10.3389/fpsyg.2018.00433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Newcombe, N. (2017). If neuroscience needs behavior, what does behavioral science need? APS Observer, 31(1). </a:t>
            </a:r>
            <a:r>
              <a:rPr>
                <a:hlinkClick r:id="rId4"/>
              </a:rPr>
              <a:t>https://www.psychologicalscience.org/observer/if-neuroscience-needs-behavior-what-does-behavioral-science-need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Questions ‘often tacit…belief in the reductionist program for understanding the link between brain and behavior’</a:t>
            </a:r>
          </a:p>
          <a:p>
            <a:pPr lvl="0"/>
            <a:r>
              <a:rPr/>
              <a:t>Behavior -&gt; understanding; neural interventions -&gt; causality</a:t>
            </a:r>
          </a:p>
          <a:p>
            <a:pPr lvl="0"/>
            <a:r>
              <a:rPr/>
              <a:t>Marr’s 3 levels (computation; algorithm; implementation)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what is behavior?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“Behavioural biologists don’t agree on what constitutes behaviour”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…“Behaviour is the internally coordinated responses (actions or inactions) of whole living organisms (individuals or groups) to internal and/or external stimuli, excluding responses more easily understood as developmental changes.”</a:t>
            </a:r>
          </a:p>
          <a:p>
            <a:pPr lvl="0" indent="0" marL="0">
              <a:buNone/>
            </a:pPr>
            <a:r>
              <a:rPr/>
              <a:t>– Levitis et al. (2009)]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1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1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Krakauer et al. (2017) Figure 2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(Krakauer et al., 2017, fig. 3)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896627316310406-gr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193800"/>
            <a:ext cx="656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(Krakauer et al., 2017, fig. 4)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www.frontiersin.org/files/Articles/362280/fpsyg-09-00433-HTML/image_m/fpsyg-09-00433-g0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74800" y="1193800"/>
            <a:ext cx="6007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Parada &amp; Rossi (2018) Figure 1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LVL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Due next Thursday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Psychology is harder than physics</a:t>
            </a:r>
          </a:p>
          <a:p>
            <a:pPr lvl="0"/>
            <a:r>
              <a:rPr/>
              <a:t>Neuroscience needs behavior</a:t>
            </a:r>
          </a:p>
          <a:p>
            <a:pPr lvl="0"/>
            <a:r>
              <a:rPr/>
              <a:t>Psychology needs behavior + mental states + measures of environment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 lab</a:t>
            </a:r>
          </a:p>
          <a:p>
            <a:pPr lvl="1"/>
            <a:r>
              <a:rPr/>
              <a:t>Read/study</a:t>
            </a:r>
          </a:p>
          <a:p>
            <a:pPr lvl="2"/>
            <a:r>
              <a:rPr/>
              <a:t>Neuroanatomy </a:t>
            </a:r>
            <a:r>
              <a:rPr>
                <a:hlinkClick r:id="rId2"/>
              </a:rPr>
              <a:t>notes</a:t>
            </a:r>
          </a:p>
          <a:p>
            <a:pPr lvl="2"/>
            <a:r>
              <a:rPr/>
              <a:t>Bring to class a copy of </a:t>
            </a:r>
            <a:r>
              <a:rPr>
                <a:hlinkClick r:id="rId3"/>
              </a:rPr>
              <a:t>Exercise 02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Asinof, S. K., &amp; Card, G. M. (2024). Neural control of naturalistic behavior choices. </a:t>
            </a:r>
            <a:r>
              <a:rPr i="1"/>
              <a:t>Annual Review of Neuroscience</a:t>
            </a:r>
            <a:r>
              <a:rPr/>
              <a:t>, </a:t>
            </a:r>
            <a:r>
              <a:rPr i="1"/>
              <a:t>47</a:t>
            </a:r>
            <a:r>
              <a:rPr/>
              <a:t>, 369–388. </a:t>
            </a:r>
            <a:r>
              <a:rPr>
                <a:hlinkClick r:id="rId2"/>
              </a:rPr>
              <a:t>https://doi.org/10.1146/annurev-neuro-111020-094019</a:t>
            </a:r>
          </a:p>
          <a:p>
            <a:pPr lvl="0" indent="0" marL="0">
              <a:buNone/>
            </a:pPr>
            <a:r>
              <a:rPr/>
              <a:t>Becker, C. R. (2021, August 31). A comprehensive list of human-computer interactions. Retrieved January 8, 2025, from </a:t>
            </a:r>
            <a:r>
              <a:rPr>
                <a:hlinkClick r:id="rId3"/>
              </a:rPr>
              <a:t>https://uxdesign.cc/a-comprehensive-list-of-human-computer-interactions-d72eaca2c0df</a:t>
            </a:r>
          </a:p>
          <a:p>
            <a:pPr lvl="0" indent="0" marL="0">
              <a:buNone/>
            </a:pPr>
            <a:r>
              <a:rPr/>
              <a:t>Calabrese, R. L. (2018). Inconvenient truth to principle of neuroscience. </a:t>
            </a:r>
            <a:r>
              <a:rPr i="1"/>
              <a:t>Trends in Neurosciences</a:t>
            </a:r>
            <a:r>
              <a:rPr/>
              <a:t>, </a:t>
            </a:r>
            <a:r>
              <a:rPr i="1"/>
              <a:t>41</a:t>
            </a:r>
            <a:r>
              <a:rPr/>
              <a:t>(8), 488–491. </a:t>
            </a:r>
            <a:r>
              <a:rPr>
                <a:hlinkClick r:id="rId4"/>
              </a:rPr>
              <a:t>https://doi.org/10.1016/j.tins.2018.05.006</a:t>
            </a:r>
          </a:p>
          <a:p>
            <a:pPr lvl="0" indent="0" marL="0">
              <a:buNone/>
            </a:pPr>
            <a:r>
              <a:rPr/>
              <a:t>Cepelewicz, J. (2021, August). Mental phenomena don’t map into the brain as expected. </a:t>
            </a:r>
            <a:r>
              <a:rPr>
                <a:hlinkClick r:id="rId5"/>
              </a:rPr>
              <a:t>https://www.quantamagazine.org/mental-phenomena-dont-map-into-the-brain-as-expected-20210824/</a:t>
            </a:r>
            <a:r>
              <a:rPr/>
              <a:t>. Retrieved from </a:t>
            </a:r>
            <a:r>
              <a:rPr>
                <a:hlinkClick r:id="rId6"/>
              </a:rPr>
              <a:t>https://www.quantamagazine.org/mental-phenomena-dont-map-into-the-brain-as-expected-20210824/</a:t>
            </a:r>
          </a:p>
          <a:p>
            <a:pPr lvl="0" indent="0" marL="0">
              <a:buNone/>
            </a:pPr>
            <a:r>
              <a:rPr/>
              <a:t>Cisek, P. (2019). Resynthesizing behavior through phylogenetic refinement. </a:t>
            </a:r>
            <a:r>
              <a:rPr i="1"/>
              <a:t>Attention, Perception &amp; Psychophysics</a:t>
            </a:r>
            <a:r>
              <a:rPr/>
              <a:t>. </a:t>
            </a:r>
            <a:r>
              <a:rPr>
                <a:hlinkClick r:id="rId7"/>
              </a:rPr>
              <a:t>https://doi.org/10.3758/s13414-019-01760-1</a:t>
            </a:r>
          </a:p>
          <a:p>
            <a:pPr lvl="0" indent="0" marL="0">
              <a:buNone/>
            </a:pPr>
            <a:r>
              <a:rPr/>
              <a:t>Eisenberg, I. W., Bissett, P. G., Zeynep Enkavi, A., Li, J., MacKinnon, D. P., Marsch, L. A., &amp; Poldrack, R. A. (2019). Uncovering the structure of self-regulation through data-driven ontology discovery. </a:t>
            </a:r>
            <a:r>
              <a:rPr i="1"/>
              <a:t>Nature Communications</a:t>
            </a:r>
            <a:r>
              <a:rPr/>
              <a:t>, </a:t>
            </a:r>
            <a:r>
              <a:rPr i="1"/>
              <a:t>10</a:t>
            </a:r>
            <a:r>
              <a:rPr/>
              <a:t>(1), 2319. </a:t>
            </a:r>
            <a:r>
              <a:rPr>
                <a:hlinkClick r:id="rId8"/>
              </a:rPr>
              <a:t>https://doi.org/10.1038/s41467-019-10301-1</a:t>
            </a:r>
          </a:p>
          <a:p>
            <a:pPr lvl="0" indent="0" marL="0">
              <a:buNone/>
            </a:pPr>
            <a:r>
              <a:rPr/>
              <a:t>Favela, L. H. (2020). Cognitive science as complexity science. </a:t>
            </a:r>
            <a:r>
              <a:rPr i="1"/>
              <a:t>Wiley Interdisciplinary Reviews. Cognitive Science</a:t>
            </a:r>
            <a:r>
              <a:rPr/>
              <a:t>, </a:t>
            </a:r>
            <a:r>
              <a:rPr i="1"/>
              <a:t>11</a:t>
            </a:r>
            <a:r>
              <a:rPr/>
              <a:t>(4), e1525. </a:t>
            </a:r>
            <a:r>
              <a:rPr>
                <a:hlinkClick r:id="rId9"/>
              </a:rPr>
              <a:t>https://doi.org/10.1002/wcs.1525</a:t>
            </a:r>
          </a:p>
          <a:p>
            <a:pPr lvl="0" indent="0" marL="0">
              <a:buNone/>
            </a:pPr>
            <a:r>
              <a:rPr/>
              <a:t>Hill, A. B. (2015). The environment and disease: Association or causation? 1965. </a:t>
            </a:r>
            <a:r>
              <a:rPr i="1"/>
              <a:t>Journal of the Royal Society of Medicine</a:t>
            </a:r>
            <a:r>
              <a:rPr/>
              <a:t>, </a:t>
            </a:r>
            <a:r>
              <a:rPr i="1"/>
              <a:t>108</a:t>
            </a:r>
            <a:r>
              <a:rPr/>
              <a:t>(1), 32–37. </a:t>
            </a:r>
            <a:r>
              <a:rPr>
                <a:hlinkClick r:id="rId10"/>
              </a:rPr>
              <a:t>https://doi.org/10.1177/0141076814562718</a:t>
            </a:r>
          </a:p>
          <a:p>
            <a:pPr lvl="0" indent="0" marL="0">
              <a:buNone/>
            </a:pPr>
            <a:r>
              <a:rPr/>
              <a:t>Kahneman, D. (2013). </a:t>
            </a:r>
            <a:r>
              <a:rPr i="1"/>
              <a:t>Thinking, fast and slow</a:t>
            </a:r>
            <a:r>
              <a:rPr/>
              <a:t> (1st edition). Farrar, Straus; Giroux. Retrieved from </a:t>
            </a:r>
            <a:r>
              <a:rPr>
                <a:hlinkClick r:id="rId11"/>
              </a:rPr>
              <a:t>https://www.amazon.com/Thinking-Fast-Slow-Daniel-Kahneman/dp/0374533555</a:t>
            </a:r>
          </a:p>
          <a:p>
            <a:pPr lvl="0" indent="0" marL="0">
              <a:buNone/>
            </a:pPr>
            <a:r>
              <a:rPr/>
              <a:t>Krakauer, J. W., Ghazanfar, A. A., Gomez-Marin, A., MacIver, M. A., &amp; Poeppel, D. (2017). Neuroscience needs behavior: Correcting a reductionist bias.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93</a:t>
            </a:r>
            <a:r>
              <a:rPr/>
              <a:t>(3), 480–490. </a:t>
            </a:r>
            <a:r>
              <a:rPr>
                <a:hlinkClick r:id="rId12"/>
              </a:rPr>
              <a:t>https://doi.org/10.1016/j.neuron.2016.12.041</a:t>
            </a:r>
          </a:p>
          <a:p>
            <a:pPr lvl="0" indent="0" marL="0">
              <a:buNone/>
            </a:pPr>
            <a:r>
              <a:rPr/>
              <a:t>Levitis, D. A., Lidicker, W. Z., &amp; Freund, G. (2009). Behavioural biologists don’t agree on what constitutes behaviour. </a:t>
            </a:r>
            <a:r>
              <a:rPr i="1"/>
              <a:t>Animal Behaviour</a:t>
            </a:r>
            <a:r>
              <a:rPr/>
              <a:t>, </a:t>
            </a:r>
            <a:r>
              <a:rPr i="1"/>
              <a:t>78</a:t>
            </a:r>
            <a:r>
              <a:rPr/>
              <a:t>(1), 103–110. </a:t>
            </a:r>
            <a:r>
              <a:rPr>
                <a:hlinkClick r:id="rId13"/>
              </a:rPr>
              <a:t>https://doi.org/10.1016/j.anbehav.2009.03.018</a:t>
            </a:r>
          </a:p>
          <a:p>
            <a:pPr lvl="0" indent="0" marL="0">
              <a:buNone/>
            </a:pPr>
            <a:r>
              <a:rPr/>
              <a:t>Marr, D. (1980). </a:t>
            </a:r>
            <a:r>
              <a:rPr i="1"/>
              <a:t>Vision</a:t>
            </a:r>
            <a:r>
              <a:rPr/>
              <a:t>. Retrieved from </a:t>
            </a:r>
            <a:r>
              <a:rPr>
                <a:hlinkClick r:id="rId14"/>
              </a:rPr>
              <a:t>https://mitpress.mit.edu/books/vision</a:t>
            </a:r>
          </a:p>
          <a:p>
            <a:pPr lvl="0" indent="0" marL="0">
              <a:buNone/>
            </a:pPr>
            <a:r>
              <a:rPr/>
              <a:t>melodysheep. (2011, March). Ode to the brain! By symphony of science. Youtube. Retrieved from </a:t>
            </a:r>
            <a:r>
              <a:rPr>
                <a:hlinkClick r:id="rId15"/>
              </a:rPr>
              <a:t>https://www.youtube.com/watch?v=JB7jSFeVz1U</a:t>
            </a:r>
          </a:p>
          <a:p>
            <a:pPr lvl="0" indent="0" marL="0">
              <a:buNone/>
            </a:pPr>
            <a:r>
              <a:rPr/>
              <a:t>National Geographic. (2014, January). Beautiful 3-D brain scans show every synapse | national geographic. YouTube. Retrieved from </a:t>
            </a:r>
            <a:r>
              <a:rPr>
                <a:hlinkClick r:id="rId16"/>
              </a:rPr>
              <a:t>https://www.youtube.com/watch?v=nvXuq9jRWKE</a:t>
            </a:r>
          </a:p>
          <a:p>
            <a:pPr lvl="0" indent="0" marL="0">
              <a:buNone/>
            </a:pPr>
            <a:r>
              <a:rPr/>
              <a:t>Parada, F. J., &amp; Rossi, A. (2018). If neuroscience needs behavior, what does psychology need? </a:t>
            </a:r>
            <a:r>
              <a:rPr i="1"/>
              <a:t>Frontiers in Psychology</a:t>
            </a:r>
            <a:r>
              <a:rPr/>
              <a:t>, </a:t>
            </a:r>
            <a:r>
              <a:rPr i="1"/>
              <a:t>9</a:t>
            </a:r>
            <a:r>
              <a:rPr/>
              <a:t>, 433. </a:t>
            </a:r>
            <a:r>
              <a:rPr>
                <a:hlinkClick r:id="rId17"/>
              </a:rPr>
              <a:t>https://doi.org/10.3389/fpsyg.2018.00433</a:t>
            </a:r>
          </a:p>
          <a:p>
            <a:pPr lvl="0" indent="0" marL="0">
              <a:buNone/>
            </a:pPr>
            <a:r>
              <a:rPr/>
              <a:t>Ross, L. N., &amp; Bassett, D. S. (2024). Causation in neuroscience: Keeping mechanism meaningful. </a:t>
            </a:r>
            <a:r>
              <a:rPr i="1"/>
              <a:t>Nature Reviews. Neuroscience</a:t>
            </a:r>
            <a:r>
              <a:rPr/>
              <a:t>. </a:t>
            </a:r>
            <a:r>
              <a:rPr>
                <a:hlinkClick r:id="rId18"/>
              </a:rPr>
              <a:t>https://doi.org/10.1038/s41583-023-00778-7</a:t>
            </a:r>
          </a:p>
          <a:p>
            <a:pPr lvl="0" indent="0" marL="0">
              <a:buNone/>
            </a:pPr>
            <a:r>
              <a:rPr/>
              <a:t>Segal, A., Tiego, J., Parkes, L., Holmes, A. J., Marquand, A. F., &amp; Fornito, A. (2024). Embracing variability in the search for biological mechanisms of psychiatric illness. </a:t>
            </a:r>
            <a:r>
              <a:rPr i="1"/>
              <a:t>Trends in Cognitive Sciences</a:t>
            </a:r>
            <a:r>
              <a:rPr/>
              <a:t>, </a:t>
            </a:r>
            <a:r>
              <a:rPr i="1"/>
              <a:t>29</a:t>
            </a:r>
            <a:r>
              <a:rPr/>
              <a:t>, 85–99. </a:t>
            </a:r>
            <a:r>
              <a:rPr>
                <a:hlinkClick r:id="rId19"/>
              </a:rPr>
              <a:t>https://doi.org/10.1016/j.tics.2024.09.010</a:t>
            </a:r>
          </a:p>
          <a:p>
            <a:pPr lvl="0" indent="0" marL="0">
              <a:buNone/>
            </a:pPr>
            <a:r>
              <a:rPr/>
              <a:t>Sejnowski, T. J., Churchland, P. S., &amp; Movshon, J. A. (2014). Putting big data to good use in neuroscience. </a:t>
            </a:r>
            <a:r>
              <a:rPr i="1"/>
              <a:t>Nat. Neurosci.</a:t>
            </a:r>
            <a:r>
              <a:rPr/>
              <a:t>, </a:t>
            </a:r>
            <a:r>
              <a:rPr i="1"/>
              <a:t>17</a:t>
            </a:r>
            <a:r>
              <a:rPr/>
              <a:t>(11), 1440–1441. </a:t>
            </a:r>
            <a:r>
              <a:rPr>
                <a:hlinkClick r:id="rId20"/>
              </a:rPr>
              <a:t>https://doi.org/10.1038/nn.3839</a:t>
            </a:r>
          </a:p>
          <a:p>
            <a:pPr lvl="0" indent="0" marL="0">
              <a:buNone/>
            </a:pPr>
            <a:r>
              <a:rPr/>
              <a:t>Siddiqi, S. H., Kording, K. P., Parvizi, J., &amp; Fox, M. D. (2022). Causal mapping of human brain function. </a:t>
            </a:r>
            <a:r>
              <a:rPr i="1"/>
              <a:t>Nature Reviews Neuroscience</a:t>
            </a:r>
            <a:r>
              <a:rPr/>
              <a:t>, </a:t>
            </a:r>
            <a:r>
              <a:rPr i="1"/>
              <a:t>23</a:t>
            </a:r>
            <a:r>
              <a:rPr/>
              <a:t>(6), 361–375. </a:t>
            </a:r>
            <a:r>
              <a:rPr>
                <a:hlinkClick r:id="rId21"/>
              </a:rPr>
              <a:t>https://doi.org/10.1038/s41583-022-00583-8</a:t>
            </a:r>
          </a:p>
          <a:p>
            <a:pPr lvl="0" indent="0" marL="0">
              <a:buNone/>
            </a:pPr>
            <a:r>
              <a:rPr/>
              <a:t>Stringer, C., Pachitariu, M., Steinmetz, N., Reddy, C. B., Carandini, M., &amp; Harris, K. D. (2019). Spontaneous behaviors drive multidimensional, brainwide activity.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364</a:t>
            </a:r>
            <a:r>
              <a:rPr/>
              <a:t>(6437), 255. </a:t>
            </a:r>
            <a:r>
              <a:rPr>
                <a:hlinkClick r:id="rId22"/>
              </a:rPr>
              <a:t>https://doi.org/10.1126/science.aav7893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23"/>
              </a:rPr>
              <a:t>https://doi.org/10.1002/cne.20733</a:t>
            </a:r>
          </a:p>
          <a:p>
            <a:pPr lvl="0" indent="0" marL="0">
              <a:buNone/>
            </a:pPr>
            <a:r>
              <a:rPr/>
              <a:t>Swanson, L. W., &amp; Lichtman, J. W. (2016). From Cajal to connectome and beyond. </a:t>
            </a:r>
            <a:r>
              <a:rPr i="1"/>
              <a:t>Annual Review of Neuroscience</a:t>
            </a:r>
            <a:r>
              <a:rPr/>
              <a:t>, </a:t>
            </a:r>
            <a:r>
              <a:rPr i="1"/>
              <a:t>39</a:t>
            </a:r>
            <a:r>
              <a:rPr/>
              <a:t>, 197–216. </a:t>
            </a:r>
            <a:r>
              <a:rPr>
                <a:hlinkClick r:id="rId24"/>
              </a:rPr>
              <a:t>https://doi.org/10.1146/annurev-neuro-071714-033954</a:t>
            </a:r>
          </a:p>
          <a:p>
            <a:pPr lvl="0" indent="0" marL="0">
              <a:buNone/>
            </a:pPr>
            <a:r>
              <a:rPr/>
              <a:t>Terman, D., &amp; Izhikevich, E. (2008). State space. </a:t>
            </a:r>
            <a:r>
              <a:rPr i="1"/>
              <a:t>Scholarpedia Journal</a:t>
            </a:r>
            <a:r>
              <a:rPr/>
              <a:t>, </a:t>
            </a:r>
            <a:r>
              <a:rPr i="1"/>
              <a:t>3</a:t>
            </a:r>
            <a:r>
              <a:rPr/>
              <a:t>, 1924. </a:t>
            </a:r>
            <a:r>
              <a:rPr>
                <a:hlinkClick r:id="rId25"/>
              </a:rPr>
              <a:t>https://doi.org/10.4249/scholarpedia.1924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Foundations of Social, Cognitive, and Affective Neuroscience</dc:title>
  <dc:creator/>
  <cp:keywords/>
  <dcterms:created xsi:type="dcterms:W3CDTF">2026-01-12T14:27:03Z</dcterms:created>
  <dcterms:modified xsi:type="dcterms:W3CDTF">2026-01-12T14:27:03Z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PSY 511.001 Spr 2026</vt:lpwstr>
  </property>
  <property fmtid="{D5CDD505-2E9C-101B-9397-08002B2CF9AE}" pid="13" name="toc-title">
    <vt:lpwstr>Table of contents</vt:lpwstr>
  </property>
</Properties>
</file>