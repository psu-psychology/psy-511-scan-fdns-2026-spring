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txt" ContentType="text/plain"/>
  <Default Extension="gif" ContentType="image/gif"/>
  <Default Extension="webp" ContentType="image/webp"/>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3" Type="http://schemas.openxmlformats.org/officeDocument/2006/relationships/viewProps" Target="viewProps.xml" /><Relationship Id="rId82" Type="http://schemas.openxmlformats.org/officeDocument/2006/relationships/presProps" Target="presProps.xml" /><Relationship Id="rId1" Type="http://schemas.openxmlformats.org/officeDocument/2006/relationships/slideMaster" Target="slideMasters/slideMaster1.xml" /><Relationship Id="rId85" Type="http://schemas.openxmlformats.org/officeDocument/2006/relationships/tableStyles" Target="tableStyles.xml" /><Relationship Id="rId84" Type="http://schemas.openxmlformats.org/officeDocument/2006/relationships/theme" Target="theme/theme1.xml" /></Relationships>
</file>

<file path=ppt/media/image21.txt>deleted_source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embed/JB7jSFeVz1U"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Network_science" TargetMode="External" /><Relationship Id="rId3" Type="http://schemas.openxmlformats.org/officeDocument/2006/relationships/image" Target="../media/image5.jp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en.wikipedia.org/wiki/Spherical_cow"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jp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jpg"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su-psychology.github.io/psy-511-scan-fdns-2026-spring/"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9.jp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1.txt" /><Relationship Id="rId2" Type="http://schemas.openxmlformats.org/officeDocument/2006/relationships/image" Target="../media/image20.gif"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jp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webp"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gif"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x.doi.org/10.1016/j.neuron.2016.12.041" TargetMode="External" /><Relationship Id="rId3" Type="http://schemas.openxmlformats.org/officeDocument/2006/relationships/hyperlink" Target="https://doi.org/10.3389/fpsyg.2018.00433" TargetMode="External" /><Relationship Id="rId4" Type="http://schemas.openxmlformats.org/officeDocument/2006/relationships/hyperlink" Target="https://www.psychologicalscience.org/observer/if-neuroscience-needs-behavior-what-does-behavioral-science-need"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5.jp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jp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7.jp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8.jp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9.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exercises/ex-LVL.qmd"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resources/anatomy.qmd" TargetMode="External" /><Relationship Id="rId3" Type="http://schemas.openxmlformats.org/officeDocument/2006/relationships/hyperlink" Target="exercises/ex02.pdf"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46/annurev-neuro-111020-094019" TargetMode="External" /><Relationship Id="rId3" Type="http://schemas.openxmlformats.org/officeDocument/2006/relationships/hyperlink" Target="https://uxdesign.cc/a-comprehensive-list-of-human-computer-interactions-d72eaca2c0df" TargetMode="External" /><Relationship Id="rId4" Type="http://schemas.openxmlformats.org/officeDocument/2006/relationships/hyperlink" Target="https://doi.org/10.1016/j.tins.2018.05.006" TargetMode="External" /><Relationship Id="rId5" Type="http://schemas.openxmlformats.org/officeDocument/2006/relationships/hyperlink" Target="https://www.quantamagazine.org/mental-phenomena-dont-map-into-the-brain-as-expected-20210824/" TargetMode="External" /><Relationship Id="rId6" Type="http://schemas.openxmlformats.org/officeDocument/2006/relationships/hyperlink" Target="https://www.quantamagazine.org/mental-phenomena-dont-map-into-the-brain-as-expected-20210824/" TargetMode="External" /><Relationship Id="rId7" Type="http://schemas.openxmlformats.org/officeDocument/2006/relationships/hyperlink" Target="https://doi.org/10.3758/s13414-019-01760-1" TargetMode="External" /><Relationship Id="rId8" Type="http://schemas.openxmlformats.org/officeDocument/2006/relationships/hyperlink" Target="https://doi.org/10.1038/s41467-019-10301-1" TargetMode="External" /><Relationship Id="rId9" Type="http://schemas.openxmlformats.org/officeDocument/2006/relationships/hyperlink" Target="https://doi.org/10.1002/wcs.1525" TargetMode="External" /><Relationship Id="rId10" Type="http://schemas.openxmlformats.org/officeDocument/2006/relationships/hyperlink" Target="https://doi.org/10.1177/0141076814562718" TargetMode="External" /><Relationship Id="rId11" Type="http://schemas.openxmlformats.org/officeDocument/2006/relationships/hyperlink" Target="https://www.amazon.com/Thinking-Fast-Slow-Daniel-Kahneman/dp/0374533555" TargetMode="External" /><Relationship Id="rId12" Type="http://schemas.openxmlformats.org/officeDocument/2006/relationships/hyperlink" Target="https://doi.org/10.1016/j.neuron.2016.12.041" TargetMode="External" /><Relationship Id="rId13" Type="http://schemas.openxmlformats.org/officeDocument/2006/relationships/hyperlink" Target="https://doi.org/10.1016/j.anbehav.2009.03.018" TargetMode="External" /><Relationship Id="rId14" Type="http://schemas.openxmlformats.org/officeDocument/2006/relationships/hyperlink" Target="https://mitpress.mit.edu/books/vision" TargetMode="External" /><Relationship Id="rId15" Type="http://schemas.openxmlformats.org/officeDocument/2006/relationships/hyperlink" Target="https://www.youtube.com/watch?v=JB7jSFeVz1U" TargetMode="External" /><Relationship Id="rId16" Type="http://schemas.openxmlformats.org/officeDocument/2006/relationships/hyperlink" Target="https://www.youtube.com/watch?v=nvXuq9jRWKE" TargetMode="External" /><Relationship Id="rId17" Type="http://schemas.openxmlformats.org/officeDocument/2006/relationships/hyperlink" Target="https://doi.org/10.3389/fpsyg.2018.00433" TargetMode="External" /><Relationship Id="rId18" Type="http://schemas.openxmlformats.org/officeDocument/2006/relationships/hyperlink" Target="https://doi.org/10.1038/s41583-023-00778-7" TargetMode="External" /><Relationship Id="rId19" Type="http://schemas.openxmlformats.org/officeDocument/2006/relationships/hyperlink" Target="https://doi.org/10.1016/j.tics.2024.09.010" TargetMode="External" /><Relationship Id="rId20" Type="http://schemas.openxmlformats.org/officeDocument/2006/relationships/hyperlink" Target="https://doi.org/10.1038/nn.3839" TargetMode="External" /><Relationship Id="rId21" Type="http://schemas.openxmlformats.org/officeDocument/2006/relationships/hyperlink" Target="https://doi.org/10.1038/s41583-022-00583-8" TargetMode="External" /><Relationship Id="rId22" Type="http://schemas.openxmlformats.org/officeDocument/2006/relationships/hyperlink" Target="https://doi.org/10.1126/science.aav7893" TargetMode="External" /><Relationship Id="rId23" Type="http://schemas.openxmlformats.org/officeDocument/2006/relationships/hyperlink" Target="https://doi.org/10.1002/cne.20733" TargetMode="External" /><Relationship Id="rId24" Type="http://schemas.openxmlformats.org/officeDocument/2006/relationships/hyperlink" Target="https://doi.org/10.1146/annurev-neuro-071714-033954" TargetMode="External" /><Relationship Id="rId25" Type="http://schemas.openxmlformats.org/officeDocument/2006/relationships/hyperlink" Target="https://doi.org/10.4249/scholarpedia.1924"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Foundations of Social, Cognitive, and Affective Neuroscience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PSY 511.001 Spr 2026</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Prelude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https://www.youtube.com/embed/JB7jSFeVz1U</a:t>
            </a:r>
          </a:p>
          <a:p>
            <a:pPr lvl="0" indent="0" marL="0">
              <a:buNone/>
            </a:pPr>
            <a:r>
              <a:rPr/>
              <a:t>– melodysheep (2011)</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a:t>
            </a:r>
            <a:r>
              <a:rPr sz="2000" i="1"/>
              <a:t>If understanding everything we need to know about the brain is a mile, how far have we walked?</a:t>
            </a:r>
            <a:r>
              <a:rPr sz="2000"/>
              <a:t>”</a:t>
            </a:r>
          </a:p>
          <a:p>
            <a:pPr lvl="0" indent="0" marL="0">
              <a:buNone/>
            </a:pPr>
            <a:r>
              <a:rPr/>
              <a:t>– National Geographic (2014)</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topics</a:t>
            </a:r>
          </a:p>
        </p:txBody>
      </p:sp>
      <p:sp>
        <p:nvSpPr>
          <p:cNvPr id="3" name="Content Placeholder 2"/>
          <p:cNvSpPr>
            <a:spLocks noGrp="1"/>
          </p:cNvSpPr>
          <p:nvPr>
            <p:ph idx="1"/>
          </p:nvPr>
        </p:nvSpPr>
        <p:spPr/>
        <p:txBody>
          <a:bodyPr/>
          <a:lstStyle/>
          <a:p>
            <a:pPr lvl="0"/>
            <a:r>
              <a:rPr/>
              <a:t>Why </a:t>
            </a:r>
            <a:r>
              <a:rPr strike="sngStrike"/>
              <a:t>neuroscience</a:t>
            </a:r>
            <a:r>
              <a:rPr/>
              <a:t> psychology is harder than physics</a:t>
            </a:r>
          </a:p>
          <a:p>
            <a:pPr lvl="0"/>
            <a:r>
              <a:rPr/>
              <a:t>Course overview</a:t>
            </a:r>
          </a:p>
          <a:p>
            <a:pPr lvl="0"/>
            <a:r>
              <a:rPr/>
              <a:t>Does neuroscience need behavior? Does behavioral science need the brain?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Why psychology is harder than physics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psych-harder-1.jpg" id="0" name="Picture 1"/>
          <p:cNvPicPr>
            <a:picLocks noGrp="1" noChangeAspect="1"/>
          </p:cNvPicPr>
          <p:nvPr/>
        </p:nvPicPr>
        <p:blipFill>
          <a:blip r:embed="rId2"/>
          <a:stretch>
            <a:fillRect/>
          </a:stretch>
        </p:blipFill>
        <p:spPr bwMode="auto">
          <a:xfrm>
            <a:off x="2044700" y="1193800"/>
            <a:ext cx="5054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psych-harder-2.jpg" id="0" name="Picture 1"/>
          <p:cNvPicPr>
            <a:picLocks noGrp="1" noChangeAspect="1"/>
          </p:cNvPicPr>
          <p:nvPr/>
        </p:nvPicPr>
        <p:blipFill>
          <a:blip r:embed="rId2"/>
          <a:stretch>
            <a:fillRect/>
          </a:stretch>
        </p:blipFill>
        <p:spPr bwMode="auto">
          <a:xfrm>
            <a:off x="2070100" y="1193800"/>
            <a:ext cx="500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do we need to know?</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What is the state…</a:t>
                </a:r>
              </a:p>
              <a:p>
                <a:pPr lvl="1"/>
                <a:r>
                  <a:rPr/>
                  <a:t>Of the world (</a:t>
                </a:r>
                <a14:m>
                  <m:oMath xmlns:m="http://schemas.openxmlformats.org/officeDocument/2006/math">
                    <m:r>
                      <m:t>W</m:t>
                    </m:r>
                  </m:oMath>
                </a14:m>
                <a:r>
                  <a:rPr/>
                  <a:t>)</a:t>
                </a:r>
              </a:p>
              <a:p>
                <a:pPr lvl="1"/>
                <a:r>
                  <a:rPr/>
                  <a:t>Of the organism</a:t>
                </a:r>
              </a:p>
              <a:p>
                <a:pPr lvl="2"/>
                <a:r>
                  <a:rPr/>
                  <a:t>Body (</a:t>
                </a:r>
                <a14:m>
                  <m:oMath xmlns:m="http://schemas.openxmlformats.org/officeDocument/2006/math">
                    <m:r>
                      <m:t>B</m:t>
                    </m:r>
                  </m:oMath>
                </a14:m>
                <a:r>
                  <a:rPr/>
                  <a:t>)</a:t>
                </a:r>
              </a:p>
              <a:p>
                <a:pPr lvl="2"/>
                <a:r>
                  <a:rPr/>
                  <a:t>Nervous system (</a:t>
                </a:r>
                <a14:m>
                  <m:oMath xmlns:m="http://schemas.openxmlformats.org/officeDocument/2006/math">
                    <m:r>
                      <m:t>N</m:t>
                    </m:r>
                  </m:oMath>
                </a14:m>
                <a:r>
                  <a:rPr/>
                  <a:t>)</a:t>
                </a:r>
              </a:p>
              <a:p>
                <a:pPr lvl="2"/>
                <a:r>
                  <a:rPr/>
                  <a:t>Mind (</a:t>
                </a:r>
                <a14:m>
                  <m:oMath xmlns:m="http://schemas.openxmlformats.org/officeDocument/2006/math">
                    <m:r>
                      <m:t>M</m:t>
                    </m:r>
                  </m:oMath>
                </a14:m>
                <a:r>
                  <a:rPr/>
                  <a:t>)</a:t>
                </a:r>
              </a:p>
              <a:p>
                <a:pPr lvl="0"/>
                <a:r>
                  <a:rPr/>
                  <a:t>How do these states change over time?</a:t>
                </a:r>
              </a:p>
              <a:p>
                <a:pPr lvl="0"/>
                <a:r>
                  <a:rPr/>
                  <a:t>What causes the changes?</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 state spaces…</a:t>
            </a:r>
          </a:p>
        </p:txBody>
      </p:sp>
      <p:sp>
        <p:nvSpPr>
          <p:cNvPr id="3" name="Content Placeholder 2"/>
          <p:cNvSpPr>
            <a:spLocks noGrp="1"/>
          </p:cNvSpPr>
          <p:nvPr>
            <p:ph idx="1"/>
          </p:nvPr>
        </p:nvSpPr>
        <p:spPr/>
        <p:txBody>
          <a:bodyPr/>
          <a:lstStyle/>
          <a:p>
            <a:pPr lvl="0" indent="0" marL="1270000">
              <a:buNone/>
            </a:pPr>
            <a:r>
              <a:rPr sz="2000"/>
              <a:t>State space is the set of all possible states of a dynamical system; each state of the system corresponds to a unique point in the state space. For example, the state of an idealized pendulum is uniquely defined by its angle and angular velocity, so the state space is the set of all possible pairs “(angle, velocity)”, which form the cylinder S1×ℝ , as in Figure 1.</a:t>
            </a:r>
          </a:p>
          <a:p>
            <a:pPr lvl="0" indent="0" marL="0">
              <a:buNone/>
            </a:pPr>
            <a:r>
              <a:rPr/>
              <a:t>– Terman &amp; Izhikevich (2008)</a:t>
            </a:r>
          </a:p>
          <a:p>
            <a:pPr lvl="0" indent="0" marL="0">
              <a:buNone/>
            </a:pPr>
            <a:r>
              <a:rPr/>
              <a:t>Figure 1 from Terman &amp; Izhikevich (2008)</a:t>
            </a:r>
          </a:p>
          <a:p>
            <a:pPr lvl="0" indent="0" marL="0">
              <a:buNone/>
            </a:pPr>
            <a:r>
              <a:rPr/>
              <a:t>Figure 1 from Terman &amp; Izhikevich (2008)</a:t>
            </a:r>
          </a:p>
          <a:p>
            <a:pPr lvl="0" indent="0" marL="0">
              <a:buNone/>
            </a:pPr>
            <a:r>
              <a:rPr/>
              <a:t>– Terman &amp; Izhikevich (2008)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State spaces in brain &amp; behavior</a:t>
            </a:r>
          </a:p>
        </p:txBody>
      </p:sp>
      <p:pic>
        <p:nvPicPr>
          <p:cNvPr descr="../include/img/swanson-2005-fig-1.jpg" id="0" name="Picture 1"/>
          <p:cNvPicPr>
            <a:picLocks noGrp="1" noChangeAspect="1"/>
          </p:cNvPicPr>
          <p:nvPr/>
        </p:nvPicPr>
        <p:blipFill>
          <a:blip r:embed="rId2"/>
          <a:stretch>
            <a:fillRect/>
          </a:stretch>
        </p:blipFill>
        <p:spPr bwMode="auto">
          <a:xfrm>
            <a:off x="1955800" y="1193800"/>
            <a:ext cx="5219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Swanson (2005) Figure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states are more easily measured than others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14:m>
                  <m:oMath xmlns:m="http://schemas.openxmlformats.org/officeDocument/2006/math">
                    <m:r>
                      <m:t>W</m:t>
                    </m:r>
                  </m:oMath>
                </a14:m>
                <a:r>
                  <a:rPr/>
                  <a:t>, </a:t>
                </a:r>
                <a14:m>
                  <m:oMath xmlns:m="http://schemas.openxmlformats.org/officeDocument/2006/math">
                    <m:r>
                      <m:t>B</m:t>
                    </m:r>
                  </m:oMath>
                </a14:m>
                <a:r>
                  <a:rPr/>
                  <a:t>, </a:t>
                </a:r>
                <a14:m>
                  <m:oMath xmlns:m="http://schemas.openxmlformats.org/officeDocument/2006/math">
                    <m:r>
                      <m:t>N</m:t>
                    </m:r>
                  </m:oMath>
                </a14:m>
                <a:r>
                  <a:rPr/>
                  <a:t> (more or less) </a:t>
                </a:r>
                <a:r>
                  <a:rPr b="1"/>
                  <a:t>directly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media.springernature.com/lw685/springer-static/image/art%3A10.1038%2Fnn.3839/MediaObjects/41593_2014_Article_BFnn3839_Fig1_HTML.jpg" id="0" name="Picture 1"/>
          <p:cNvPicPr>
            <a:picLocks noGrp="1" noChangeAspect="1"/>
          </p:cNvPicPr>
          <p:nvPr/>
        </p:nvPicPr>
        <p:blipFill>
          <a:blip r:embed="rId2"/>
          <a:stretch>
            <a:fillRect/>
          </a:stretch>
        </p:blipFill>
        <p:spPr bwMode="auto">
          <a:xfrm>
            <a:off x="2425700" y="1193800"/>
            <a:ext cx="4292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Sejnowski et al. (2014)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p:txBody>
              <a:bodyPr/>
              <a:lstStyle/>
              <a:p>
                <a:pPr lvl="0" indent="0" marL="0">
                  <a:buNone/>
                </a:pPr>
                <a:r>
                  <a:rPr/>
                  <a:t>Mental states (</a:t>
                </a:r>
                <a14:m>
                  <m:oMath xmlns:m="http://schemas.openxmlformats.org/officeDocument/2006/math">
                    <m:r>
                      <m:t>M</m:t>
                    </m:r>
                  </m:oMath>
                </a14:m>
                <a:r>
                  <a:rPr/>
                  <a:t>)</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Measured </a:t>
                </a:r>
                <a:r>
                  <a:rPr b="1"/>
                  <a:t>indirectly</a:t>
                </a:r>
              </a:p>
              <a:p>
                <a:pPr lvl="0"/>
                <a:r>
                  <a:rPr/>
                  <a:t>Via </a:t>
                </a:r>
                <a14:m>
                  <m:oMath xmlns:m="http://schemas.openxmlformats.org/officeDocument/2006/math">
                    <m:r>
                      <m:t>N</m:t>
                    </m:r>
                  </m:oMath>
                </a14:m>
                <a:r>
                  <a:rPr/>
                  <a:t>, </a:t>
                </a:r>
                <a14:m>
                  <m:oMath xmlns:m="http://schemas.openxmlformats.org/officeDocument/2006/math">
                    <m:r>
                      <m:t>B</m:t>
                    </m:r>
                  </m:oMath>
                </a14:m>
                <a:r>
                  <a:rPr/>
                  <a:t>, </a:t>
                </a:r>
                <a14:m>
                  <m:oMath xmlns:m="http://schemas.openxmlformats.org/officeDocument/2006/math">
                    <m:r>
                      <m:t>W</m:t>
                    </m:r>
                  </m:oMath>
                </a14:m>
                <a:r>
                  <a:rPr/>
                  <a:t> ::: {.fragment}</a:t>
                </a:r>
              </a:p>
              <a:p>
                <a:pPr lvl="0"/>
                <a:r>
                  <a:rPr/>
                  <a:t>Do you agree? :::</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p:txBody>
              <a:bodyPr/>
              <a:lstStyle/>
              <a:p>
                <a:pPr lvl="0" indent="0" marL="0">
                  <a:buNone/>
                </a:pPr>
                <a:r>
                  <a:rPr/>
                  <a:t>What are essential components/dimensions of </a:t>
                </a:r>
                <a14:m>
                  <m:oMath xmlns:m="http://schemas.openxmlformats.org/officeDocument/2006/math">
                    <m:r>
                      <m:t>W</m:t>
                    </m:r>
                  </m:oMath>
                </a14:m>
                <a:r>
                  <a:rPr/>
                  <a:t>?</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To explain/understand </a:t>
                </a:r>
                <a14:m>
                  <m:oMath xmlns:m="http://schemas.openxmlformats.org/officeDocument/2006/math">
                    <m:r>
                      <m:t>B</m:t>
                    </m:r>
                  </m:oMath>
                </a14:m>
                <a:r>
                  <a:rPr/>
                  <a:t> (and </a:t>
                </a:r>
                <a14:m>
                  <m:oMath xmlns:m="http://schemas.openxmlformats.org/officeDocument/2006/math">
                    <m:r>
                      <m:t>M</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p:txBody>
              <a:bodyPr/>
              <a:lstStyle/>
              <a:p>
                <a:pPr lvl="0" indent="0" marL="0">
                  <a:buNone/>
                </a:pPr>
                <a:r>
                  <a:rPr/>
                  <a:t>What are essential components/dimensions of </a:t>
                </a:r>
                <a14:m>
                  <m:oMath xmlns:m="http://schemas.openxmlformats.org/officeDocument/2006/math">
                    <m:r>
                      <m:t>B</m:t>
                    </m:r>
                  </m:oMath>
                </a14:m>
                <a:r>
                  <a:rPr/>
                  <a:t>?</a:t>
                </a:r>
              </a:p>
            </p:txBody>
          </p:sp>
        </mc:Choice>
      </mc:AlternateContent>
      <p:sp>
        <p:nvSpPr>
          <p:cNvPr id="3" name="Content Placeholder 2"/>
          <p:cNvSpPr>
            <a:spLocks noGrp="1"/>
          </p:cNvSpPr>
          <p:nvPr>
            <p:ph idx="1"/>
          </p:nvPr>
        </p:nvSpPr>
        <p:spPr/>
        <p:txBody>
          <a:bodyPr/>
          <a:lstStyle/>
          <a:p>
            <a:pPr lvl="0"/>
            <a:r>
              <a:rPr/>
              <a:t>To explain/understand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Brain &amp; behavior are complex, dynamic </a:t>
            </a:r>
            <a:r>
              <a:rPr i="1"/>
              <a:t>systems</a:t>
            </a:r>
            <a:r>
              <a:rPr/>
              <a:t> with</a:t>
            </a:r>
          </a:p>
        </p:txBody>
      </p:sp>
      <p:sp>
        <p:nvSpPr>
          <p:cNvPr id="3" name="Content Placeholder 2"/>
          <p:cNvSpPr>
            <a:spLocks noGrp="1"/>
          </p:cNvSpPr>
          <p:nvPr>
            <p:ph idx="1"/>
          </p:nvPr>
        </p:nvSpPr>
        <p:spPr/>
        <p:txBody>
          <a:bodyPr/>
          <a:lstStyle/>
          <a:p>
            <a:pPr lvl="0"/>
            <a:r>
              <a:rPr/>
              <a:t>Components</a:t>
            </a:r>
          </a:p>
          <a:p>
            <a:pPr lvl="0"/>
            <a:r>
              <a:rPr/>
              <a:t>Interactions</a:t>
            </a:r>
          </a:p>
          <a:p>
            <a:pPr lvl="0"/>
            <a:r>
              <a:rPr/>
              <a:t>Forces/influences</a:t>
            </a:r>
          </a:p>
          <a:p>
            <a:pPr lvl="0"/>
            <a:r>
              <a:rPr/>
              <a:t>Boundaries</a:t>
            </a:r>
          </a:p>
          <a:p>
            <a:pPr lvl="0"/>
            <a:r>
              <a:rPr/>
              <a:t>Inputs/outputs/processes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Systems…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“Behave” or change state across time</a:t>
                </a:r>
              </a:p>
              <a:p>
                <a:pPr lvl="0"/>
                <a:r>
                  <a:rPr/>
                  <a:t>Return to starting state</a:t>
                </a:r>
              </a:p>
              <a:p>
                <a:pPr lvl="0"/>
                <a:r>
                  <a:rPr/>
                  <a:t>Often regulated, controlled, influenced by feedback loops</a:t>
                </a:r>
              </a:p>
              <a:p>
                <a:pPr lvl="0"/>
                <a14:m>
                  <m:oMath xmlns:m="http://schemas.openxmlformats.org/officeDocument/2006/math">
                    <m:r>
                      <m:t>B</m:t>
                    </m:r>
                    <m:d>
                      <m:dPr>
                        <m:begChr m:val="("/>
                        <m:sepChr m:val=""/>
                        <m:endChr m:val=")"/>
                        <m:grow/>
                      </m:dPr>
                      <m:e>
                        <m:r>
                          <m:t>t</m:t>
                        </m:r>
                        <m:r>
                          <m:rPr>
                            <m:sty m:val="p"/>
                          </m:rPr>
                          <m:t>+</m:t>
                        </m:r>
                        <m:r>
                          <m:t>1</m:t>
                        </m:r>
                      </m:e>
                    </m:d>
                    <m:r>
                      <m:rPr>
                        <m:sty m:val="p"/>
                      </m:rPr>
                      <m:t>=</m:t>
                    </m:r>
                    <m:r>
                      <m:t>f</m:t>
                    </m:r>
                    <m:d>
                      <m:dPr>
                        <m:begChr m:val="("/>
                        <m:sepChr m:val=""/>
                        <m:endChr m:val=")"/>
                        <m:grow/>
                      </m:dPr>
                      <m:e>
                        <m:r>
                          <m:t>W</m:t>
                        </m:r>
                        <m:d>
                          <m:dPr>
                            <m:begChr m:val="("/>
                            <m:sepChr m:val=""/>
                            <m:endChr m:val=")"/>
                            <m:grow/>
                          </m:dPr>
                          <m:e>
                            <m:r>
                              <m:t>t</m:t>
                            </m:r>
                          </m:e>
                        </m:d>
                        <m:r>
                          <m:rPr>
                            <m:sty m:val="p"/>
                          </m:rPr>
                          <m:t>,</m:t>
                        </m:r>
                        <m:r>
                          <m:t>B</m:t>
                        </m:r>
                        <m:d>
                          <m:dPr>
                            <m:begChr m:val="("/>
                            <m:sepChr m:val=""/>
                            <m:endChr m:val=")"/>
                            <m:grow/>
                          </m:dPr>
                          <m:e>
                            <m:r>
                              <m:t>t</m:t>
                            </m:r>
                          </m:e>
                        </m:d>
                        <m:r>
                          <m:rPr>
                            <m:sty m:val="p"/>
                          </m:rPr>
                          <m:t>,</m:t>
                        </m:r>
                        <m:r>
                          <m:t>N</m:t>
                        </m:r>
                        <m:d>
                          <m:dPr>
                            <m:begChr m:val="("/>
                            <m:sepChr m:val=""/>
                            <m:endChr m:val=")"/>
                            <m:grow/>
                          </m:dPr>
                          <m:e>
                            <m:r>
                              <m:t>t</m:t>
                            </m:r>
                          </m:e>
                        </m:d>
                        <m:r>
                          <m:rPr>
                            <m:sty m:val="p"/>
                          </m:rPr>
                          <m:t>,</m:t>
                        </m:r>
                        <m:r>
                          <m:t>M</m:t>
                        </m:r>
                        <m:d>
                          <m:dPr>
                            <m:begChr m:val="("/>
                            <m:sepChr m:val=""/>
                            <m:endChr m:val=")"/>
                            <m:grow/>
                          </m:dPr>
                          <m:e>
                            <m:r>
                              <m:t>t</m:t>
                            </m:r>
                          </m:e>
                        </m:d>
                      </m:e>
                    </m:d>
                  </m:oMath>
                </a14:m>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May be analyzed of as </a:t>
            </a:r>
            <a:r>
              <a:rPr>
                <a:hlinkClick r:id="rId2"/>
              </a:rPr>
              <a:t>networks</a:t>
            </a:r>
          </a:p>
        </p:txBody>
      </p:sp>
      <p:pic>
        <p:nvPicPr>
          <p:cNvPr descr="https://source.wustl.edu/wp-content/uploads/2013/08/ColeCoverFlexHub470x340.jpg" id="0" name="Picture 1"/>
          <p:cNvPicPr>
            <a:picLocks noGrp="1" noChangeAspect="1"/>
          </p:cNvPicPr>
          <p:nvPr/>
        </p:nvPicPr>
        <p:blipFill>
          <a:blip r:embed="rId3"/>
          <a:stretch>
            <a:fillRect/>
          </a:stretch>
        </p:blipFill>
        <p:spPr bwMode="auto">
          <a:xfrm>
            <a:off x="2578100" y="1193800"/>
            <a:ext cx="3987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From https://source.wustl.edu/2013/08/brain-flexible-hub-network-helps-humans-adapt/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At multiple levels of organization…</a:t>
            </a:r>
          </a:p>
        </p:txBody>
      </p:sp>
      <p:pic>
        <p:nvPicPr>
          <p:cNvPr descr="https://stats.idre.ucla.edu/wp-content/uploads/2016/02/sem_1.png" id="0" name="Picture 1"/>
          <p:cNvPicPr>
            <a:picLocks noGrp="1" noChangeAspect="1"/>
          </p:cNvPicPr>
          <p:nvPr/>
        </p:nvPicPr>
        <p:blipFill>
          <a:blip r:embed="rId2"/>
          <a:stretch>
            <a:fillRect/>
          </a:stretch>
        </p:blipFill>
        <p:spPr bwMode="auto">
          <a:xfrm>
            <a:off x="2057400" y="1193800"/>
            <a:ext cx="50292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ne390197.f1_thmb.png" id="0" name="Picture 1"/>
          <p:cNvPicPr>
            <a:picLocks noGrp="1" noChangeAspect="1"/>
          </p:cNvPicPr>
          <p:nvPr/>
        </p:nvPicPr>
        <p:blipFill>
          <a:blip r:embed="rId2"/>
          <a:stretch>
            <a:fillRect/>
          </a:stretch>
        </p:blipFill>
        <p:spPr bwMode="auto">
          <a:xfrm>
            <a:off x="3302000" y="1193800"/>
            <a:ext cx="2527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Swanson &amp; Lichtman (2016) Figure 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ne390197.f3.png" id="0" name="Picture 1"/>
          <p:cNvPicPr>
            <a:picLocks noGrp="1" noChangeAspect="1"/>
          </p:cNvPicPr>
          <p:nvPr/>
        </p:nvPicPr>
        <p:blipFill>
          <a:blip r:embed="rId2"/>
          <a:stretch>
            <a:fillRect/>
          </a:stretch>
        </p:blipFill>
        <p:spPr bwMode="auto">
          <a:xfrm>
            <a:off x="3314700" y="1193800"/>
            <a:ext cx="2527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Swanson &amp; Lichtman (2016) Figure 3</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Hard to simplify</a:t>
            </a:r>
          </a:p>
        </p:txBody>
      </p:sp>
      <p:sp>
        <p:nvSpPr>
          <p:cNvPr id="3" name="Content Placeholder 2"/>
          <p:cNvSpPr>
            <a:spLocks noGrp="1"/>
          </p:cNvSpPr>
          <p:nvPr>
            <p:ph idx="1" sz="half"/>
          </p:nvPr>
        </p:nvSpPr>
        <p:spPr/>
        <p:txBody>
          <a:bodyPr/>
          <a:lstStyle/>
          <a:p>
            <a:pPr lvl="0"/>
            <a:r>
              <a:rPr>
                <a:hlinkClick r:id="rId2"/>
              </a:rPr>
              <a:t>Consider a spherical cow</a:t>
            </a:r>
          </a:p>
          <a:p>
            <a:pPr lvl="0"/>
            <a:r>
              <a:rPr/>
              <a:t>Computation (and memory) often distributed</a:t>
            </a:r>
          </a:p>
          <a:p>
            <a:pPr lvl="0"/>
            <a:r>
              <a:rPr/>
              <a:t>Single functions -&gt; multiple parts</a:t>
            </a:r>
          </a:p>
        </p:txBody>
      </p:sp>
      <p:sp>
        <p:nvSpPr>
          <p:cNvPr id="4" name="Content Placeholder 3"/>
          <p:cNvSpPr>
            <a:spLocks noGrp="1"/>
          </p:cNvSpPr>
          <p:nvPr>
            <p:ph idx="2" sz="half"/>
          </p:nvPr>
        </p:nvSpPr>
        <p:spPr/>
        <p:txBody>
          <a:bodyPr/>
          <a:lstStyle/>
          <a:p>
            <a:pPr lvl="0" indent="0" marL="0">
              <a:buNone/>
            </a:pPr>
            <a:r>
              <a:rPr/>
              <a:t>By Keenan Crane; (The source material is licensed under CC0), CC BY-SA 4.0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Single parts -&gt; multiple functions</a:t>
            </a:r>
          </a:p>
        </p:txBody>
      </p:sp>
      <p:pic>
        <p:nvPicPr>
          <p:cNvPr descr="../include/img/calabrese-2018.jpg" id="0" name="Picture 1"/>
          <p:cNvPicPr>
            <a:picLocks noGrp="1" noChangeAspect="1"/>
          </p:cNvPicPr>
          <p:nvPr/>
        </p:nvPicPr>
        <p:blipFill>
          <a:blip r:embed="rId2"/>
          <a:stretch>
            <a:fillRect/>
          </a:stretch>
        </p:blipFill>
        <p:spPr bwMode="auto">
          <a:xfrm>
            <a:off x="1231900" y="1193800"/>
            <a:ext cx="25019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Calabrese (2018)</a:t>
            </a:r>
          </a:p>
        </p:txBody>
      </p:sp>
      <p:sp>
        <p:nvSpPr>
          <p:cNvPr id="4" name="Content Placeholder 3"/>
          <p:cNvSpPr>
            <a:spLocks noGrp="1"/>
          </p:cNvSpPr>
          <p:nvPr>
            <p:ph idx="2" sz="half"/>
          </p:nvPr>
        </p:nvSpPr>
        <p:spPr/>
        <p:txBody>
          <a:bodyPr/>
          <a:lstStyle/>
          <a:p>
            <a:pPr lvl="0"/>
            <a:r>
              <a:rPr/>
              <a:t>Many circuit wiring patterns</a:t>
            </a:r>
          </a:p>
          <a:p>
            <a:pPr lvl="0"/>
            <a:r>
              <a:rPr/>
              <a:t>Similar dynamics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Biological systems not “designed”</a:t>
            </a:r>
          </a:p>
        </p:txBody>
      </p:sp>
      <p:sp>
        <p:nvSpPr>
          <p:cNvPr id="4" name="Text Placeholder 3"/>
          <p:cNvSpPr>
            <a:spLocks noGrp="1"/>
          </p:cNvSpPr>
          <p:nvPr>
            <p:ph idx="2" sz="half" type="body"/>
          </p:nvPr>
        </p:nvSpPr>
        <p:spPr/>
        <p:txBody>
          <a:bodyPr/>
          <a:lstStyle/>
          <a:p>
            <a:pPr lvl="0"/>
            <a:r>
              <a:rPr/>
              <a:t>…like human-engineered ones</a:t>
            </a:r>
          </a:p>
        </p:txBody>
      </p:sp>
      <p:pic>
        <p:nvPicPr>
          <p:cNvPr descr="../include/img/Computer_architecture_block_diagram.png" id="0" name="Picture 1"/>
          <p:cNvPicPr>
            <a:picLocks noGrp="1" noChangeAspect="1"/>
          </p:cNvPicPr>
          <p:nvPr/>
        </p:nvPicPr>
        <p:blipFill>
          <a:blip r:embed="rId2"/>
          <a:stretch>
            <a:fillRect/>
          </a:stretch>
        </p:blipFill>
        <p:spPr bwMode="auto">
          <a:xfrm>
            <a:off x="3962400" y="203200"/>
            <a:ext cx="43053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https://en.wikipedia.org/wiki/Computer_architecture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Studying such systems is hard because…</a:t>
            </a:r>
          </a:p>
        </p:txBody>
      </p:sp>
      <p:sp>
        <p:nvSpPr>
          <p:cNvPr id="3" name="Content Placeholder 2"/>
          <p:cNvSpPr>
            <a:spLocks noGrp="1"/>
          </p:cNvSpPr>
          <p:nvPr>
            <p:ph idx="1"/>
          </p:nvPr>
        </p:nvSpPr>
        <p:spPr/>
        <p:txBody>
          <a:bodyPr/>
          <a:lstStyle/>
          <a:p>
            <a:pPr lvl="0"/>
            <a:r>
              <a:rPr/>
              <a:t>Change structure/function over time</a:t>
            </a:r>
          </a:p>
          <a:p>
            <a:pPr lvl="0"/>
            <a:r>
              <a:rPr/>
              <a:t>Hard to measure what is being exchanged, what is being </a:t>
            </a:r>
            <a:r>
              <a:rPr i="1"/>
              <a:t>controlled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media.springernature.com/full/springer-static/image/art%3A10.3758%2Fs13414-019-01760-1/MediaObjects/13414_2019_1760_Fig3_HTML.png" id="0" name="Picture 1"/>
          <p:cNvPicPr>
            <a:picLocks noGrp="1" noChangeAspect="1"/>
          </p:cNvPicPr>
          <p:nvPr/>
        </p:nvPicPr>
        <p:blipFill>
          <a:blip r:embed="rId2"/>
          <a:stretch>
            <a:fillRect/>
          </a:stretch>
        </p:blipFill>
        <p:spPr bwMode="auto">
          <a:xfrm>
            <a:off x="1003300" y="1193800"/>
            <a:ext cx="7137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(Cisek, 2019, fig. 3). Schematic behavioral control systems. (A) When the current nutrient state deviates from a desired state, locomotion is initiated, ultimately bringing the animal to a more desirable state. (B) Elaboration of nutrient state control into a high-level controller (ANS) and a lower-level controller (BNS) capable of two modes of locomotion, local exploitation, and long-range exploration. 5HT, serotonin; ANS/BNS, apical/blastoporal nervous system; DA, dopamine; NPY, neuropeptide 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Assumptions are problematic</a:t>
            </a:r>
          </a:p>
        </p:txBody>
      </p:sp>
      <p:pic>
        <p:nvPicPr>
          <p:cNvPr descr="../include/img/segal-2024-fig-01.jpg" id="0" name="Picture 1"/>
          <p:cNvPicPr>
            <a:picLocks noGrp="1" noChangeAspect="1"/>
          </p:cNvPicPr>
          <p:nvPr/>
        </p:nvPicPr>
        <p:blipFill>
          <a:blip r:embed="rId2"/>
          <a:stretch>
            <a:fillRect/>
          </a:stretch>
        </p:blipFill>
        <p:spPr bwMode="auto">
          <a:xfrm>
            <a:off x="3060700" y="1193800"/>
            <a:ext cx="3022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Segal et al. (2024)</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Course overview</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p:nvPr>
        </p:nvSpPr>
        <p:spPr/>
        <p:txBody>
          <a:bodyPr/>
          <a:lstStyle/>
          <a:p>
            <a:pPr lvl="0"/>
            <a:r>
              <a:rPr/>
              <a:t>Master fundamentals of neuroscientific concepts and facts</a:t>
            </a:r>
          </a:p>
          <a:p>
            <a:pPr lvl="0"/>
            <a:r>
              <a:rPr/>
              <a:t>Prepare to read primary source literature in social, behavioral, cognitive, affective, and clinical neuroscience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a:t>
            </a:r>
          </a:p>
        </p:txBody>
      </p:sp>
      <p:sp>
        <p:nvSpPr>
          <p:cNvPr id="3" name="Content Placeholder 2"/>
          <p:cNvSpPr>
            <a:spLocks noGrp="1"/>
          </p:cNvSpPr>
          <p:nvPr>
            <p:ph idx="1"/>
          </p:nvPr>
        </p:nvSpPr>
        <p:spPr/>
        <p:txBody>
          <a:bodyPr/>
          <a:lstStyle/>
          <a:p>
            <a:pPr lvl="0" indent="0" marL="0">
              <a:buNone/>
            </a:pPr>
            <a:r>
              <a:rPr>
                <a:hlinkClick r:id="rId2"/>
              </a:rPr>
              <a:t>https://psu-psychology.github.io/psy-511-scan-fdns-2026-spring/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a:t>
            </a:r>
          </a:p>
        </p:txBody>
      </p:sp>
      <p:sp>
        <p:nvSpPr>
          <p:cNvPr id="3" name="Content Placeholder 2"/>
          <p:cNvSpPr>
            <a:spLocks noGrp="1"/>
          </p:cNvSpPr>
          <p:nvPr>
            <p:ph idx="1"/>
          </p:nvPr>
        </p:nvSpPr>
        <p:spPr/>
        <p:txBody>
          <a:bodyPr/>
          <a:lstStyle/>
          <a:p>
            <a:pPr lvl="0"/>
            <a:r>
              <a:rPr/>
              <a:t>What is the basic organizational plan of the nervous system?</a:t>
            </a:r>
          </a:p>
          <a:p>
            <a:pPr lvl="0"/>
            <a:r>
              <a:rPr/>
              <a:t>How do neurons work?</a:t>
            </a:r>
          </a:p>
          <a:p>
            <a:pPr lvl="0"/>
            <a:r>
              <a:rPr/>
              <a:t>How do neurons connected in networks achieve behavioral goals?</a:t>
            </a:r>
          </a:p>
          <a:p>
            <a:pPr lvl="0"/>
            <a:r>
              <a:rPr/>
              <a:t>How does the nervous system develop? How has it evolved?</a:t>
            </a:r>
          </a:p>
          <a:p>
            <a:pPr lvl="0"/>
            <a:r>
              <a:rPr/>
              <a:t>How do disorders of the mind reveal themselves in the nervous system?</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Approach</a:t>
            </a:r>
          </a:p>
        </p:txBody>
      </p:sp>
      <p:sp>
        <p:nvSpPr>
          <p:cNvPr id="3" name="Content Placeholder 2"/>
          <p:cNvSpPr>
            <a:spLocks noGrp="1"/>
          </p:cNvSpPr>
          <p:nvPr>
            <p:ph idx="1"/>
          </p:nvPr>
        </p:nvSpPr>
        <p:spPr/>
        <p:txBody>
          <a:bodyPr/>
          <a:lstStyle/>
          <a:p>
            <a:pPr lvl="0"/>
            <a:r>
              <a:rPr/>
              <a:t>Brain architecture (neuroanatomy)</a:t>
            </a:r>
          </a:p>
          <a:p>
            <a:pPr lvl="0"/>
            <a:r>
              <a:rPr/>
              <a:t>Brain function (neurophysiology)</a:t>
            </a:r>
          </a:p>
          <a:p>
            <a:pPr lvl="0"/>
            <a:r>
              <a:rPr/>
              <a:t>Brain communication (neurochemistry)</a:t>
            </a:r>
          </a:p>
          <a:p>
            <a:pPr lvl="0"/>
            <a:r>
              <a:rPr/>
              <a:t>Changes over evolutionary and developmental time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Approach</a:t>
            </a:r>
          </a:p>
        </p:txBody>
      </p:sp>
      <p:sp>
        <p:nvSpPr>
          <p:cNvPr id="4" name="Text Placeholder 3"/>
          <p:cNvSpPr>
            <a:spLocks noGrp="1"/>
          </p:cNvSpPr>
          <p:nvPr>
            <p:ph idx="2" sz="half" type="body"/>
          </p:nvPr>
        </p:nvSpPr>
        <p:spPr/>
        <p:txBody>
          <a:bodyPr/>
          <a:lstStyle/>
          <a:p>
            <a:pPr lvl="0"/>
            <a:r>
              <a:rPr/>
              <a:t>The nervous system as an information processing system</a:t>
            </a:r>
          </a:p>
        </p:txBody>
      </p:sp>
      <p:pic>
        <p:nvPicPr>
          <p:cNvPr descr="../include/img/Information_processing_system.PNG" id="0" name="Picture 1"/>
          <p:cNvPicPr>
            <a:picLocks noGrp="1" noChangeAspect="1"/>
          </p:cNvPicPr>
          <p:nvPr/>
        </p:nvPicPr>
        <p:blipFill>
          <a:blip r:embed="rId2"/>
          <a:stretch>
            <a:fillRect/>
          </a:stretch>
        </p:blipFill>
        <p:spPr bwMode="auto">
          <a:xfrm>
            <a:off x="3568700" y="1320800"/>
            <a:ext cx="5105400" cy="1638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Wikipedia</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Mindful of limitations in brain/computer metaphors</a:t>
            </a:r>
          </a:p>
        </p:txBody>
      </p:sp>
      <p:pic>
        <p:nvPicPr>
          <p:cNvPr descr="https://cdn4.explainthatstuff.com/how-computer-works.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https://www.explainthatstuff.com/howcomputerswork.html</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 inspired by richer metaphors</a:t>
            </a:r>
          </a:p>
        </p:txBody>
      </p:sp>
      <p:pic>
        <p:nvPicPr>
          <p:cNvPr descr="../include/img/1*QvKZpHrmz1nWyK4VfY2VTg.png" id="0" name="Picture 1"/>
          <p:cNvPicPr>
            <a:picLocks noGrp="1" noChangeAspect="1"/>
          </p:cNvPicPr>
          <p:nvPr/>
        </p:nvPicPr>
        <p:blipFill>
          <a:blip r:embed="rId2"/>
          <a:stretch>
            <a:fillRect/>
          </a:stretch>
        </p:blipFill>
        <p:spPr bwMode="auto">
          <a:xfrm>
            <a:off x="1981200" y="1193800"/>
            <a:ext cx="5181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Becker (2021)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Inputs</a:t>
            </a:r>
          </a:p>
        </p:txBody>
      </p:sp>
      <p:sp>
        <p:nvSpPr>
          <p:cNvPr id="3" name="Content Placeholder 2"/>
          <p:cNvSpPr>
            <a:spLocks noGrp="1"/>
          </p:cNvSpPr>
          <p:nvPr>
            <p:ph idx="1"/>
          </p:nvPr>
        </p:nvSpPr>
        <p:spPr/>
        <p:txBody>
          <a:bodyPr/>
          <a:lstStyle/>
          <a:p>
            <a:pPr lvl="0"/>
            <a:r>
              <a:rPr/>
              <a:t>From environment, body, brain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Processing</a:t>
            </a:r>
          </a:p>
        </p:txBody>
      </p:sp>
      <p:sp>
        <p:nvSpPr>
          <p:cNvPr id="3" name="Content Placeholder 2"/>
          <p:cNvSpPr>
            <a:spLocks noGrp="1"/>
          </p:cNvSpPr>
          <p:nvPr>
            <p:ph idx="1"/>
          </p:nvPr>
        </p:nvSpPr>
        <p:spPr/>
        <p:txBody>
          <a:bodyPr/>
          <a:lstStyle/>
          <a:p>
            <a:pPr lvl="0"/>
            <a:r>
              <a:rPr/>
              <a:t>Current inputs + brain state + body state + possible future states…</a:t>
            </a:r>
          </a:p>
          <a:p>
            <a:pPr lvl="0"/>
            <a:r>
              <a:rPr/>
              <a:t>Stored information</a:t>
            </a:r>
          </a:p>
          <a:p>
            <a:pPr lvl="0"/>
            <a:r>
              <a:rPr/>
              <a:t>Physiological &amp; behavioral goals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media.springernature.com/full/springer-static/image/art%3A10.3758%2Fs13414-019-01760-1/MediaObjects/13414_2019_1760_Fig1_HTML.png" id="0" name="Picture 1"/>
          <p:cNvPicPr>
            <a:picLocks noGrp="1" noChangeAspect="1"/>
          </p:cNvPicPr>
          <p:nvPr/>
        </p:nvPicPr>
        <p:blipFill>
          <a:blip r:embed="rId2"/>
          <a:stretch>
            <a:fillRect/>
          </a:stretch>
        </p:blipFill>
        <p:spPr bwMode="auto">
          <a:xfrm>
            <a:off x="698500" y="1193800"/>
            <a:ext cx="7759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(Cisek, 2019, fig. 1)</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Outputs</a:t>
            </a:r>
          </a:p>
        </p:txBody>
      </p:sp>
      <p:sp>
        <p:nvSpPr>
          <p:cNvPr id="3" name="Content Placeholder 2"/>
          <p:cNvSpPr>
            <a:spLocks noGrp="1"/>
          </p:cNvSpPr>
          <p:nvPr>
            <p:ph idx="1"/>
          </p:nvPr>
        </p:nvSpPr>
        <p:spPr/>
        <p:txBody>
          <a:bodyPr/>
          <a:lstStyle/>
          <a:p>
            <a:pPr lvl="0"/>
            <a:r>
              <a:rPr/>
              <a:t>To brain, body, environment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Mapping structures to functions…</a:t>
            </a:r>
          </a:p>
        </p:txBody>
      </p:sp>
      <p:pic>
        <p:nvPicPr>
          <p:cNvPr descr="https://media.springernature.com/full/springer-static/image/art%3A10.3758%2Fs13414-019-01760-1/MediaObjects/13414_2019_1760_Fig8_HTML.png" id="0" name="Picture 1"/>
          <p:cNvPicPr>
            <a:picLocks noGrp="1" noChangeAspect="1"/>
          </p:cNvPicPr>
          <p:nvPr/>
        </p:nvPicPr>
        <p:blipFill>
          <a:blip r:embed="rId2"/>
          <a:stretch>
            <a:fillRect/>
          </a:stretch>
        </p:blipFill>
        <p:spPr bwMode="auto">
          <a:xfrm>
            <a:off x="3251200" y="1193800"/>
            <a:ext cx="2641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Cisek (2019) Figure 8</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a:t>
            </a:r>
            <a:r>
              <a:rPr i="1"/>
              <a:t>vice versa</a:t>
            </a:r>
            <a:r>
              <a:rPr/>
              <a:t>?</a:t>
            </a:r>
          </a:p>
        </p:txBody>
      </p:sp>
      <p:pic>
        <p:nvPicPr>
          <p:cNvPr descr="../include/img/quanta-2021.png" id="0" name="Picture 1"/>
          <p:cNvPicPr>
            <a:picLocks noGrp="1" noChangeAspect="1"/>
          </p:cNvPicPr>
          <p:nvPr/>
        </p:nvPicPr>
        <p:blipFill>
          <a:blip r:embed="rId2"/>
          <a:stretch>
            <a:fillRect/>
          </a:stretch>
        </p:blipFill>
        <p:spPr bwMode="auto">
          <a:xfrm>
            <a:off x="584200" y="1193800"/>
            <a:ext cx="797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Cepelewicz (2021)</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“The brainwide representation of behavioral variables suggests that information encoded nearly anywhere in the forebrain is combined with behavioral state variables into a mixed representation…Our data indicate that it happens as early as primary sensory cortex.”</a:t>
            </a:r>
          </a:p>
          <a:p>
            <a:pPr lvl="0" indent="0" marL="0">
              <a:buNone/>
            </a:pPr>
            <a:r>
              <a:rPr/>
              <a:t>Stringer et al. (2019)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do we have the right “psychological” structures?</a:t>
            </a:r>
          </a:p>
        </p:txBody>
      </p:sp>
      <p:sp>
        <p:nvSpPr>
          <p:cNvPr id="3" name="Content Placeholder 2"/>
          <p:cNvSpPr>
            <a:spLocks noGrp="1"/>
          </p:cNvSpPr>
          <p:nvPr>
            <p:ph idx="1"/>
          </p:nvPr>
        </p:nvSpPr>
        <p:spPr/>
        <p:txBody>
          <a:bodyPr/>
          <a:lstStyle/>
          <a:p>
            <a:pPr lvl="0" indent="0" marL="1270000">
              <a:buNone/>
            </a:pPr>
            <a:r>
              <a:rPr sz="2000"/>
              <a:t>Psychological sciences have identified a wealth of cognitive processes and behavioral phenomena, yet struggle to produce cumulative knowledge. Progress is hamstrung by siloed scientific traditions and a focus on explanation over prediction…</a:t>
            </a:r>
          </a:p>
          <a:p>
            <a:pPr lvl="0" indent="0" marL="0">
              <a:buNone/>
            </a:pPr>
            <a:r>
              <a:rPr/>
              <a:t>– Eisenberg et al. (2019)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…two issues that are particularly damaging for the study of </a:t>
            </a:r>
            <a:r>
              <a:rPr sz="2000" b="1"/>
              <a:t>multifaceted constructs like self-regulation</a:t>
            </a:r>
            <a:r>
              <a:rPr sz="2000"/>
              <a:t>…We conclude that self-regulation lacks coherence as a construct…</a:t>
            </a:r>
          </a:p>
          <a:p>
            <a:pPr lvl="0" indent="0" marL="0">
              <a:buNone/>
            </a:pPr>
            <a:r>
              <a:rPr/>
              <a:t>– Eisenberg et al. (2019)</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“Behavioural biologists don’t agree on what constitutes behaviour”</a:t>
            </a:r>
          </a:p>
        </p:txBody>
      </p:sp>
      <p:sp>
        <p:nvSpPr>
          <p:cNvPr id="3" name="Content Placeholder 2"/>
          <p:cNvSpPr>
            <a:spLocks noGrp="1"/>
          </p:cNvSpPr>
          <p:nvPr>
            <p:ph idx="1"/>
          </p:nvPr>
        </p:nvSpPr>
        <p:spPr/>
        <p:txBody>
          <a:bodyPr/>
          <a:lstStyle/>
          <a:p>
            <a:pPr lvl="0" indent="0" marL="1270000">
              <a:buNone/>
            </a:pPr>
            <a:r>
              <a:rPr sz="2000"/>
              <a:t>Behavioural biology is a major discipline within biology, centred on the key concept of ‘behaviour’. But how is ‘behaviour’ defined, and how should it be defined? We outline what characteristics we believe a scientific definition should have, and why we think it is important…</a:t>
            </a:r>
          </a:p>
          <a:p>
            <a:pPr lvl="0" indent="0" marL="0">
              <a:buNone/>
            </a:pPr>
            <a:r>
              <a:rPr/>
              <a:t>– Levitis, Lidicker, &amp; Freund (2009)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…that a definition have these traits. We then examine the range of available published definitions for behaviour.</a:t>
            </a:r>
          </a:p>
          <a:p>
            <a:pPr lvl="0" indent="0" marL="0">
              <a:buNone/>
            </a:pPr>
            <a:r>
              <a:rPr/>
              <a:t>– Levitis et al. (2009)</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Finding no consensus, we present survey responses from 174 members of three behaviour-focused scientific societies as to their understanding of the term. Here again, we find surprisingly widespread disagreement as to what qualifies as behaviour. Respondents contradict themselves…</a:t>
            </a:r>
          </a:p>
          <a:p>
            <a:pPr lvl="0" indent="0" marL="0">
              <a:buNone/>
            </a:pPr>
            <a:r>
              <a:rPr/>
              <a:t>– Levitis et al. (2009)</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…each other, and published definitions, indicating that they are using individually variable intuitive, rather than codified, meanings of `behaviour.’</a:t>
            </a:r>
          </a:p>
          <a:p>
            <a:pPr lvl="0" indent="0" marL="0">
              <a:buNone/>
            </a:pPr>
            <a:r>
              <a:rPr/>
              <a:t>– Levitis et al. (2009)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We offer a new definition, based largely on survey responses: “Behaviour is the internally coordinated responses (actions or inactions) of whole living organisms (individuals or groups) to internal and/or external stimuli, excluding responses more easily understood as developmental changes.”</a:t>
            </a:r>
          </a:p>
          <a:p>
            <a:pPr lvl="0" indent="0" marL="0">
              <a:buNone/>
            </a:pPr>
            <a:r>
              <a:rPr/>
              <a:t>– Levitis et al. (2009)</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Sciences of complexity</a:t>
            </a:r>
          </a:p>
        </p:txBody>
      </p:sp>
      <p:pic>
        <p:nvPicPr>
          <p:cNvPr descr="../include/img/wcs1525-fig-0001-m.jpg"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Favela (2020) Figure 1</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Levels of analysis</a:t>
            </a:r>
          </a:p>
        </p:txBody>
      </p:sp>
      <p:pic>
        <p:nvPicPr>
          <p:cNvPr descr="https://media.springernature.com/lw685/springer-static/image/art%3A10.1038%2Fnn.3839/MediaObjects/41593_2014_Article_BFnn3839_Fig1_HTML.jpg" id="0" name="Picture 1"/>
          <p:cNvPicPr>
            <a:picLocks noGrp="1" noChangeAspect="1"/>
          </p:cNvPicPr>
          <p:nvPr/>
        </p:nvPicPr>
        <p:blipFill>
          <a:blip r:embed="rId2"/>
          <a:stretch>
            <a:fillRect/>
          </a:stretch>
        </p:blipFill>
        <p:spPr bwMode="auto">
          <a:xfrm>
            <a:off x="2425700" y="1193800"/>
            <a:ext cx="4292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Sejnowski et al. (2014) Figure 1</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David Marr (1945-1980)</a:t>
            </a:r>
          </a:p>
        </p:txBody>
      </p:sp>
      <p:pic>
        <p:nvPicPr>
          <p:cNvPr descr="https://encrypted-tbn0.gstatic.com/images?q=tbn:ANd9GcTZGutDYqHcIazwkXdQtGfedIVfGG-DcrtMAK_j93DQgrMI8lsiH7WGttQlgdh0-jO_u4w&amp;usqp=CAU.png" id="0" name="Picture 1"/>
          <p:cNvPicPr>
            <a:picLocks noGrp="1" noChangeAspect="1"/>
          </p:cNvPicPr>
          <p:nvPr/>
        </p:nvPicPr>
        <p:blipFill>
          <a:blip r:embed="rId2"/>
          <a:stretch>
            <a:fillRect/>
          </a:stretch>
        </p:blipFill>
        <p:spPr bwMode="auto">
          <a:xfrm>
            <a:off x="1041400" y="1193800"/>
            <a:ext cx="28829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David Marr</a:t>
            </a:r>
          </a:p>
        </p:txBody>
      </p:sp>
      <p:pic>
        <p:nvPicPr>
          <p:cNvPr descr="https://mit-press-us.imgix.net/covers/9780262514620.jpg?auto=format&amp;w=298&amp;dpr=1&amp;q=20"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Marr (1980)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Marr’s Three Levels</a:t>
            </a:r>
          </a:p>
        </p:txBody>
      </p:sp>
      <p:pic>
        <p:nvPicPr>
          <p:cNvPr descr="../include/img/wcs1525-fig-0003-m.jpg" id="0" name="Picture 1"/>
          <p:cNvPicPr>
            <a:picLocks noGrp="1" noChangeAspect="1"/>
          </p:cNvPicPr>
          <p:nvPr/>
        </p:nvPicPr>
        <p:blipFill>
          <a:blip r:embed="rId2"/>
          <a:stretch>
            <a:fillRect/>
          </a:stretch>
        </p:blipFill>
        <p:spPr bwMode="auto">
          <a:xfrm>
            <a:off x="3670300" y="1193800"/>
            <a:ext cx="1816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Favela (2020) Figure 3</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What must be computed to carry out task X?</a:t>
            </a:r>
          </a:p>
          <a:p>
            <a:pPr lvl="0"/>
            <a:r>
              <a:rPr/>
              <a:t>What algorithm is used to carry out the computation?</a:t>
            </a:r>
          </a:p>
          <a:p>
            <a:pPr lvl="0"/>
            <a:r>
              <a:rPr/>
              <a:t>What hardware implements the algorithm?</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Computational level</a:t>
            </a:r>
          </a:p>
        </p:txBody>
      </p:sp>
      <p:sp>
        <p:nvSpPr>
          <p:cNvPr id="3" name="Content Placeholder 2"/>
          <p:cNvSpPr>
            <a:spLocks noGrp="1"/>
          </p:cNvSpPr>
          <p:nvPr>
            <p:ph idx="1"/>
          </p:nvPr>
        </p:nvSpPr>
        <p:spPr/>
        <p:txBody>
          <a:bodyPr/>
          <a:lstStyle/>
          <a:p>
            <a:pPr lvl="0"/>
            <a:r>
              <a:rPr/>
              <a:t>What has to be computed?</a:t>
            </a:r>
          </a:p>
          <a:p>
            <a:pPr lvl="1"/>
            <a:r>
              <a:rPr/>
              <a:t>What is the shape/form of that unknown object?</a:t>
            </a:r>
          </a:p>
          <a:p>
            <a:pPr lvl="1"/>
            <a:r>
              <a:rPr/>
              <a:t>What did that person just say?</a:t>
            </a:r>
          </a:p>
          <a:p>
            <a:pPr lvl="1"/>
            <a:r>
              <a:rPr/>
              <a:t>Is that unknown object a threat to 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Algorithmic level</a:t>
            </a:r>
          </a:p>
        </p:txBody>
      </p:sp>
      <p:sp>
        <p:nvSpPr>
          <p:cNvPr id="3" name="Content Placeholder 2"/>
          <p:cNvSpPr>
            <a:spLocks noGrp="1"/>
          </p:cNvSpPr>
          <p:nvPr>
            <p:ph idx="1"/>
          </p:nvPr>
        </p:nvSpPr>
        <p:spPr/>
        <p:txBody>
          <a:bodyPr/>
          <a:lstStyle/>
          <a:p>
            <a:pPr lvl="0"/>
            <a:r>
              <a:rPr/>
              <a:t>What’s the ‘recipe’ for…</a:t>
            </a:r>
          </a:p>
          <a:p>
            <a:pPr lvl="1"/>
            <a:r>
              <a:rPr/>
              <a:t>computing shape</a:t>
            </a:r>
          </a:p>
          <a:p>
            <a:pPr lvl="1"/>
            <a:r>
              <a:rPr/>
              <a:t>perceiving speech</a:t>
            </a:r>
          </a:p>
          <a:p>
            <a:pPr lvl="1"/>
            <a:r>
              <a:rPr/>
              <a:t>recognizing threats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Implementation level</a:t>
            </a:r>
          </a:p>
        </p:txBody>
      </p:sp>
      <p:sp>
        <p:nvSpPr>
          <p:cNvPr id="3" name="Content Placeholder 2"/>
          <p:cNvSpPr>
            <a:spLocks noGrp="1"/>
          </p:cNvSpPr>
          <p:nvPr>
            <p:ph idx="1"/>
          </p:nvPr>
        </p:nvSpPr>
        <p:spPr/>
        <p:txBody>
          <a:bodyPr/>
          <a:lstStyle/>
          <a:p>
            <a:pPr lvl="0"/>
            <a:r>
              <a:rPr/>
              <a:t>How do…</a:t>
            </a:r>
          </a:p>
          <a:p>
            <a:pPr lvl="1"/>
            <a:r>
              <a:rPr/>
              <a:t>neurons</a:t>
            </a:r>
          </a:p>
          <a:p>
            <a:pPr lvl="1"/>
            <a:r>
              <a:rPr/>
              <a:t>areas</a:t>
            </a:r>
          </a:p>
          <a:p>
            <a:pPr lvl="1"/>
            <a:r>
              <a:rPr/>
              <a:t>networks</a:t>
            </a:r>
          </a:p>
          <a:p>
            <a:pPr lvl="0"/>
            <a:r>
              <a:rPr/>
              <a:t>implement the recipe?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Causality in neuroscience</a:t>
            </a:r>
          </a:p>
        </p:txBody>
      </p:sp>
      <p:sp>
        <p:nvSpPr>
          <p:cNvPr id="3" name="Content Placeholder 2"/>
          <p:cNvSpPr>
            <a:spLocks noGrp="1"/>
          </p:cNvSpPr>
          <p:nvPr>
            <p:ph idx="1"/>
          </p:nvPr>
        </p:nvSpPr>
        <p:spPr/>
        <p:txBody>
          <a:bodyPr/>
          <a:lstStyle/>
          <a:p>
            <a:pPr lvl="0"/>
            <a:r>
              <a:rPr/>
              <a:t>Siddiqi, Kording, Parvizi, &amp; Fox (2022)</a:t>
            </a:r>
          </a:p>
          <a:p>
            <a:pPr lvl="0"/>
            <a:r>
              <a:rPr/>
              <a:t>Stimulation &amp; lesion studies needed for inferring </a:t>
            </a:r>
            <a:r>
              <a:rPr i="1"/>
              <a:t>causation</a:t>
            </a:r>
            <a:r>
              <a:rPr/>
              <a:t>.</a:t>
            </a:r>
          </a:p>
          <a:p>
            <a:pPr lvl="0"/>
            <a:r>
              <a:rPr/>
              <a:t>Bradford-Hill criteria (Hill, 2015)</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Varied notions of mechanism</a:t>
            </a:r>
          </a:p>
        </p:txBody>
      </p:sp>
      <p:pic>
        <p:nvPicPr>
          <p:cNvPr descr="../include/img/41583_2023_778_Fig1_HTML.png.webp" id="0" name="Picture 1"/>
          <p:cNvPicPr>
            <a:picLocks noGrp="1" noChangeAspect="1"/>
          </p:cNvPicPr>
          <p:nvPr/>
        </p:nvPicPr>
        <p:blipFill>
          <a:blip r:embed="rId2"/>
          <a:stretch>
            <a:fillRect/>
          </a:stretch>
        </p:blipFill>
        <p:spPr bwMode="auto">
          <a:xfrm>
            <a:off x="596900" y="1193800"/>
            <a:ext cx="7962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 1: The narrow and broad notions of mechanism from Ross &amp; Bassett (2024)</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Toward reverse neuroethology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Figure 1 from Asinof &amp; Card (2024)</a:t>
            </a:r>
          </a:p>
        </p:txBody>
      </p:sp>
      <p:pic>
        <p:nvPicPr>
          <p:cNvPr descr="https://i.giphy.com/media/v1.Y2lkPTc5MGI3NjExcXh1NzNxdmlidTlxandjeGNtOHgzNWtodmNoN2Rja3duZWNiYm92ayZlcD12MV9pbnRlcm5hbF9naWZfYnlfaWQmY3Q9dg/DF34cUyak7TPs7D4GE/giphy.gif" id="0" name="Picture 1"/>
          <p:cNvPicPr>
            <a:picLocks noGrp="1" noChangeAspect="1"/>
          </p:cNvPicPr>
          <p:nvPr/>
        </p:nvPicPr>
        <p:blipFill>
          <a:blip r:embed="rId2"/>
          <a:stretch>
            <a:fillRect/>
          </a:stretch>
        </p:blipFill>
        <p:spPr bwMode="auto">
          <a:xfrm>
            <a:off x="1117600" y="1193800"/>
            <a:ext cx="6921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https://giphy.com/clips/thefastsaga-fast-and-furious-saga-fate-of-the-DF34cUyak7TPs7D4GE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…when faced with a difficult question, we often answer an easier one instead, usually without noticing the substitution.</a:t>
            </a:r>
          </a:p>
          <a:p>
            <a:pPr lvl="0" indent="0" marL="0">
              <a:buNone/>
            </a:pPr>
            <a:r>
              <a:rPr/>
              <a:t>– Kahneman (2013), p. 12 quoted in Krakauer, Ghazanfar, Gomez-Marin, MacIver, &amp; Poeppel (2017)</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Your turn</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Does neuroscience need behavior?</a:t>
            </a:r>
          </a:p>
        </p:txBody>
      </p:sp>
      <p:sp>
        <p:nvSpPr>
          <p:cNvPr id="3" name="Content Placeholder 2"/>
          <p:cNvSpPr>
            <a:spLocks noGrp="1"/>
          </p:cNvSpPr>
          <p:nvPr>
            <p:ph idx="1"/>
          </p:nvPr>
        </p:nvSpPr>
        <p:spPr/>
        <p:txBody>
          <a:bodyPr/>
          <a:lstStyle/>
          <a:p>
            <a:pPr lvl="0" indent="0" marL="0">
              <a:buNone/>
            </a:pPr>
            <a:r>
              <a:rPr/>
              <a:t>Krakauer, J. W., Ghazanfar, A. A., Gomez-Marin, A., MacIver, M. A., &amp; Poeppel, D. (2017). Neuroscience needs behavior: Correcting a reductionist bias. </a:t>
            </a:r>
            <a:r>
              <a:rPr i="1"/>
              <a:t>Neuron</a:t>
            </a:r>
            <a:r>
              <a:rPr/>
              <a:t>, </a:t>
            </a:r>
            <a:r>
              <a:rPr i="1"/>
              <a:t>93</a:t>
            </a:r>
            <a:r>
              <a:rPr/>
              <a:t>(3), 480–490. </a:t>
            </a:r>
            <a:r>
              <a:rPr>
                <a:hlinkClick r:id="rId2"/>
              </a:rPr>
              <a:t>https://dx.doi.org/10.1016/j.neuron.2016.12.041</a:t>
            </a:r>
            <a:r>
              <a:rPr/>
              <a:t>.</a:t>
            </a:r>
          </a:p>
          <a:p>
            <a:pPr lvl="0" indent="0" marL="0">
              <a:buNone/>
            </a:pPr>
            <a:r>
              <a:rPr/>
              <a:t>Parada, F. J. &amp; Rossi, A. (2018). If neuroscience needs behavior, what does psychology need? </a:t>
            </a:r>
            <a:r>
              <a:rPr i="1"/>
              <a:t>Frontiers in Psychology</a:t>
            </a:r>
            <a:r>
              <a:rPr/>
              <a:t>, </a:t>
            </a:r>
            <a:r>
              <a:rPr i="1"/>
              <a:t>9</a:t>
            </a:r>
            <a:r>
              <a:rPr/>
              <a:t>, 433. </a:t>
            </a:r>
            <a:r>
              <a:rPr>
                <a:hlinkClick r:id="rId3"/>
              </a:rPr>
              <a:t>https://doi.org/10.3389/fpsyg.2018.00433</a:t>
            </a:r>
            <a:r>
              <a:rPr/>
              <a:t>.</a:t>
            </a:r>
          </a:p>
          <a:p>
            <a:pPr lvl="0" indent="0" marL="0">
              <a:buNone/>
            </a:pPr>
            <a:r>
              <a:rPr/>
              <a:t>Newcombe, N. (2017). If neuroscience needs behavior, what does behavioral science need? APS Observer, 31(1). </a:t>
            </a:r>
            <a:r>
              <a:rPr>
                <a:hlinkClick r:id="rId4"/>
              </a:rPr>
              <a:t>https://www.psychologicalscience.org/observer/if-neuroscience-needs-behavior-what-does-behavioral-science-need</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points</a:t>
            </a:r>
          </a:p>
        </p:txBody>
      </p:sp>
      <p:sp>
        <p:nvSpPr>
          <p:cNvPr id="3" name="Content Placeholder 2"/>
          <p:cNvSpPr>
            <a:spLocks noGrp="1"/>
          </p:cNvSpPr>
          <p:nvPr>
            <p:ph idx="1"/>
          </p:nvPr>
        </p:nvSpPr>
        <p:spPr/>
        <p:txBody>
          <a:bodyPr/>
          <a:lstStyle/>
          <a:p>
            <a:pPr lvl="0"/>
            <a:r>
              <a:rPr/>
              <a:t>Questions ‘often tacit…belief in the reductionist program for understanding the link between brain and behavior’</a:t>
            </a:r>
          </a:p>
          <a:p>
            <a:pPr lvl="0"/>
            <a:r>
              <a:rPr/>
              <a:t>Behavior -&gt; understanding; neural interventions -&gt; causality</a:t>
            </a:r>
          </a:p>
          <a:p>
            <a:pPr lvl="0"/>
            <a:r>
              <a:rPr/>
              <a:t>Marr’s 3 levels (computation; algorithm; implementation)</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what is behavior?</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“Behavioural biologists don’t agree on what constitutes behaviour”</a:t>
            </a:r>
          </a:p>
        </p:txBody>
      </p:sp>
      <p:sp>
        <p:nvSpPr>
          <p:cNvPr id="3" name="Content Placeholder 2"/>
          <p:cNvSpPr>
            <a:spLocks noGrp="1"/>
          </p:cNvSpPr>
          <p:nvPr>
            <p:ph idx="1"/>
          </p:nvPr>
        </p:nvSpPr>
        <p:spPr/>
        <p:txBody>
          <a:bodyPr/>
          <a:lstStyle/>
          <a:p>
            <a:pPr lvl="0" indent="0" marL="1270000">
              <a:buNone/>
            </a:pPr>
            <a:r>
              <a:rPr sz="2000"/>
              <a:t>…“Behaviour is the internally coordinated responses (actions or inactions) of whole living organisms (individuals or groups) to internal and/or external stimuli, excluding responses more easily understood as developmental changes.”</a:t>
            </a:r>
          </a:p>
          <a:p>
            <a:pPr lvl="0" indent="0" marL="0">
              <a:buNone/>
            </a:pPr>
            <a:r>
              <a:rPr/>
              <a:t>– Levitis et al. (2009)]</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896627316310406-gr1.jpg" id="0" name="Picture 1"/>
          <p:cNvPicPr>
            <a:picLocks noGrp="1" noChangeAspect="1"/>
          </p:cNvPicPr>
          <p:nvPr/>
        </p:nvPicPr>
        <p:blipFill>
          <a:blip r:embed="rId2"/>
          <a:stretch>
            <a:fillRect/>
          </a:stretch>
        </p:blipFill>
        <p:spPr bwMode="auto">
          <a:xfrm>
            <a:off x="2628900" y="1193800"/>
            <a:ext cx="3886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Krakauer et al. (2017) Figure 1</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896627316310406-gr2.jpg" id="0" name="Picture 1"/>
          <p:cNvPicPr>
            <a:picLocks noGrp="1" noChangeAspect="1"/>
          </p:cNvPicPr>
          <p:nvPr/>
        </p:nvPicPr>
        <p:blipFill>
          <a:blip r:embed="rId2"/>
          <a:stretch>
            <a:fillRect/>
          </a:stretch>
        </p:blipFill>
        <p:spPr bwMode="auto">
          <a:xfrm>
            <a:off x="1612900" y="1193800"/>
            <a:ext cx="5918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Krakauer et al. (2017) Figure 2</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896627316310406-gr3.jpg" id="0" name="Picture 1"/>
          <p:cNvPicPr>
            <a:picLocks noGrp="1" noChangeAspect="1"/>
          </p:cNvPicPr>
          <p:nvPr/>
        </p:nvPicPr>
        <p:blipFill>
          <a:blip r:embed="rId2"/>
          <a:stretch>
            <a:fillRect/>
          </a:stretch>
        </p:blipFill>
        <p:spPr bwMode="auto">
          <a:xfrm>
            <a:off x="2070100" y="1193800"/>
            <a:ext cx="5003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(Krakauer et al., 2017, fig. 3)</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896627316310406-gr4.jpg" id="0" name="Picture 1"/>
          <p:cNvPicPr>
            <a:picLocks noGrp="1" noChangeAspect="1"/>
          </p:cNvPicPr>
          <p:nvPr/>
        </p:nvPicPr>
        <p:blipFill>
          <a:blip r:embed="rId2"/>
          <a:stretch>
            <a:fillRect/>
          </a:stretch>
        </p:blipFill>
        <p:spPr bwMode="auto">
          <a:xfrm>
            <a:off x="1282700" y="1193800"/>
            <a:ext cx="6565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(Krakauer et al., 2017, fig. 4)</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www.frontiersin.org/files/Articles/362280/fpsyg-09-00433-HTML/image_m/fpsyg-09-00433-g001.jpg" id="0" name="Picture 1"/>
          <p:cNvPicPr>
            <a:picLocks noGrp="1" noChangeAspect="1"/>
          </p:cNvPicPr>
          <p:nvPr/>
        </p:nvPicPr>
        <p:blipFill>
          <a:blip r:embed="rId2"/>
          <a:stretch>
            <a:fillRect/>
          </a:stretch>
        </p:blipFill>
        <p:spPr bwMode="auto">
          <a:xfrm>
            <a:off x="1574800" y="1193800"/>
            <a:ext cx="6007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Parada &amp; Rossi (2018) Figure 1</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LVL</a:t>
            </a:r>
          </a:p>
        </p:txBody>
      </p:sp>
      <p:sp>
        <p:nvSpPr>
          <p:cNvPr id="3" name="Content Placeholder 2"/>
          <p:cNvSpPr>
            <a:spLocks noGrp="1"/>
          </p:cNvSpPr>
          <p:nvPr>
            <p:ph idx="1"/>
          </p:nvPr>
        </p:nvSpPr>
        <p:spPr/>
        <p:txBody>
          <a:bodyPr/>
          <a:lstStyle/>
          <a:p>
            <a:pPr lvl="0"/>
            <a:r>
              <a:rPr>
                <a:hlinkClick r:id="rId2"/>
              </a:rPr>
              <a:t>Due next Thursday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Main points</a:t>
            </a:r>
          </a:p>
        </p:txBody>
      </p:sp>
      <p:sp>
        <p:nvSpPr>
          <p:cNvPr id="3" name="Content Placeholder 2"/>
          <p:cNvSpPr>
            <a:spLocks noGrp="1"/>
          </p:cNvSpPr>
          <p:nvPr>
            <p:ph idx="1"/>
          </p:nvPr>
        </p:nvSpPr>
        <p:spPr/>
        <p:txBody>
          <a:bodyPr/>
          <a:lstStyle/>
          <a:p>
            <a:pPr lvl="0"/>
            <a:r>
              <a:rPr/>
              <a:t>Psychology is harder than physics</a:t>
            </a:r>
          </a:p>
          <a:p>
            <a:pPr lvl="0"/>
            <a:r>
              <a:rPr/>
              <a:t>Neuroscience needs behavior</a:t>
            </a:r>
          </a:p>
          <a:p>
            <a:pPr lvl="0"/>
            <a:r>
              <a:rPr/>
              <a:t>Psychology needs behavior + mental states + measures of environment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time…</a:t>
            </a:r>
          </a:p>
        </p:txBody>
      </p:sp>
      <p:sp>
        <p:nvSpPr>
          <p:cNvPr id="3" name="Content Placeholder 2"/>
          <p:cNvSpPr>
            <a:spLocks noGrp="1"/>
          </p:cNvSpPr>
          <p:nvPr>
            <p:ph idx="1"/>
          </p:nvPr>
        </p:nvSpPr>
        <p:spPr/>
        <p:txBody>
          <a:bodyPr/>
          <a:lstStyle/>
          <a:p>
            <a:pPr lvl="0"/>
            <a:r>
              <a:rPr/>
              <a:t>Neuroanatomy lab</a:t>
            </a:r>
          </a:p>
          <a:p>
            <a:pPr lvl="1"/>
            <a:r>
              <a:rPr/>
              <a:t>Read/study</a:t>
            </a:r>
          </a:p>
          <a:p>
            <a:pPr lvl="2"/>
            <a:r>
              <a:rPr/>
              <a:t>Neuroanatomy </a:t>
            </a:r>
            <a:r>
              <a:rPr>
                <a:hlinkClick r:id="rId2"/>
              </a:rPr>
              <a:t>notes</a:t>
            </a:r>
          </a:p>
          <a:p>
            <a:pPr lvl="2"/>
            <a:r>
              <a:rPr/>
              <a:t>Bring to class a copy of </a:t>
            </a:r>
            <a:r>
              <a:rPr>
                <a:hlinkClick r:id="rId3"/>
              </a:rPr>
              <a:t>Exercise 02</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Resources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Asinof, S. K., &amp; Card, G. M. (2024). Neural control of naturalistic behavior choices. </a:t>
            </a:r>
            <a:r>
              <a:rPr i="1"/>
              <a:t>Annual Review of Neuroscience</a:t>
            </a:r>
            <a:r>
              <a:rPr/>
              <a:t>, </a:t>
            </a:r>
            <a:r>
              <a:rPr i="1"/>
              <a:t>47</a:t>
            </a:r>
            <a:r>
              <a:rPr/>
              <a:t>, 369–388. </a:t>
            </a:r>
            <a:r>
              <a:rPr>
                <a:hlinkClick r:id="rId2"/>
              </a:rPr>
              <a:t>https://doi.org/10.1146/annurev-neuro-111020-094019</a:t>
            </a:r>
          </a:p>
          <a:p>
            <a:pPr lvl="0" indent="0" marL="0">
              <a:buNone/>
            </a:pPr>
            <a:r>
              <a:rPr/>
              <a:t>Becker, C. R. (2021, August 31). A comprehensive list of human-computer interactions. Retrieved January 8, 2025, from </a:t>
            </a:r>
            <a:r>
              <a:rPr>
                <a:hlinkClick r:id="rId3"/>
              </a:rPr>
              <a:t>https://uxdesign.cc/a-comprehensive-list-of-human-computer-interactions-d72eaca2c0df</a:t>
            </a:r>
          </a:p>
          <a:p>
            <a:pPr lvl="0" indent="0" marL="0">
              <a:buNone/>
            </a:pPr>
            <a:r>
              <a:rPr/>
              <a:t>Calabrese, R. L. (2018). Inconvenient truth to principle of neuroscience. </a:t>
            </a:r>
            <a:r>
              <a:rPr i="1"/>
              <a:t>Trends in Neurosciences</a:t>
            </a:r>
            <a:r>
              <a:rPr/>
              <a:t>, </a:t>
            </a:r>
            <a:r>
              <a:rPr i="1"/>
              <a:t>41</a:t>
            </a:r>
            <a:r>
              <a:rPr/>
              <a:t>(8), 488–491. </a:t>
            </a:r>
            <a:r>
              <a:rPr>
                <a:hlinkClick r:id="rId4"/>
              </a:rPr>
              <a:t>https://doi.org/10.1016/j.tins.2018.05.006</a:t>
            </a:r>
          </a:p>
          <a:p>
            <a:pPr lvl="0" indent="0" marL="0">
              <a:buNone/>
            </a:pPr>
            <a:r>
              <a:rPr/>
              <a:t>Cepelewicz, J. (2021, August). Mental phenomena don’t map into the brain as expected. </a:t>
            </a:r>
            <a:r>
              <a:rPr>
                <a:hlinkClick r:id="rId5"/>
              </a:rPr>
              <a:t>https://www.quantamagazine.org/mental-phenomena-dont-map-into-the-brain-as-expected-20210824/</a:t>
            </a:r>
            <a:r>
              <a:rPr/>
              <a:t>. Retrieved from </a:t>
            </a:r>
            <a:r>
              <a:rPr>
                <a:hlinkClick r:id="rId6"/>
              </a:rPr>
              <a:t>https://www.quantamagazine.org/mental-phenomena-dont-map-into-the-brain-as-expected-20210824/</a:t>
            </a:r>
          </a:p>
          <a:p>
            <a:pPr lvl="0" indent="0" marL="0">
              <a:buNone/>
            </a:pPr>
            <a:r>
              <a:rPr/>
              <a:t>Cisek, P. (2019). Resynthesizing behavior through phylogenetic refinement. </a:t>
            </a:r>
            <a:r>
              <a:rPr i="1"/>
              <a:t>Attention, Perception &amp; Psychophysics</a:t>
            </a:r>
            <a:r>
              <a:rPr/>
              <a:t>. </a:t>
            </a:r>
            <a:r>
              <a:rPr>
                <a:hlinkClick r:id="rId7"/>
              </a:rPr>
              <a:t>https://doi.org/10.3758/s13414-019-01760-1</a:t>
            </a:r>
          </a:p>
          <a:p>
            <a:pPr lvl="0" indent="0" marL="0">
              <a:buNone/>
            </a:pPr>
            <a:r>
              <a:rPr/>
              <a:t>Eisenberg, I. W., Bissett, P. G., Zeynep Enkavi, A., Li, J., MacKinnon, D. P., Marsch, L. A., &amp; Poldrack, R. A. (2019). Uncovering the structure of self-regulation through data-driven ontology discovery. </a:t>
            </a:r>
            <a:r>
              <a:rPr i="1"/>
              <a:t>Nature Communications</a:t>
            </a:r>
            <a:r>
              <a:rPr/>
              <a:t>, </a:t>
            </a:r>
            <a:r>
              <a:rPr i="1"/>
              <a:t>10</a:t>
            </a:r>
            <a:r>
              <a:rPr/>
              <a:t>(1), 2319. </a:t>
            </a:r>
            <a:r>
              <a:rPr>
                <a:hlinkClick r:id="rId8"/>
              </a:rPr>
              <a:t>https://doi.org/10.1038/s41467-019-10301-1</a:t>
            </a:r>
          </a:p>
          <a:p>
            <a:pPr lvl="0" indent="0" marL="0">
              <a:buNone/>
            </a:pPr>
            <a:r>
              <a:rPr/>
              <a:t>Favela, L. H. (2020). Cognitive science as complexity science. </a:t>
            </a:r>
            <a:r>
              <a:rPr i="1"/>
              <a:t>Wiley Interdisciplinary Reviews. Cognitive Science</a:t>
            </a:r>
            <a:r>
              <a:rPr/>
              <a:t>, </a:t>
            </a:r>
            <a:r>
              <a:rPr i="1"/>
              <a:t>11</a:t>
            </a:r>
            <a:r>
              <a:rPr/>
              <a:t>(4), e1525. </a:t>
            </a:r>
            <a:r>
              <a:rPr>
                <a:hlinkClick r:id="rId9"/>
              </a:rPr>
              <a:t>https://doi.org/10.1002/wcs.1525</a:t>
            </a:r>
          </a:p>
          <a:p>
            <a:pPr lvl="0" indent="0" marL="0">
              <a:buNone/>
            </a:pPr>
            <a:r>
              <a:rPr/>
              <a:t>Hill, A. B. (2015). The environment and disease: Association or causation? 1965. </a:t>
            </a:r>
            <a:r>
              <a:rPr i="1"/>
              <a:t>Journal of the Royal Society of Medicine</a:t>
            </a:r>
            <a:r>
              <a:rPr/>
              <a:t>, </a:t>
            </a:r>
            <a:r>
              <a:rPr i="1"/>
              <a:t>108</a:t>
            </a:r>
            <a:r>
              <a:rPr/>
              <a:t>(1), 32–37. </a:t>
            </a:r>
            <a:r>
              <a:rPr>
                <a:hlinkClick r:id="rId10"/>
              </a:rPr>
              <a:t>https://doi.org/10.1177/0141076814562718</a:t>
            </a:r>
          </a:p>
          <a:p>
            <a:pPr lvl="0" indent="0" marL="0">
              <a:buNone/>
            </a:pPr>
            <a:r>
              <a:rPr/>
              <a:t>Kahneman, D. (2013). </a:t>
            </a:r>
            <a:r>
              <a:rPr i="1"/>
              <a:t>Thinking, fast and slow</a:t>
            </a:r>
            <a:r>
              <a:rPr/>
              <a:t> (1st edition). Farrar, Straus; Giroux. Retrieved from </a:t>
            </a:r>
            <a:r>
              <a:rPr>
                <a:hlinkClick r:id="rId11"/>
              </a:rPr>
              <a:t>https://www.amazon.com/Thinking-Fast-Slow-Daniel-Kahneman/dp/0374533555</a:t>
            </a:r>
          </a:p>
          <a:p>
            <a:pPr lvl="0" indent="0" marL="0">
              <a:buNone/>
            </a:pPr>
            <a:r>
              <a:rPr/>
              <a:t>Krakauer, J. W., Ghazanfar, A. A., Gomez-Marin, A., MacIver, M. A., &amp; Poeppel, D. (2017). Neuroscience needs behavior: Correcting a reductionist bias. </a:t>
            </a:r>
            <a:r>
              <a:rPr i="1"/>
              <a:t>Neuron</a:t>
            </a:r>
            <a:r>
              <a:rPr/>
              <a:t>, </a:t>
            </a:r>
            <a:r>
              <a:rPr i="1"/>
              <a:t>93</a:t>
            </a:r>
            <a:r>
              <a:rPr/>
              <a:t>(3), 480–490. </a:t>
            </a:r>
            <a:r>
              <a:rPr>
                <a:hlinkClick r:id="rId12"/>
              </a:rPr>
              <a:t>https://doi.org/10.1016/j.neuron.2016.12.041</a:t>
            </a:r>
          </a:p>
          <a:p>
            <a:pPr lvl="0" indent="0" marL="0">
              <a:buNone/>
            </a:pPr>
            <a:r>
              <a:rPr/>
              <a:t>Levitis, D. A., Lidicker, W. Z., &amp; Freund, G. (2009). Behavioural biologists don’t agree on what constitutes behaviour. </a:t>
            </a:r>
            <a:r>
              <a:rPr i="1"/>
              <a:t>Animal Behaviour</a:t>
            </a:r>
            <a:r>
              <a:rPr/>
              <a:t>, </a:t>
            </a:r>
            <a:r>
              <a:rPr i="1"/>
              <a:t>78</a:t>
            </a:r>
            <a:r>
              <a:rPr/>
              <a:t>(1), 103–110. </a:t>
            </a:r>
            <a:r>
              <a:rPr>
                <a:hlinkClick r:id="rId13"/>
              </a:rPr>
              <a:t>https://doi.org/10.1016/j.anbehav.2009.03.018</a:t>
            </a:r>
          </a:p>
          <a:p>
            <a:pPr lvl="0" indent="0" marL="0">
              <a:buNone/>
            </a:pPr>
            <a:r>
              <a:rPr/>
              <a:t>Marr, D. (1980). </a:t>
            </a:r>
            <a:r>
              <a:rPr i="1"/>
              <a:t>Vision</a:t>
            </a:r>
            <a:r>
              <a:rPr/>
              <a:t>. Retrieved from </a:t>
            </a:r>
            <a:r>
              <a:rPr>
                <a:hlinkClick r:id="rId14"/>
              </a:rPr>
              <a:t>https://mitpress.mit.edu/books/vision</a:t>
            </a:r>
          </a:p>
          <a:p>
            <a:pPr lvl="0" indent="0" marL="0">
              <a:buNone/>
            </a:pPr>
            <a:r>
              <a:rPr/>
              <a:t>melodysheep. (2011, March). Ode to the brain! By symphony of science. Youtube. Retrieved from </a:t>
            </a:r>
            <a:r>
              <a:rPr>
                <a:hlinkClick r:id="rId15"/>
              </a:rPr>
              <a:t>https://www.youtube.com/watch?v=JB7jSFeVz1U</a:t>
            </a:r>
          </a:p>
          <a:p>
            <a:pPr lvl="0" indent="0" marL="0">
              <a:buNone/>
            </a:pPr>
            <a:r>
              <a:rPr/>
              <a:t>National Geographic. (2014, January). Beautiful 3-D brain scans show every synapse | national geographic. YouTube. Retrieved from </a:t>
            </a:r>
            <a:r>
              <a:rPr>
                <a:hlinkClick r:id="rId16"/>
              </a:rPr>
              <a:t>https://www.youtube.com/watch?v=nvXuq9jRWKE</a:t>
            </a:r>
          </a:p>
          <a:p>
            <a:pPr lvl="0" indent="0" marL="0">
              <a:buNone/>
            </a:pPr>
            <a:r>
              <a:rPr/>
              <a:t>Parada, F. J., &amp; Rossi, A. (2018). If neuroscience needs behavior, what does psychology need? </a:t>
            </a:r>
            <a:r>
              <a:rPr i="1"/>
              <a:t>Frontiers in Psychology</a:t>
            </a:r>
            <a:r>
              <a:rPr/>
              <a:t>, </a:t>
            </a:r>
            <a:r>
              <a:rPr i="1"/>
              <a:t>9</a:t>
            </a:r>
            <a:r>
              <a:rPr/>
              <a:t>, 433. </a:t>
            </a:r>
            <a:r>
              <a:rPr>
                <a:hlinkClick r:id="rId17"/>
              </a:rPr>
              <a:t>https://doi.org/10.3389/fpsyg.2018.00433</a:t>
            </a:r>
          </a:p>
          <a:p>
            <a:pPr lvl="0" indent="0" marL="0">
              <a:buNone/>
            </a:pPr>
            <a:r>
              <a:rPr/>
              <a:t>Ross, L. N., &amp; Bassett, D. S. (2024). Causation in neuroscience: Keeping mechanism meaningful. </a:t>
            </a:r>
            <a:r>
              <a:rPr i="1"/>
              <a:t>Nature Reviews. Neuroscience</a:t>
            </a:r>
            <a:r>
              <a:rPr/>
              <a:t>. </a:t>
            </a:r>
            <a:r>
              <a:rPr>
                <a:hlinkClick r:id="rId18"/>
              </a:rPr>
              <a:t>https://doi.org/10.1038/s41583-023-00778-7</a:t>
            </a:r>
          </a:p>
          <a:p>
            <a:pPr lvl="0" indent="0" marL="0">
              <a:buNone/>
            </a:pPr>
            <a:r>
              <a:rPr/>
              <a:t>Segal, A., Tiego, J., Parkes, L., Holmes, A. J., Marquand, A. F., &amp; Fornito, A. (2024). Embracing variability in the search for biological mechanisms of psychiatric illness. </a:t>
            </a:r>
            <a:r>
              <a:rPr i="1"/>
              <a:t>Trends in Cognitive Sciences</a:t>
            </a:r>
            <a:r>
              <a:rPr/>
              <a:t>, </a:t>
            </a:r>
            <a:r>
              <a:rPr i="1"/>
              <a:t>29</a:t>
            </a:r>
            <a:r>
              <a:rPr/>
              <a:t>, 85–99. </a:t>
            </a:r>
            <a:r>
              <a:rPr>
                <a:hlinkClick r:id="rId19"/>
              </a:rPr>
              <a:t>https://doi.org/10.1016/j.tics.2024.09.010</a:t>
            </a:r>
          </a:p>
          <a:p>
            <a:pPr lvl="0" indent="0" marL="0">
              <a:buNone/>
            </a:pPr>
            <a:r>
              <a:rPr/>
              <a:t>Sejnowski, T. J., Churchland, P. S., &amp; Movshon, J. A. (2014). Putting big data to good use in neuroscience. </a:t>
            </a:r>
            <a:r>
              <a:rPr i="1"/>
              <a:t>Nat. Neurosci.</a:t>
            </a:r>
            <a:r>
              <a:rPr/>
              <a:t>, </a:t>
            </a:r>
            <a:r>
              <a:rPr i="1"/>
              <a:t>17</a:t>
            </a:r>
            <a:r>
              <a:rPr/>
              <a:t>(11), 1440–1441. </a:t>
            </a:r>
            <a:r>
              <a:rPr>
                <a:hlinkClick r:id="rId20"/>
              </a:rPr>
              <a:t>https://doi.org/10.1038/nn.3839</a:t>
            </a:r>
          </a:p>
          <a:p>
            <a:pPr lvl="0" indent="0" marL="0">
              <a:buNone/>
            </a:pPr>
            <a:r>
              <a:rPr/>
              <a:t>Siddiqi, S. H., Kording, K. P., Parvizi, J., &amp; Fox, M. D. (2022). Causal mapping of human brain function. </a:t>
            </a:r>
            <a:r>
              <a:rPr i="1"/>
              <a:t>Nature Reviews Neuroscience</a:t>
            </a:r>
            <a:r>
              <a:rPr/>
              <a:t>, </a:t>
            </a:r>
            <a:r>
              <a:rPr i="1"/>
              <a:t>23</a:t>
            </a:r>
            <a:r>
              <a:rPr/>
              <a:t>(6), 361–375. </a:t>
            </a:r>
            <a:r>
              <a:rPr>
                <a:hlinkClick r:id="rId21"/>
              </a:rPr>
              <a:t>https://doi.org/10.1038/s41583-022-00583-8</a:t>
            </a:r>
          </a:p>
          <a:p>
            <a:pPr lvl="0" indent="0" marL="0">
              <a:buNone/>
            </a:pPr>
            <a:r>
              <a:rPr/>
              <a:t>Stringer, C., Pachitariu, M., Steinmetz, N., Reddy, C. B., Carandini, M., &amp; Harris, K. D. (2019). Spontaneous behaviors drive multidimensional, brainwide activity. </a:t>
            </a:r>
            <a:r>
              <a:rPr i="1"/>
              <a:t>Science</a:t>
            </a:r>
            <a:r>
              <a:rPr/>
              <a:t>, </a:t>
            </a:r>
            <a:r>
              <a:rPr i="1"/>
              <a:t>364</a:t>
            </a:r>
            <a:r>
              <a:rPr/>
              <a:t>(6437), 255. </a:t>
            </a:r>
            <a:r>
              <a:rPr>
                <a:hlinkClick r:id="rId22"/>
              </a:rPr>
              <a:t>https://doi.org/10.1126/science.aav7893</a:t>
            </a:r>
          </a:p>
          <a:p>
            <a:pPr lvl="0" indent="0" marL="0">
              <a:buNone/>
            </a:pPr>
            <a:r>
              <a:rPr/>
              <a:t>Swanson, L. W. (2005). Anatomy of the soul as reflected in the cerebral hemispheres: Neural circuits underlying voluntary control of basic motivated behaviors. </a:t>
            </a:r>
            <a:r>
              <a:rPr i="1"/>
              <a:t>Journal of Comparative Neurology</a:t>
            </a:r>
            <a:r>
              <a:rPr/>
              <a:t>, </a:t>
            </a:r>
            <a:r>
              <a:rPr i="1"/>
              <a:t>493</a:t>
            </a:r>
            <a:r>
              <a:rPr/>
              <a:t>(1), 122–131. </a:t>
            </a:r>
            <a:r>
              <a:rPr>
                <a:hlinkClick r:id="rId23"/>
              </a:rPr>
              <a:t>https://doi.org/10.1002/cne.20733</a:t>
            </a:r>
          </a:p>
          <a:p>
            <a:pPr lvl="0" indent="0" marL="0">
              <a:buNone/>
            </a:pPr>
            <a:r>
              <a:rPr/>
              <a:t>Swanson, L. W., &amp; Lichtman, J. W. (2016). From Cajal to connectome and beyond. </a:t>
            </a:r>
            <a:r>
              <a:rPr i="1"/>
              <a:t>Annual Review of Neuroscience</a:t>
            </a:r>
            <a:r>
              <a:rPr/>
              <a:t>, </a:t>
            </a:r>
            <a:r>
              <a:rPr i="1"/>
              <a:t>39</a:t>
            </a:r>
            <a:r>
              <a:rPr/>
              <a:t>, 197–216. </a:t>
            </a:r>
            <a:r>
              <a:rPr>
                <a:hlinkClick r:id="rId24"/>
              </a:rPr>
              <a:t>https://doi.org/10.1146/annurev-neuro-071714-033954</a:t>
            </a:r>
          </a:p>
          <a:p>
            <a:pPr lvl="0" indent="0" marL="0">
              <a:buNone/>
            </a:pPr>
            <a:r>
              <a:rPr/>
              <a:t>Terman, D., &amp; Izhikevich, E. (2008). State space. </a:t>
            </a:r>
            <a:r>
              <a:rPr i="1"/>
              <a:t>Scholarpedia Journal</a:t>
            </a:r>
            <a:r>
              <a:rPr/>
              <a:t>, </a:t>
            </a:r>
            <a:r>
              <a:rPr i="1"/>
              <a:t>3</a:t>
            </a:r>
            <a:r>
              <a:rPr/>
              <a:t>, 1924. </a:t>
            </a:r>
            <a:r>
              <a:rPr>
                <a:hlinkClick r:id="rId25"/>
              </a:rPr>
              <a:t>https://doi.org/10.4249/scholarpedia.1924</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Foundations of Social, Cognitive, and Affective Neuroscience</dc:title>
  <dc:creator/>
  <cp:keywords/>
  <dcterms:created xsi:type="dcterms:W3CDTF">2026-01-12T13:44:43Z</dcterms:created>
  <dcterms:modified xsi:type="dcterms:W3CDTF">2026-01-12T13:44:43Z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
  </property>
  <property fmtid="{D5CDD505-2E9C-101B-9397-08002B2CF9AE}" pid="4" name="bibliographystyle">
    <vt:lpwstr>apa</vt:lpwstr>
  </property>
  <property fmtid="{D5CDD505-2E9C-101B-9397-08002B2CF9AE}" pid="5" name="csl">
    <vt:lpwstr>../include/bib/apa.csl</vt:lpwstr>
  </property>
  <property fmtid="{D5CDD505-2E9C-101B-9397-08002B2CF9AE}" pid="6" name="editor">
    <vt:lpwstr>source</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subtitle">
    <vt:lpwstr>PSY 511.001 Spr 2026</vt:lpwstr>
  </property>
  <property fmtid="{D5CDD505-2E9C-101B-9397-08002B2CF9AE}" pid="13" name="toc-title">
    <vt:lpwstr>Table of contents</vt:lpwstr>
  </property>
</Properties>
</file>