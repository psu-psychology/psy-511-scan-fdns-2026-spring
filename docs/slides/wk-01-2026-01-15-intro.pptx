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g" ContentType="image/jpeg"/>
  <Default Extension="gif" ContentType="image/gif"/>
  <Default Extension="png" ContentType="image/png"/>
  <Default Extension="webp" ContentType="image/webp"/>
  <Default Extension="shtml" ContentType="text/html; charset=UTF-8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41" Type="http://schemas.openxmlformats.org/officeDocument/2006/relationships/slide" Target="slides/slide40.xml" /><Relationship Id="rId42" Type="http://schemas.openxmlformats.org/officeDocument/2006/relationships/slide" Target="slides/slide41.xml" /><Relationship Id="rId43" Type="http://schemas.openxmlformats.org/officeDocument/2006/relationships/slide" Target="slides/slide42.xml" /><Relationship Id="rId44" Type="http://schemas.openxmlformats.org/officeDocument/2006/relationships/slide" Target="slides/slide43.xml" /><Relationship Id="rId45" Type="http://schemas.openxmlformats.org/officeDocument/2006/relationships/slide" Target="slides/slide44.xml" /><Relationship Id="rId46" Type="http://schemas.openxmlformats.org/officeDocument/2006/relationships/slide" Target="slides/slide45.xml" /><Relationship Id="rId47" Type="http://schemas.openxmlformats.org/officeDocument/2006/relationships/slide" Target="slides/slide46.xml" /><Relationship Id="rId48" Type="http://schemas.openxmlformats.org/officeDocument/2006/relationships/slide" Target="slides/slide47.xml" /><Relationship Id="rId49" Type="http://schemas.openxmlformats.org/officeDocument/2006/relationships/slide" Target="slides/slide48.xml" /><Relationship Id="rId50" Type="http://schemas.openxmlformats.org/officeDocument/2006/relationships/slide" Target="slides/slide49.xml" /><Relationship Id="rId51" Type="http://schemas.openxmlformats.org/officeDocument/2006/relationships/slide" Target="slides/slide50.xml" /><Relationship Id="rId52" Type="http://schemas.openxmlformats.org/officeDocument/2006/relationships/slide" Target="slides/slide51.xml" /><Relationship Id="rId53" Type="http://schemas.openxmlformats.org/officeDocument/2006/relationships/slide" Target="slides/slide52.xml" /><Relationship Id="rId54" Type="http://schemas.openxmlformats.org/officeDocument/2006/relationships/slide" Target="slides/slide53.xml" /><Relationship Id="rId55" Type="http://schemas.openxmlformats.org/officeDocument/2006/relationships/slide" Target="slides/slide54.xml" /><Relationship Id="rId56" Type="http://schemas.openxmlformats.org/officeDocument/2006/relationships/slide" Target="slides/slide55.xml" /><Relationship Id="rId57" Type="http://schemas.openxmlformats.org/officeDocument/2006/relationships/slide" Target="slides/slide56.xml" /><Relationship Id="rId58" Type="http://schemas.openxmlformats.org/officeDocument/2006/relationships/slide" Target="slides/slide57.xml" /><Relationship Id="rId59" Type="http://schemas.openxmlformats.org/officeDocument/2006/relationships/slide" Target="slides/slide58.xml" /><Relationship Id="rId60" Type="http://schemas.openxmlformats.org/officeDocument/2006/relationships/slide" Target="slides/slide59.xml" /><Relationship Id="rId61" Type="http://schemas.openxmlformats.org/officeDocument/2006/relationships/slide" Target="slides/slide60.xml" /><Relationship Id="rId62" Type="http://schemas.openxmlformats.org/officeDocument/2006/relationships/slide" Target="slides/slide61.xml" /><Relationship Id="rId63" Type="http://schemas.openxmlformats.org/officeDocument/2006/relationships/slide" Target="slides/slide62.xml" /><Relationship Id="rId64" Type="http://schemas.openxmlformats.org/officeDocument/2006/relationships/slide" Target="slides/slide63.xml" /><Relationship Id="rId65" Type="http://schemas.openxmlformats.org/officeDocument/2006/relationships/slide" Target="slides/slide64.xml" /><Relationship Id="rId66" Type="http://schemas.openxmlformats.org/officeDocument/2006/relationships/slide" Target="slides/slide65.xml" /><Relationship Id="rId67" Type="http://schemas.openxmlformats.org/officeDocument/2006/relationships/slide" Target="slides/slide66.xml" /><Relationship Id="rId68" Type="http://schemas.openxmlformats.org/officeDocument/2006/relationships/slide" Target="slides/slide67.xml" /><Relationship Id="rId69" Type="http://schemas.openxmlformats.org/officeDocument/2006/relationships/slide" Target="slides/slide68.xml" /><Relationship Id="rId70" Type="http://schemas.openxmlformats.org/officeDocument/2006/relationships/slide" Target="slides/slide69.xml" /><Relationship Id="rId71" Type="http://schemas.openxmlformats.org/officeDocument/2006/relationships/slide" Target="slides/slide70.xml" /><Relationship Id="rId72" Type="http://schemas.openxmlformats.org/officeDocument/2006/relationships/slide" Target="slides/slide71.xml" /><Relationship Id="rId73" Type="http://schemas.openxmlformats.org/officeDocument/2006/relationships/slide" Target="slides/slide72.xml" /><Relationship Id="rId74" Type="http://schemas.openxmlformats.org/officeDocument/2006/relationships/slide" Target="slides/slide73.xml" /><Relationship Id="rId76" Type="http://schemas.openxmlformats.org/officeDocument/2006/relationships/viewProps" Target="viewProps.xml" /><Relationship Id="rId75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78" Type="http://schemas.openxmlformats.org/officeDocument/2006/relationships/tableStyles" Target="tableStyles.xml" /><Relationship Id="rId77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www.youtube.com/embed/JB7jSFeVz1U" TargetMode="Externa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jp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jp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3.gif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4.png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5.jp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6.jpg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hyperlink" Target="https://en.wikipedia.org/wiki/Spherical_cow" TargetMode="Externa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7.jpg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8.png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9.png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psu-psychology.github.io/psy-511-scan-fdns-2026-spring/" TargetMode="Externa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0.png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1.png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2.png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3.png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4.png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5.png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6.jpg" /></Relationships>
</file>

<file path=ppt/slides/_rels/slide4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6.jpg" /></Relationships>
</file>

<file path=ppt/slides/_rels/slide4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3" Type="http://schemas.openxmlformats.org/officeDocument/2006/relationships/image" Target="../media/image18.jpg" /><Relationship Id="rId2" Type="http://schemas.openxmlformats.org/officeDocument/2006/relationships/image" Target="../media/image17.png" /></Relationships>
</file>

<file path=ppt/slides/_rels/slide4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9.jpg" /></Relationships>
</file>

<file path=ppt/slides/_rels/slide4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0.webp" /></Relationships>
</file>

<file path=ppt/slides/_rels/slide5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1.gif" /></Relationships>
</file>

<file path=ppt/slides/_rels/slide5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2.gif" /></Relationships>
</file>

<file path=ppt/slides/_rels/slide5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3.shtml" /></Relationships>
</file>

<file path=ppt/slides/_rels/slide58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59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6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dx.doi.org/10.1016/j.neuron.2016.12.041" TargetMode="External" /><Relationship Id="rId3" Type="http://schemas.openxmlformats.org/officeDocument/2006/relationships/hyperlink" Target="https://doi.org/10.3389/fpsyg.2018.00433" TargetMode="External" /><Relationship Id="rId4" Type="http://schemas.openxmlformats.org/officeDocument/2006/relationships/hyperlink" Target="https://www.psychologicalscience.org/observer/if-neuroscience-needs-behavior-what-does-behavioral-science-need" TargetMode="External" /></Relationships>
</file>

<file path=ppt/slides/_rels/slide6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4.jpg" /></Relationships>
</file>

<file path=ppt/slides/_rels/slide6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5.jpg" /></Relationships>
</file>

<file path=ppt/slides/_rels/slide6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6.jpg" /></Relationships>
</file>

<file path=ppt/slides/_rels/slide6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7.jpg" /></Relationships>
</file>

<file path=ppt/slides/_rels/slide6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8.jpg" /></Relationships>
</file>

<file path=ppt/slides/_rels/slide6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../exercises/ex-LVL.qmd" TargetMode="External" /></Relationships>
</file>

<file path=ppt/slides/_rels/slide7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../resources/anatomy.qmd" TargetMode="External" /><Relationship Id="rId3" Type="http://schemas.openxmlformats.org/officeDocument/2006/relationships/hyperlink" Target="exercises/ex-ANAT.pdf" TargetMode="External" /></Relationships>
</file>

<file path=ppt/slides/_rels/slide7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7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doi.org/10.1146/annurev-neuro-111020-094019" TargetMode="External" /><Relationship Id="rId3" Type="http://schemas.openxmlformats.org/officeDocument/2006/relationships/hyperlink" Target="https://uxdesign.cc/a-comprehensive-list-of-human-computer-interactions-d72eaca2c0df" TargetMode="External" /><Relationship Id="rId4" Type="http://schemas.openxmlformats.org/officeDocument/2006/relationships/hyperlink" Target="https://doi.org/10.1016/j.tins.2018.05.006" TargetMode="External" /><Relationship Id="rId5" Type="http://schemas.openxmlformats.org/officeDocument/2006/relationships/hyperlink" Target="https://www.quantamagazine.org/mental-phenomena-dont-map-into-the-brain-as-expected-20210824/" TargetMode="External" /><Relationship Id="rId6" Type="http://schemas.openxmlformats.org/officeDocument/2006/relationships/hyperlink" Target="https://www.quantamagazine.org/mental-phenomena-dont-map-into-the-brain-as-expected-20210824/" TargetMode="External" /><Relationship Id="rId7" Type="http://schemas.openxmlformats.org/officeDocument/2006/relationships/hyperlink" Target="https://doi.org/10.3758/s13414-019-01760-1" TargetMode="External" /><Relationship Id="rId8" Type="http://schemas.openxmlformats.org/officeDocument/2006/relationships/hyperlink" Target="https://doi.org/10.1038/s41467-019-10301-1" TargetMode="External" /><Relationship Id="rId9" Type="http://schemas.openxmlformats.org/officeDocument/2006/relationships/hyperlink" Target="https://doi.org/10.1002/wcs.1525" TargetMode="External" /><Relationship Id="rId10" Type="http://schemas.openxmlformats.org/officeDocument/2006/relationships/hyperlink" Target="https://doi.org/10.1016/j.tics.2004.02.004" TargetMode="External" /><Relationship Id="rId11" Type="http://schemas.openxmlformats.org/officeDocument/2006/relationships/hyperlink" Target="https://doi.org/10.1177/0141076814562718" TargetMode="External" /><Relationship Id="rId12" Type="http://schemas.openxmlformats.org/officeDocument/2006/relationships/hyperlink" Target="https://www.amazon.com/Thinking-Fast-Slow-Daniel-Kahneman/dp/0374533555" TargetMode="External" /><Relationship Id="rId13" Type="http://schemas.openxmlformats.org/officeDocument/2006/relationships/hyperlink" Target="https://doi.org/10.1016/j.neuron.2016.12.041" TargetMode="External" /><Relationship Id="rId14" Type="http://schemas.openxmlformats.org/officeDocument/2006/relationships/hyperlink" Target="https://doi.org/10.1016/j.anbehav.2009.03.018" TargetMode="External" /><Relationship Id="rId15" Type="http://schemas.openxmlformats.org/officeDocument/2006/relationships/hyperlink" Target="https://mitpress.mit.edu/books/vision" TargetMode="External" /><Relationship Id="rId16" Type="http://schemas.openxmlformats.org/officeDocument/2006/relationships/hyperlink" Target="https://www.youtube.com/watch?v=JB7jSFeVz1U" TargetMode="External" /><Relationship Id="rId17" Type="http://schemas.openxmlformats.org/officeDocument/2006/relationships/hyperlink" Target="https://www.youtube.com/watch?v=nvXuq9jRWKE" TargetMode="External" /><Relationship Id="rId18" Type="http://schemas.openxmlformats.org/officeDocument/2006/relationships/hyperlink" Target="https://doi.org/10.3389/fpsyg.2018.00433" TargetMode="External" /><Relationship Id="rId19" Type="http://schemas.openxmlformats.org/officeDocument/2006/relationships/hyperlink" Target="https://doi.org/10.1038/s41583-023-00778-7" TargetMode="External" /><Relationship Id="rId20" Type="http://schemas.openxmlformats.org/officeDocument/2006/relationships/hyperlink" Target="https://doi.org/10.1038/nn.3839" TargetMode="External" /><Relationship Id="rId21" Type="http://schemas.openxmlformats.org/officeDocument/2006/relationships/hyperlink" Target="https://doi.org/10.1038/s41583-022-00583-8" TargetMode="External" /><Relationship Id="rId22" Type="http://schemas.openxmlformats.org/officeDocument/2006/relationships/hyperlink" Target="https://doi.org/10.1126/science.aav7893" TargetMode="External" /><Relationship Id="rId23" Type="http://schemas.openxmlformats.org/officeDocument/2006/relationships/hyperlink" Target="https://doi.org/10.1002/cne.20733" TargetMode="External" /><Relationship Id="rId24" Type="http://schemas.openxmlformats.org/officeDocument/2006/relationships/hyperlink" Target="https://doi.org/10.4249/scholarpedia.1924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Foundations of Social, Cognitive, and Affective Neuroscience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PSY 511.001 Spr 2026</a:t>
            </a:r>
            <a:br/>
            <a:br/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Overview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Prelude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hlinkClick r:id="rId2"/>
              </a:rPr>
              <a:t>https://www.youtube.com/embed/JB7jSFeVz1U</a:t>
            </a:r>
          </a:p>
          <a:p>
            <a:pPr lvl="0" indent="0" marL="0">
              <a:buNone/>
            </a:pPr>
            <a:r>
              <a:rPr/>
              <a:t>– melodysheep (2011)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/>
              <a:t>If understanding everything we need to know about the brain is a mile, how far have we walked?</a:t>
            </a:r>
          </a:p>
          <a:p>
            <a:pPr lvl="0" indent="0" marL="0">
              <a:buNone/>
            </a:pPr>
            <a:r>
              <a:rPr/>
              <a:t>– National Geographic (2014)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Today’s topics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Why </a:t>
            </a:r>
            <a:r>
              <a:rPr strike="sngStrike"/>
              <a:t>neuroscience</a:t>
            </a:r>
            <a:r>
              <a:rPr/>
              <a:t> psychology is harder than physics</a:t>
            </a:r>
          </a:p>
          <a:p>
            <a:pPr lvl="0"/>
            <a:r>
              <a:rPr/>
              <a:t>Course overview</a:t>
            </a:r>
          </a:p>
          <a:p>
            <a:pPr lvl="0"/>
            <a:r>
              <a:rPr/>
              <a:t>Does neuroscience need behavior? Does behavioral science need the brain?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Why psychology is harder than physics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../include/img/psych-harder-1.jp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044700" y="1193800"/>
            <a:ext cx="5054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../include/img/psych-harder-2.jp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070100" y="1193800"/>
            <a:ext cx="50038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Physics perspective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Simplifying assumptions</a:t>
            </a:r>
          </a:p>
          <a:p>
            <a:pPr lvl="0"/>
            <a:r>
              <a:rPr/>
              <a:t>Universal laws</a:t>
            </a:r>
          </a:p>
          <a:p>
            <a:pPr lvl="0"/>
            <a:r>
              <a:rPr/>
              <a:t>Macro phenomena</a:t>
            </a:r>
          </a:p>
          <a:p>
            <a:pPr lvl="0"/>
            <a:r>
              <a:rPr/>
              <a:t>Low dimensional state space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On state spaces…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/>
              <a:t>State space is the set of all possible states of a dynamical system; each state of the system corresponds to a unique point in the state space. For example, the state of an idealized pendulum is uniquely defined by its angle and angular velocity…</a:t>
            </a:r>
          </a:p>
          <a:p>
            <a:pPr lvl="0" indent="0" marL="0">
              <a:buNone/>
            </a:pPr>
            <a:r>
              <a:rPr/>
              <a:t>– Terman &amp; Izhikevich (2008)</a:t>
            </a:r>
          </a:p>
        </p:txBody>
      </p:sp>
      <p:pic>
        <p:nvPicPr>
          <p:cNvPr descr="http://www.scholarpedia.org/w/images/thumb/0/07/State_space_cylinder.gif/200px-State_space_cylinder.gif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842000" y="1193800"/>
            <a:ext cx="16510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648200" y="4076700"/>
            <a:ext cx="4038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Figure 1 from Terman &amp; Izhikevich (2008)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Psychological perspective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Placeholder 2"/>
              <p:cNvSpPr>
                <a:spLocks noGrp="1"/>
              </p:cNvSpPr>
              <p:nvPr>
                <p:ph idx="1" type="body"/>
              </p:nvPr>
            </p:nvSpPr>
            <p:spPr/>
            <p:txBody>
              <a:bodyPr/>
              <a:lstStyle/>
              <a:p>
                <a:pPr lvl="0"/>
                <a:r>
                  <a:rPr/>
                  <a:t>What is the state…</a:t>
                </a:r>
              </a:p>
              <a:p>
                <a:pPr lvl="1"/>
                <a:r>
                  <a:rPr/>
                  <a:t>Of the world (</a:t>
                </a:r>
                <a14:m>
                  <m:oMath xmlns:m="http://schemas.openxmlformats.org/officeDocument/2006/math">
                    <m:r>
                      <m:t>W</m:t>
                    </m:r>
                  </m:oMath>
                </a14:m>
                <a:r>
                  <a:rPr/>
                  <a:t>)?</a:t>
                </a:r>
              </a:p>
              <a:p>
                <a:pPr lvl="1"/>
                <a:r>
                  <a:rPr/>
                  <a:t>Of the organism?</a:t>
                </a:r>
              </a:p>
              <a:p>
                <a:pPr lvl="2"/>
                <a:r>
                  <a:rPr/>
                  <a:t>Body (</a:t>
                </a:r>
                <a14:m>
                  <m:oMath xmlns:m="http://schemas.openxmlformats.org/officeDocument/2006/math">
                    <m:r>
                      <m:t>B</m:t>
                    </m:r>
                  </m:oMath>
                </a14:m>
                <a:r>
                  <a:rPr/>
                  <a:t>)</a:t>
                </a:r>
              </a:p>
              <a:p>
                <a:pPr lvl="2"/>
                <a:r>
                  <a:rPr/>
                  <a:t>Nervous system (</a:t>
                </a:r>
                <a14:m>
                  <m:oMath xmlns:m="http://schemas.openxmlformats.org/officeDocument/2006/math">
                    <m:r>
                      <m:t>N</m:t>
                    </m:r>
                  </m:oMath>
                </a14:m>
                <a:r>
                  <a:rPr/>
                  <a:t>)</a:t>
                </a:r>
              </a:p>
              <a:p>
                <a:pPr lvl="2"/>
                <a:r>
                  <a:rPr/>
                  <a:t>Mind (</a:t>
                </a:r>
                <a14:m>
                  <m:oMath xmlns:m="http://schemas.openxmlformats.org/officeDocument/2006/math">
                    <m:r>
                      <m:t>M</m:t>
                    </m:r>
                  </m:oMath>
                </a14:m>
                <a:r>
                  <a:rPr/>
                  <a:t>)</a:t>
                </a:r>
              </a:p>
              <a:p>
                <a:pPr lvl="0"/>
                <a:r>
                  <a:rPr/>
                  <a:t>How do these states change over time?</a:t>
                </a:r>
              </a:p>
              <a:p>
                <a:pPr lvl="0"/>
                <a:r>
                  <a:rPr/>
                  <a:t>What causes the changes?</a:t>
                </a:r>
              </a:p>
            </p:txBody>
          </p:sp>
        </mc:Choice>
      </mc:AlternateContent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buNone/>
            </a:pPr>
          </a:p>
        </p:txBody>
      </p:sp>
      <p:pic>
        <p:nvPicPr>
          <p:cNvPr descr="wk-01-2026-01-15-intro_files/figure-pptx/mermaid-figure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930900" y="1625600"/>
            <a:ext cx="1460500" cy="2959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State spaces in brain &amp; behavior</a:t>
            </a:r>
          </a:p>
        </p:txBody>
      </p:sp>
      <p:pic>
        <p:nvPicPr>
          <p:cNvPr descr="../include/img/swanson-2005-fig-1.jp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955800" y="1193800"/>
            <a:ext cx="52197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Swanson (2005) Figure 1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States high dimensional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~86 billion neurons</a:t>
            </a:r>
          </a:p>
          <a:p>
            <a:pPr lvl="0"/>
            <a:r>
              <a:rPr/>
              <a:t>~100 trillion - 1 quadrillion synapses</a:t>
            </a:r>
          </a:p>
          <a:p>
            <a:pPr lvl="0"/>
            <a:r>
              <a:rPr/>
              <a:t>?? # of motor units</a:t>
            </a:r>
          </a:p>
          <a:p>
            <a:pPr lvl="0"/>
            <a:r>
              <a:rPr/>
              <a:t>600+ skeletal muscles; 300+ joints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s://media.springernature.com/lw685/springer-static/image/art%3A10.1038%2Fnn.3839/MediaObjects/41593_2014_Article_BFnn3839_Fig1_HTML.jp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425700" y="1193800"/>
            <a:ext cx="42926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Sejnowski et al. (2014) Figure 1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Direct vs. indirect measurement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14:m>
                  <m:oMath xmlns:m="http://schemas.openxmlformats.org/officeDocument/2006/math">
                    <m:r>
                      <m:t>W</m:t>
                    </m:r>
                  </m:oMath>
                </a14:m>
                <a:r>
                  <a:rPr/>
                  <a:t>, </a:t>
                </a:r>
                <a14:m>
                  <m:oMath xmlns:m="http://schemas.openxmlformats.org/officeDocument/2006/math">
                    <m:r>
                      <m:t>B</m:t>
                    </m:r>
                  </m:oMath>
                </a14:m>
                <a:r>
                  <a:rPr/>
                  <a:t>, </a:t>
                </a:r>
                <a14:m>
                  <m:oMath xmlns:m="http://schemas.openxmlformats.org/officeDocument/2006/math">
                    <m:r>
                      <m:t>N</m:t>
                    </m:r>
                  </m:oMath>
                </a14:m>
                <a:r>
                  <a:rPr/>
                  <a:t> (more or less) </a:t>
                </a:r>
                <a:r>
                  <a:rPr b="1"/>
                  <a:t>directly</a:t>
                </a:r>
              </a:p>
              <a:p>
                <a:pPr lvl="0"/>
                <a:r>
                  <a:rPr/>
                  <a:t>vs. </a:t>
                </a:r>
                <a14:m>
                  <m:oMath xmlns:m="http://schemas.openxmlformats.org/officeDocument/2006/math">
                    <m:r>
                      <m:t>M</m:t>
                    </m:r>
                  </m:oMath>
                </a14:m>
                <a:r>
                  <a:rPr/>
                  <a:t>, measured </a:t>
                </a:r>
                <a:r>
                  <a:rPr b="1"/>
                  <a:t>indirectly</a:t>
                </a:r>
              </a:p>
              <a:p>
                <a:pPr lvl="0"/>
                <a:r>
                  <a:rPr/>
                  <a:t>Via </a:t>
                </a:r>
                <a14:m>
                  <m:oMath xmlns:m="http://schemas.openxmlformats.org/officeDocument/2006/math">
                    <m:r>
                      <m:t>N</m:t>
                    </m:r>
                  </m:oMath>
                </a14:m>
                <a:r>
                  <a:rPr/>
                  <a:t>, </a:t>
                </a:r>
                <a14:m>
                  <m:oMath xmlns:m="http://schemas.openxmlformats.org/officeDocument/2006/math">
                    <m:r>
                      <m:t>B</m:t>
                    </m:r>
                  </m:oMath>
                </a14:m>
                <a:r>
                  <a:rPr/>
                  <a:t>, </a:t>
                </a:r>
                <a14:m>
                  <m:oMath xmlns:m="http://schemas.openxmlformats.org/officeDocument/2006/math">
                    <m:r>
                      <m:t>W</m:t>
                    </m:r>
                  </m:oMath>
                </a14:m>
              </a:p>
              <a:p>
                <a:pPr lvl="0" indent="0" marL="1270000">
                  <a:buNone/>
                </a:pPr>
                <a:r>
                  <a:rPr sz="2000" b="1"/>
                  <a:t>Your turn</a:t>
                </a:r>
              </a:p>
              <a:p>
                <a:pPr lvl="0"/>
                <a:r>
                  <a:rPr sz="2000"/>
                  <a:t>Do you agree?</a:t>
                </a:r>
              </a:p>
            </p:txBody>
          </p:sp>
        </mc:Choice>
      </mc:AlternateContent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Hard to simplify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>
                <a:hlinkClick r:id="rId2"/>
              </a:rPr>
              <a:t>Consider a spherical cow</a:t>
            </a:r>
          </a:p>
          <a:p>
            <a:pPr lvl="0"/>
            <a:r>
              <a:rPr/>
              <a:t>Computation (and memory) often distributed</a:t>
            </a:r>
          </a:p>
          <a:p>
            <a:pPr lvl="0"/>
            <a:r>
              <a:rPr/>
              <a:t>Single functions -&gt; multiple parts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By Keenan Crane; (The source material is licensed under CC0), CC BY-SA 4.0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Single parts -&gt; multiple functions</a:t>
            </a:r>
          </a:p>
        </p:txBody>
      </p:sp>
      <p:pic>
        <p:nvPicPr>
          <p:cNvPr descr="../include/img/calabrese-2018.jp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231900" y="1193800"/>
            <a:ext cx="25019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4038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Calabrese (2018)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/>
              <a:t>Many circuit wiring patterns</a:t>
            </a:r>
          </a:p>
          <a:p>
            <a:pPr lvl="0"/>
            <a:r>
              <a:rPr/>
              <a:t>Similar dynamics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Biological systems not “designed”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/>
              <a:t>…like human-engineered ones</a:t>
            </a:r>
          </a:p>
        </p:txBody>
      </p:sp>
      <p:pic>
        <p:nvPicPr>
          <p:cNvPr descr="../include/img/Computer_architecture_block_diagram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962400" y="203200"/>
            <a:ext cx="4305300" cy="387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https://en.wikipedia.org/wiki/Computer_architecture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Studying such systems is hard because…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Change structure/function over time</a:t>
            </a:r>
          </a:p>
          <a:p>
            <a:pPr lvl="0"/>
            <a:r>
              <a:rPr/>
              <a:t>Hard to measure what is being exchanged, what is being </a:t>
            </a:r>
            <a:r>
              <a:rPr i="1"/>
              <a:t>controlled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s://media.springernature.com/full/springer-static/image/art%3A10.3758%2Fs13414-019-01760-1/MediaObjects/13414_2019_1760_Fig3_HTML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003300" y="1193800"/>
            <a:ext cx="71374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(Cisek, 2019, fig. 3). Schematic behavioral control systems. (A) When the current nutrient state deviates from a desired state, locomotion is initiated, ultimately bringing the animal to a more desirable state. (B) Elaboration of nutrient state control into a high-level controller (ANS) and a lower-level controller (BNS) capable of two modes of locomotion, local exploitation, and long-range exploration. 5HT, serotonin; ANS/BNS, apical/blastoporal nervous system; DA, dopamine; NPY, neuropeptide Y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Course overview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Goals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Master fundamentals of neuroscientific concepts and facts</a:t>
            </a:r>
          </a:p>
          <a:p>
            <a:pPr lvl="0"/>
            <a:r>
              <a:rPr/>
              <a:t>Prepare to read primary source literature in social, behavioral, cognitive, affective, and clinical neuroscience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hlinkClick r:id="rId2"/>
              </a:rPr>
              <a:t>https://psu-psychology.github.io/psy-511-scan-fdns-2026-spring/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What is the basic organizational plan of the nervous system?</a:t>
            </a:r>
          </a:p>
          <a:p>
            <a:pPr lvl="0"/>
            <a:r>
              <a:rPr/>
              <a:t>How does the nervous system undergird…</a:t>
            </a:r>
          </a:p>
          <a:p>
            <a:pPr lvl="1"/>
            <a:r>
              <a:rPr/>
              <a:t>action</a:t>
            </a:r>
          </a:p>
          <a:p>
            <a:pPr lvl="1"/>
            <a:r>
              <a:rPr/>
              <a:t>perception</a:t>
            </a:r>
          </a:p>
          <a:p>
            <a:pPr lvl="1"/>
            <a:r>
              <a:rPr/>
              <a:t>emotion</a:t>
            </a:r>
          </a:p>
          <a:p>
            <a:pPr lvl="1"/>
            <a:r>
              <a:rPr/>
              <a:t>learning &amp; memory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What happens to the brain during sleep?</a:t>
            </a:r>
          </a:p>
          <a:p>
            <a:pPr lvl="0"/>
            <a:r>
              <a:rPr/>
              <a:t>How does the nervous system develop? How has it evolved?</a:t>
            </a:r>
          </a:p>
          <a:p>
            <a:pPr lvl="0"/>
            <a:r>
              <a:rPr/>
              <a:t>How do neurons work? How do they communicate?</a:t>
            </a:r>
          </a:p>
          <a:p>
            <a:pPr lvl="0"/>
            <a:r>
              <a:rPr/>
              <a:t>How do disorders of the mind reveal themselves in the nervous system?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Biologically essential behaviors</a:t>
            </a:r>
          </a:p>
          <a:p>
            <a:pPr lvl="0"/>
            <a:r>
              <a:rPr/>
              <a:t>Brain architecture (neuroanatomy)</a:t>
            </a:r>
          </a:p>
          <a:p>
            <a:pPr lvl="0"/>
            <a:r>
              <a:rPr/>
              <a:t>Brain function (neurophysiology)</a:t>
            </a:r>
          </a:p>
          <a:p>
            <a:pPr lvl="0"/>
            <a:r>
              <a:rPr/>
              <a:t>Brain communication (neurochemistry)</a:t>
            </a:r>
          </a:p>
          <a:p>
            <a:pPr lvl="0"/>
            <a:r>
              <a:rPr/>
              <a:t>Changes over evolutionary and developmental time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Approach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/>
              <a:t>The nervous system as an information processing system</a:t>
            </a:r>
          </a:p>
        </p:txBody>
      </p:sp>
      <p:pic>
        <p:nvPicPr>
          <p:cNvPr descr="../include/img/Information_processing_system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320800"/>
            <a:ext cx="5105400" cy="1638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Wikipedia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Mindful of limitations in brain/computer metaphors</a:t>
            </a:r>
          </a:p>
        </p:txBody>
      </p:sp>
      <p:pic>
        <p:nvPicPr>
          <p:cNvPr descr="https://cdn4.explainthatstuff.com/how-computer-work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413000" y="1193800"/>
            <a:ext cx="43180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https://www.explainthatstuff.com/howcomputerswork.html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Or inspired by richer metaphors</a:t>
            </a:r>
          </a:p>
        </p:txBody>
      </p:sp>
      <p:pic>
        <p:nvPicPr>
          <p:cNvPr descr="../include/img/1*QvKZpHrmz1nWyK4VfY2VTg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981200" y="1193800"/>
            <a:ext cx="51816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Becker (2021)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Inputs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From environment, body, brain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Current inputs + brain state + body state + possible future states…</a:t>
            </a:r>
          </a:p>
          <a:p>
            <a:pPr lvl="0"/>
            <a:r>
              <a:rPr/>
              <a:t>Stored information</a:t>
            </a:r>
          </a:p>
          <a:p>
            <a:pPr lvl="0"/>
            <a:r>
              <a:rPr/>
              <a:t>Physiological &amp; behavioral goals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s://media.springernature.com/full/springer-static/image/art%3A10.3758%2Fs13414-019-01760-1/MediaObjects/13414_2019_1760_Fig1_HTML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98500" y="1193800"/>
            <a:ext cx="77597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Cisek (2019) Figure 1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Outputs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To brain, body, environment</a:t>
            </a: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Mapping structures to functions…</a:t>
            </a:r>
          </a:p>
        </p:txBody>
      </p:sp>
      <p:pic>
        <p:nvPicPr>
          <p:cNvPr descr="https://media.springernature.com/full/springer-static/image/art%3A10.3758%2Fs13414-019-01760-1/MediaObjects/13414_2019_1760_Fig8_HTML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251200" y="1193800"/>
            <a:ext cx="26416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Cisek (2019) Figure 8</a:t>
            </a: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And </a:t>
            </a:r>
            <a:r>
              <a:rPr i="1"/>
              <a:t>vice versa</a:t>
            </a:r>
            <a:r>
              <a:rPr/>
              <a:t>?</a:t>
            </a:r>
          </a:p>
        </p:txBody>
      </p:sp>
      <p:pic>
        <p:nvPicPr>
          <p:cNvPr descr="../include/img/quanta-202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84200" y="1193800"/>
            <a:ext cx="79756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Cepelewicz (2021)</a:t>
            </a:r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/>
              <a:t>The brainwide representation of behavioral variables suggests that information encoded nearly anywhere in the forebrain is combined with behavioral state variables into a mixed representation…Our data indicate that it happens as early as primary sensory cortex.</a:t>
            </a:r>
          </a:p>
          <a:p>
            <a:pPr lvl="0" indent="0" marL="0">
              <a:buNone/>
            </a:pPr>
            <a:r>
              <a:rPr/>
              <a:t>– Stringer et al. (2019)</a:t>
            </a:r>
          </a:p>
        </p:txBody>
      </p:sp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And do we have the right “psychological” structures?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/>
              <a:t>Psychological sciences have identified a wealth of cognitive processes and behavioral phenomena, yet struggle to produce cumulative knowledge. Progress is hamstrung by siloed scientific traditions and a focus on explanation over prediction…</a:t>
            </a:r>
          </a:p>
          <a:p>
            <a:pPr lvl="0" indent="0" marL="0">
              <a:buNone/>
            </a:pPr>
            <a:r>
              <a:rPr/>
              <a:t>– Eisenberg et al. (2019)</a:t>
            </a:r>
          </a:p>
        </p:txBody>
      </p:sp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/>
              <a:t>…two issues that are particularly damaging for the study of </a:t>
            </a:r>
            <a:r>
              <a:rPr sz="2000" b="1"/>
              <a:t>multifaceted constructs like self-regulation</a:t>
            </a:r>
            <a:r>
              <a:rPr sz="2000"/>
              <a:t>…We conclude that self-regulation lacks coherence as a construct…</a:t>
            </a:r>
          </a:p>
          <a:p>
            <a:pPr lvl="0" indent="0" marL="0">
              <a:buNone/>
            </a:pPr>
            <a:r>
              <a:rPr/>
              <a:t>– Eisenberg et al. (2019)</a:t>
            </a:r>
          </a:p>
        </p:txBody>
      </p:sp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“Behavioural biologists don’t agree on what constitutes behaviour”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/>
              <a:t>Behavioural biology is a major discipline within biology, centred on the key concept of ‘behaviour’. But how is ‘behaviour’ defined, and how should it be defined? We outline what characteristics we believe a scientific definition should have, and why we think it is important…</a:t>
            </a:r>
          </a:p>
          <a:p>
            <a:pPr lvl="0" indent="0" marL="0">
              <a:buNone/>
            </a:pPr>
            <a:r>
              <a:rPr/>
              <a:t>– Levitis, Lidicker, &amp; Freund (2009)</a:t>
            </a:r>
          </a:p>
        </p:txBody>
      </p:sp>
    </p:spTree>
  </p:cSld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/>
              <a:t>…that a definition have these traits. We then examine the range of available published definitions for behaviour.</a:t>
            </a:r>
          </a:p>
          <a:p>
            <a:pPr lvl="0" indent="0" marL="0">
              <a:buNone/>
            </a:pPr>
            <a:r>
              <a:rPr/>
              <a:t>– Levitis et al. (2009)</a:t>
            </a:r>
          </a:p>
        </p:txBody>
      </p:sp>
    </p:spTree>
  </p:cSld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/>
              <a:t>Finding no consensus, we present survey responses from 174 members of three behaviour-focused scientific societies as to their understanding of the term. Here again, we find surprisingly widespread disagreement as to what qualifies as behaviour. Respondents contradict themselves…</a:t>
            </a:r>
          </a:p>
          <a:p>
            <a:pPr lvl="0" indent="0" marL="0">
              <a:buNone/>
            </a:pPr>
            <a:r>
              <a:rPr/>
              <a:t>– Levitis et al. (2009)</a:t>
            </a:r>
          </a:p>
        </p:txBody>
      </p:sp>
    </p:spTree>
  </p:cSld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/>
              <a:t>…each other, and published definitions, indicating that they are using individually variable intuitive, rather than codified, meanings of `behaviour.’</a:t>
            </a:r>
          </a:p>
          <a:p>
            <a:pPr lvl="0" indent="0" marL="0">
              <a:buNone/>
            </a:pPr>
            <a:r>
              <a:rPr/>
              <a:t>– Levitis et al. (2009)</a:t>
            </a:r>
          </a:p>
        </p:txBody>
      </p:sp>
    </p:spTree>
  </p:cSld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/>
              <a:t>We offer a new definition, based largely on survey responses: “Behaviour is the internally coordinated responses (actions or inactions) of whole living organisms (individuals or groups) to internal and/or external stimuli, excluding responses more easily understood as developmental changes.”</a:t>
            </a:r>
          </a:p>
          <a:p>
            <a:pPr lvl="0" indent="0" marL="0">
              <a:buNone/>
            </a:pPr>
            <a:r>
              <a:rPr/>
              <a:t>– Levitis et al. (2009)</a:t>
            </a:r>
          </a:p>
        </p:txBody>
      </p:sp>
    </p:spTree>
  </p:cSld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Sciences of complexity</a:t>
            </a:r>
          </a:p>
        </p:txBody>
      </p:sp>
      <p:pic>
        <p:nvPicPr>
          <p:cNvPr descr="../include/img/wcs1525-fig-0001-m.jp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803400" y="1193800"/>
            <a:ext cx="55499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Favela (2020) Figure 1</a:t>
            </a:r>
          </a:p>
        </p:txBody>
      </p:sp>
    </p:spTree>
  </p:cSld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Levels of analysis</a:t>
            </a:r>
          </a:p>
        </p:txBody>
      </p:sp>
      <p:pic>
        <p:nvPicPr>
          <p:cNvPr descr="https://media.springernature.com/lw685/springer-static/image/art%3A10.1038%2Fnn.3839/MediaObjects/41593_2014_Article_BFnn3839_Fig1_HTML.jp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425700" y="1193800"/>
            <a:ext cx="42926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Sejnowski et al. (2014) Figure 1</a:t>
            </a:r>
          </a:p>
        </p:txBody>
      </p:sp>
    </p:spTree>
  </p:cSld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David Marr (1945-1980)</a:t>
            </a:r>
          </a:p>
        </p:txBody>
      </p:sp>
      <p:pic>
        <p:nvPicPr>
          <p:cNvPr descr="../include/img/david-mar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384300" y="1193800"/>
            <a:ext cx="21844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4038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David Marr</a:t>
            </a:r>
          </a:p>
        </p:txBody>
      </p:sp>
      <p:pic>
        <p:nvPicPr>
          <p:cNvPr descr="https://mitp.silverchair-cdn.com/mitp/content_public/books/3299/book/2/m_9780262289610-cover.jpeg?Expires=1769881313&amp;Signature=qyyId5hIEiVXP1yVE8wHb5IImOGdDxFqEUNUC6OsEcdzLWyYPaumk9XEfk947b4V0h5kWvpHsARoXmLfr17j1DdJrulDTMZs261tRZv-PP78WpzKcYx5vGcvfQvm49IW2f~57KJQLByoXkNOxEPfILi07sUkLiQSgf5sPJEm4LFNolYby1tnwxrftDBiMEzf5AgcHh~H6VRIQwkxQH6UzHEJcQnZrDei4MTnjISJLVOM3DpQXcWP3M2YdLuEZPnx~IApHy8LNlV147Xz01xpl2zxiHUOmI8F5KEdOiuy2sp25kH~cbJfR4PyFVaN6fp2zE5sScQv1WxtLr6Q2B~6Yw__&amp;Key-Pair-Id=APKAIE5G5CRDK6RD3PGA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5549900" y="1193800"/>
            <a:ext cx="22479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648200" y="4076700"/>
            <a:ext cx="4038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Marr (1980)</a:t>
            </a:r>
          </a:p>
        </p:txBody>
      </p:sp>
    </p:spTree>
  </p:cSld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Marr’s Three Levels</a:t>
            </a:r>
          </a:p>
        </p:txBody>
      </p:sp>
      <p:pic>
        <p:nvPicPr>
          <p:cNvPr descr="../include/img/wcs1525-fig-0003-m.jp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670300" y="1193800"/>
            <a:ext cx="18161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Favela (2020) Figure 3</a:t>
            </a:r>
          </a:p>
        </p:txBody>
      </p:sp>
    </p:spTree>
  </p:cSld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What must be computed to carry out task X?</a:t>
            </a:r>
          </a:p>
          <a:p>
            <a:pPr lvl="0"/>
            <a:r>
              <a:rPr/>
              <a:t>What algorithm is used to carry out the computation?</a:t>
            </a:r>
          </a:p>
          <a:p>
            <a:pPr lvl="0"/>
            <a:r>
              <a:rPr/>
              <a:t>What hardware implements the algorithm?</a:t>
            </a:r>
          </a:p>
        </p:txBody>
      </p:sp>
    </p:spTree>
  </p:cSld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Computational level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What has to be computed?</a:t>
            </a:r>
          </a:p>
          <a:p>
            <a:pPr lvl="1"/>
            <a:r>
              <a:rPr/>
              <a:t>What is the shape/form of that unknown object?</a:t>
            </a:r>
          </a:p>
          <a:p>
            <a:pPr lvl="1"/>
            <a:r>
              <a:rPr/>
              <a:t>What did that person just say?</a:t>
            </a:r>
          </a:p>
          <a:p>
            <a:pPr lvl="1"/>
            <a:r>
              <a:rPr/>
              <a:t>Is that unknown object a threat to me?</a:t>
            </a:r>
          </a:p>
        </p:txBody>
      </p:sp>
    </p:spTree>
  </p:cSld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Algorithmic level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What’s the ‘recipe’ for…</a:t>
            </a:r>
          </a:p>
          <a:p>
            <a:pPr lvl="1"/>
            <a:r>
              <a:rPr/>
              <a:t>computing shape</a:t>
            </a:r>
          </a:p>
          <a:p>
            <a:pPr lvl="1"/>
            <a:r>
              <a:rPr/>
              <a:t>perceiving speech</a:t>
            </a:r>
          </a:p>
          <a:p>
            <a:pPr lvl="1"/>
            <a:r>
              <a:rPr/>
              <a:t>recognizing threats</a:t>
            </a:r>
          </a:p>
        </p:txBody>
      </p:sp>
    </p:spTree>
  </p:cSld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Implementation level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How do…</a:t>
            </a:r>
          </a:p>
          <a:p>
            <a:pPr lvl="1"/>
            <a:r>
              <a:rPr/>
              <a:t>neurons</a:t>
            </a:r>
          </a:p>
          <a:p>
            <a:pPr lvl="1"/>
            <a:r>
              <a:rPr/>
              <a:t>areas</a:t>
            </a:r>
          </a:p>
          <a:p>
            <a:pPr lvl="1"/>
            <a:r>
              <a:rPr/>
              <a:t>networks</a:t>
            </a:r>
          </a:p>
          <a:p>
            <a:pPr lvl="0"/>
            <a:r>
              <a:rPr/>
              <a:t>implement the recipe?</a:t>
            </a:r>
          </a:p>
        </p:txBody>
      </p:sp>
    </p:spTree>
  </p:cSld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Causality in neuroscience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Siddiqi, Kording, Parvizi, &amp; Fox (2022)</a:t>
            </a:r>
          </a:p>
          <a:p>
            <a:pPr lvl="0"/>
            <a:r>
              <a:rPr/>
              <a:t>Stimulation &amp; lesion studies needed for inferring </a:t>
            </a:r>
            <a:r>
              <a:rPr i="1"/>
              <a:t>causation</a:t>
            </a:r>
            <a:r>
              <a:rPr/>
              <a:t>.</a:t>
            </a:r>
          </a:p>
          <a:p>
            <a:pPr lvl="0"/>
            <a:r>
              <a:rPr/>
              <a:t>Bradford-Hill criteria (Hill, 2015)</a:t>
            </a:r>
          </a:p>
        </p:txBody>
      </p:sp>
    </p:spTree>
  </p:cSld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Varied notions of mechanism</a:t>
            </a:r>
          </a:p>
        </p:txBody>
      </p:sp>
      <p:pic>
        <p:nvPicPr>
          <p:cNvPr descr="../include/img/41583_2023_778_Fig1_HTML.png.webp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96900" y="1193800"/>
            <a:ext cx="79629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Fig. 1: The narrow and broad notions of mechanism from Ross &amp; Bassett (2024)</a:t>
            </a:r>
          </a:p>
        </p:txBody>
      </p:sp>
    </p:spTree>
  </p:cSld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Toward reverse neuroethology</a:t>
            </a:r>
          </a:p>
        </p:txBody>
      </p:sp>
      <p:pic>
        <p:nvPicPr>
          <p:cNvPr descr="https://www.annualreviews.org/docserver/fulltext/neuro/47/1/ne470369.f1.gif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781300" y="1193800"/>
            <a:ext cx="35814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Figure 1 from Asinof &amp; Card (2024)</a:t>
            </a:r>
          </a:p>
        </p:txBody>
      </p:sp>
    </p:spTree>
  </p:cSld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s://i.giphy.com/media/v1.Y2lkPTc5MGI3NjExcXh1NzNxdmlidTlxandjeGNtOHgzNWtodmNoN2Rja3duZWNiYm92ayZlcD12MV9pbnRlcm5hbF9naWZfYnlfaWQmY3Q9dg/DF34cUyak7TPs7D4GE/giphy.gif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117600" y="1193800"/>
            <a:ext cx="69215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https://giphy.com/clips/thefastsaga-fast-and-furious-saga-fate-of-the-DF34cUyak7TPs7D4GE</a:t>
            </a:r>
          </a:p>
        </p:txBody>
      </p:sp>
    </p:spTree>
  </p:cSld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/>
              <a:t>…when faced with a difficult question, we often answer an easier one instead, usually without noticing the substitution.</a:t>
            </a:r>
          </a:p>
          <a:p>
            <a:pPr lvl="0" indent="0" marL="0">
              <a:buNone/>
            </a:pPr>
            <a:r>
              <a:rPr/>
              <a:t>– Kahneman (2013), p. 12 quoted in Krakauer, Ghazanfar, Gomez-Marin, MacIver, &amp; Poeppel (2017)</a:t>
            </a:r>
          </a:p>
        </p:txBody>
      </p:sp>
    </p:spTree>
  </p:cSld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There and back again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The perception action-cycle</a:t>
            </a:r>
          </a:p>
        </p:txBody>
      </p:sp>
      <p:pic>
        <p:nvPicPr>
          <p:cNvPr descr="https://www.cell.com/cms/10.1016/j.tics.2004.02.004/asset/c8c5d775-b01e-4ef4-8418-3087cf12b6aa/main.assets/gr2.gif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648200" y="1295400"/>
            <a:ext cx="4038600" cy="2692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648200" y="4076700"/>
            <a:ext cx="4038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Fuster (2004) Figure 2</a:t>
            </a:r>
          </a:p>
        </p:txBody>
      </p:sp>
    </p:spTree>
  </p:cSld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Break</a:t>
            </a:r>
          </a:p>
        </p:txBody>
      </p:sp>
    </p:spTree>
  </p:cSld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Your turn</a:t>
            </a:r>
          </a:p>
        </p:txBody>
      </p:sp>
    </p:spTree>
  </p:cSld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Does neuroscience need behavior?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Krakauer, J. W., Ghazanfar, A. A., Gomez-Marin, A., MacIver, M. A., &amp; Poeppel, D. (2017). Neuroscience needs behavior: Correcting a reductionist bias. </a:t>
            </a:r>
            <a:r>
              <a:rPr i="1"/>
              <a:t>Neuron</a:t>
            </a:r>
            <a:r>
              <a:rPr/>
              <a:t>, </a:t>
            </a:r>
            <a:r>
              <a:rPr i="1"/>
              <a:t>93</a:t>
            </a:r>
            <a:r>
              <a:rPr/>
              <a:t>(3), 480–490. </a:t>
            </a:r>
            <a:r>
              <a:rPr>
                <a:hlinkClick r:id="rId2"/>
              </a:rPr>
              <a:t>https://dx.doi.org/10.1016/j.neuron.2016.12.041</a:t>
            </a:r>
            <a:r>
              <a:rPr/>
              <a:t>.</a:t>
            </a:r>
          </a:p>
          <a:p>
            <a:pPr lvl="0" indent="0" marL="0">
              <a:buNone/>
            </a:pPr>
            <a:r>
              <a:rPr/>
              <a:t>Parada, F. J. &amp; Rossi, A. (2018). If neuroscience needs behavior, what does psychology need? </a:t>
            </a:r>
            <a:r>
              <a:rPr i="1"/>
              <a:t>Frontiers in Psychology</a:t>
            </a:r>
            <a:r>
              <a:rPr/>
              <a:t>, </a:t>
            </a:r>
            <a:r>
              <a:rPr i="1"/>
              <a:t>9</a:t>
            </a:r>
            <a:r>
              <a:rPr/>
              <a:t>, 433. </a:t>
            </a:r>
            <a:r>
              <a:rPr>
                <a:hlinkClick r:id="rId3"/>
              </a:rPr>
              <a:t>https://doi.org/10.3389/fpsyg.2018.00433</a:t>
            </a:r>
            <a:r>
              <a:rPr/>
              <a:t>.</a:t>
            </a:r>
          </a:p>
          <a:p>
            <a:pPr lvl="0" indent="0" marL="0">
              <a:buNone/>
            </a:pPr>
            <a:r>
              <a:rPr/>
              <a:t>Newcombe, N. (2017). If neuroscience needs behavior, what does behavioral science need? APS Observer, 31(1). </a:t>
            </a:r>
            <a:r>
              <a:rPr>
                <a:hlinkClick r:id="rId4"/>
              </a:rPr>
              <a:t>https://www.psychologicalscience.org/observer/if-neuroscience-needs-behavior-what-does-behavioral-science-need</a:t>
            </a:r>
          </a:p>
        </p:txBody>
      </p:sp>
    </p:spTree>
  </p:cSld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Key 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Questions ‘often tacit…belief in the reductionist program for understanding the link between brain and behavior’</a:t>
            </a:r>
          </a:p>
          <a:p>
            <a:pPr lvl="0"/>
            <a:r>
              <a:rPr/>
              <a:t>Behavior -&gt; understanding; neural interventions -&gt; causality</a:t>
            </a:r>
          </a:p>
          <a:p>
            <a:pPr lvl="0"/>
            <a:r>
              <a:rPr/>
              <a:t>Marr’s 3 levels (computation; algorithm; implementation)</a:t>
            </a:r>
          </a:p>
        </p:txBody>
      </p:sp>
    </p:spTree>
  </p:cSld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But what is behavior?</a:t>
            </a:r>
          </a:p>
        </p:txBody>
      </p:sp>
    </p:spTree>
  </p:cSld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“Behavioural biologists don’t agree on what constitutes behaviour”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/>
              <a:t>…“Behaviour is the internally coordinated responses (actions or inactions) of whole living organisms (individuals or groups) to internal and/or external stimuli, excluding responses more easily understood as developmental changes.”</a:t>
            </a:r>
          </a:p>
          <a:p>
            <a:pPr lvl="0" indent="0" marL="0">
              <a:buNone/>
            </a:pPr>
            <a:r>
              <a:rPr/>
              <a:t>– Levitis et al. (2009)]</a:t>
            </a:r>
          </a:p>
        </p:txBody>
      </p:sp>
    </p:spTree>
  </p:cSld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s://ars.els-cdn.com/content/image/1-s2.0-S0896627316310406-gr1.jp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628900" y="1193800"/>
            <a:ext cx="38862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Krakauer et al. (2017) Figure 1</a:t>
            </a:r>
          </a:p>
        </p:txBody>
      </p:sp>
    </p:spTree>
  </p:cSld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s://ars.els-cdn.com/content/image/1-s2.0-S0896627316310406-gr2.jp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612900" y="1193800"/>
            <a:ext cx="59182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Krakauer et al. (2017) Figure 2</a:t>
            </a:r>
          </a:p>
        </p:txBody>
      </p:sp>
    </p:spTree>
  </p:cSld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s://ars.els-cdn.com/content/image/1-s2.0-S0896627316310406-gr3.jp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070100" y="1193800"/>
            <a:ext cx="50038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Krakauer et al. (2017) Figure 3</a:t>
            </a:r>
          </a:p>
        </p:txBody>
      </p:sp>
    </p:spTree>
  </p:cSld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s://ars.els-cdn.com/content/image/1-s2.0-S0896627316310406-gr4.jp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282700" y="1193800"/>
            <a:ext cx="65659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Krakauer et al. (2017) Figure 4</a:t>
            </a:r>
          </a:p>
        </p:txBody>
      </p:sp>
    </p:spTree>
  </p:cSld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s://www.frontiersin.org/files/Articles/362280/fpsyg-09-00433-HTML/image_m/fpsyg-09-00433-g001.jp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574800" y="1193800"/>
            <a:ext cx="60071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Parada &amp; Rossi (2018) Figure 1</a:t>
            </a:r>
          </a:p>
        </p:txBody>
      </p:sp>
    </p:spTree>
  </p:cSld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Exercise LVL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>
                <a:hlinkClick r:id="rId2"/>
              </a:rPr>
              <a:t>Due next Thursday</a:t>
            </a:r>
          </a:p>
        </p:txBody>
      </p:sp>
    </p:spTree>
  </p:cSld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Main 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Psychology is harder than physics</a:t>
            </a:r>
          </a:p>
          <a:p>
            <a:pPr lvl="0"/>
            <a:r>
              <a:rPr/>
              <a:t>Neuroscience needs behavior</a:t>
            </a:r>
          </a:p>
          <a:p>
            <a:pPr lvl="0"/>
            <a:r>
              <a:rPr/>
              <a:t>Psychology needs behavior + mental states + measures of environment</a:t>
            </a:r>
          </a:p>
        </p:txBody>
      </p:sp>
    </p:spTree>
  </p:cSld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Next time…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Neuroanatomy lab</a:t>
            </a:r>
          </a:p>
          <a:p>
            <a:pPr lvl="1"/>
            <a:r>
              <a:rPr/>
              <a:t>Read/study</a:t>
            </a:r>
          </a:p>
          <a:p>
            <a:pPr lvl="2"/>
            <a:r>
              <a:rPr/>
              <a:t>Neuroanatomy </a:t>
            </a:r>
            <a:r>
              <a:rPr>
                <a:hlinkClick r:id="rId2"/>
              </a:rPr>
              <a:t>notes</a:t>
            </a:r>
          </a:p>
          <a:p>
            <a:pPr lvl="2"/>
            <a:r>
              <a:rPr/>
              <a:t>Bring to class a copy of </a:t>
            </a:r>
            <a:r>
              <a:rPr>
                <a:hlinkClick r:id="rId3"/>
              </a:rPr>
              <a:t>Exercise ANAT</a:t>
            </a:r>
          </a:p>
        </p:txBody>
      </p:sp>
    </p:spTree>
  </p:cSld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Resources</a:t>
            </a:r>
          </a:p>
        </p:txBody>
      </p:sp>
    </p:spTree>
  </p:cSld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Asinof, S. K., &amp; Card, G. M. (2024). Neural control of naturalistic behavior choices. </a:t>
            </a:r>
            <a:r>
              <a:rPr i="1"/>
              <a:t>Annual Review of Neuroscience</a:t>
            </a:r>
            <a:r>
              <a:rPr/>
              <a:t>, </a:t>
            </a:r>
            <a:r>
              <a:rPr i="1"/>
              <a:t>47</a:t>
            </a:r>
            <a:r>
              <a:rPr/>
              <a:t>, 369–388. </a:t>
            </a:r>
            <a:r>
              <a:rPr>
                <a:hlinkClick r:id="rId2"/>
              </a:rPr>
              <a:t>https://doi.org/10.1146/annurev-neuro-111020-094019</a:t>
            </a:r>
          </a:p>
          <a:p>
            <a:pPr lvl="0" indent="0" marL="0">
              <a:buNone/>
            </a:pPr>
            <a:r>
              <a:rPr/>
              <a:t>Becker, C. R. (2021, August 31). A comprehensive list of human-computer interactions. Retrieved January 8, 2025, from </a:t>
            </a:r>
            <a:r>
              <a:rPr>
                <a:hlinkClick r:id="rId3"/>
              </a:rPr>
              <a:t>https://uxdesign.cc/a-comprehensive-list-of-human-computer-interactions-d72eaca2c0df</a:t>
            </a:r>
          </a:p>
          <a:p>
            <a:pPr lvl="0" indent="0" marL="0">
              <a:buNone/>
            </a:pPr>
            <a:r>
              <a:rPr/>
              <a:t>Calabrese, R. L. (2018). Inconvenient truth to principle of neuroscience. </a:t>
            </a:r>
            <a:r>
              <a:rPr i="1"/>
              <a:t>Trends in Neurosciences</a:t>
            </a:r>
            <a:r>
              <a:rPr/>
              <a:t>, </a:t>
            </a:r>
            <a:r>
              <a:rPr i="1"/>
              <a:t>41</a:t>
            </a:r>
            <a:r>
              <a:rPr/>
              <a:t>(8), 488–491. </a:t>
            </a:r>
            <a:r>
              <a:rPr>
                <a:hlinkClick r:id="rId4"/>
              </a:rPr>
              <a:t>https://doi.org/10.1016/j.tins.2018.05.006</a:t>
            </a:r>
          </a:p>
          <a:p>
            <a:pPr lvl="0" indent="0" marL="0">
              <a:buNone/>
            </a:pPr>
            <a:r>
              <a:rPr/>
              <a:t>Cepelewicz, J. (2021, August). Mental phenomena don’t map into the brain as expected. </a:t>
            </a:r>
            <a:r>
              <a:rPr>
                <a:hlinkClick r:id="rId5"/>
              </a:rPr>
              <a:t>https://www.quantamagazine.org/mental-phenomena-dont-map-into-the-brain-as-expected-20210824/</a:t>
            </a:r>
            <a:r>
              <a:rPr/>
              <a:t>. Retrieved from </a:t>
            </a:r>
            <a:r>
              <a:rPr>
                <a:hlinkClick r:id="rId6"/>
              </a:rPr>
              <a:t>https://www.quantamagazine.org/mental-phenomena-dont-map-into-the-brain-as-expected-20210824/</a:t>
            </a:r>
          </a:p>
          <a:p>
            <a:pPr lvl="0" indent="0" marL="0">
              <a:buNone/>
            </a:pPr>
            <a:r>
              <a:rPr/>
              <a:t>Cisek, P. (2019). Resynthesizing behavior through phylogenetic refinement. </a:t>
            </a:r>
            <a:r>
              <a:rPr i="1"/>
              <a:t>Attention, Perception &amp; Psychophysics</a:t>
            </a:r>
            <a:r>
              <a:rPr/>
              <a:t>. </a:t>
            </a:r>
            <a:r>
              <a:rPr>
                <a:hlinkClick r:id="rId7"/>
              </a:rPr>
              <a:t>https://doi.org/10.3758/s13414-019-01760-1</a:t>
            </a:r>
          </a:p>
          <a:p>
            <a:pPr lvl="0" indent="0" marL="0">
              <a:buNone/>
            </a:pPr>
            <a:r>
              <a:rPr/>
              <a:t>Eisenberg, I. W., Bissett, P. G., Zeynep Enkavi, A., Li, J., MacKinnon, D. P., Marsch, L. A., &amp; Poldrack, R. A. (2019). Uncovering the structure of self-regulation through data-driven ontology discovery. </a:t>
            </a:r>
            <a:r>
              <a:rPr i="1"/>
              <a:t>Nature Communications</a:t>
            </a:r>
            <a:r>
              <a:rPr/>
              <a:t>, </a:t>
            </a:r>
            <a:r>
              <a:rPr i="1"/>
              <a:t>10</a:t>
            </a:r>
            <a:r>
              <a:rPr/>
              <a:t>(1), 2319. </a:t>
            </a:r>
            <a:r>
              <a:rPr>
                <a:hlinkClick r:id="rId8"/>
              </a:rPr>
              <a:t>https://doi.org/10.1038/s41467-019-10301-1</a:t>
            </a:r>
          </a:p>
          <a:p>
            <a:pPr lvl="0" indent="0" marL="0">
              <a:buNone/>
            </a:pPr>
            <a:r>
              <a:rPr/>
              <a:t>Favela, L. H. (2020). Cognitive science as complexity science. </a:t>
            </a:r>
            <a:r>
              <a:rPr i="1"/>
              <a:t>Wiley Interdisciplinary Reviews. Cognitive Science</a:t>
            </a:r>
            <a:r>
              <a:rPr/>
              <a:t>, </a:t>
            </a:r>
            <a:r>
              <a:rPr i="1"/>
              <a:t>11</a:t>
            </a:r>
            <a:r>
              <a:rPr/>
              <a:t>(4), e1525. </a:t>
            </a:r>
            <a:r>
              <a:rPr>
                <a:hlinkClick r:id="rId9"/>
              </a:rPr>
              <a:t>https://doi.org/10.1002/wcs.1525</a:t>
            </a:r>
          </a:p>
          <a:p>
            <a:pPr lvl="0" indent="0" marL="0">
              <a:buNone/>
            </a:pPr>
            <a:r>
              <a:rPr/>
              <a:t>Fuster, J. M. (2004). Upper processing stages of the perception-action cycle. </a:t>
            </a:r>
            <a:r>
              <a:rPr i="1"/>
              <a:t>Trends in Cognitive Sciences</a:t>
            </a:r>
            <a:r>
              <a:rPr/>
              <a:t>, </a:t>
            </a:r>
            <a:r>
              <a:rPr i="1"/>
              <a:t>8</a:t>
            </a:r>
            <a:r>
              <a:rPr/>
              <a:t>, 143–145. </a:t>
            </a:r>
            <a:r>
              <a:rPr>
                <a:hlinkClick r:id="rId10"/>
              </a:rPr>
              <a:t>https://doi.org/10.1016/j.tics.2004.02.004</a:t>
            </a:r>
          </a:p>
          <a:p>
            <a:pPr lvl="0" indent="0" marL="0">
              <a:buNone/>
            </a:pPr>
            <a:r>
              <a:rPr/>
              <a:t>Hill, A. B. (2015). The environment and disease: Association or causation? 1965. </a:t>
            </a:r>
            <a:r>
              <a:rPr i="1"/>
              <a:t>Journal of the Royal Society of Medicine</a:t>
            </a:r>
            <a:r>
              <a:rPr/>
              <a:t>, </a:t>
            </a:r>
            <a:r>
              <a:rPr i="1"/>
              <a:t>108</a:t>
            </a:r>
            <a:r>
              <a:rPr/>
              <a:t>(1), 32–37. </a:t>
            </a:r>
            <a:r>
              <a:rPr>
                <a:hlinkClick r:id="rId11"/>
              </a:rPr>
              <a:t>https://doi.org/10.1177/0141076814562718</a:t>
            </a:r>
          </a:p>
          <a:p>
            <a:pPr lvl="0" indent="0" marL="0">
              <a:buNone/>
            </a:pPr>
            <a:r>
              <a:rPr/>
              <a:t>Kahneman, D. (2013). </a:t>
            </a:r>
            <a:r>
              <a:rPr i="1"/>
              <a:t>Thinking, fast and slow</a:t>
            </a:r>
            <a:r>
              <a:rPr/>
              <a:t> (1st edition). Farrar, Straus; Giroux. Retrieved from </a:t>
            </a:r>
            <a:r>
              <a:rPr>
                <a:hlinkClick r:id="rId12"/>
              </a:rPr>
              <a:t>https://www.amazon.com/Thinking-Fast-Slow-Daniel-Kahneman/dp/0374533555</a:t>
            </a:r>
          </a:p>
          <a:p>
            <a:pPr lvl="0" indent="0" marL="0">
              <a:buNone/>
            </a:pPr>
            <a:r>
              <a:rPr/>
              <a:t>Krakauer, J. W., Ghazanfar, A. A., Gomez-Marin, A., MacIver, M. A., &amp; Poeppel, D. (2017). Neuroscience needs behavior: Correcting a reductionist bias. </a:t>
            </a:r>
            <a:r>
              <a:rPr i="1"/>
              <a:t>Neuron</a:t>
            </a:r>
            <a:r>
              <a:rPr/>
              <a:t>, </a:t>
            </a:r>
            <a:r>
              <a:rPr i="1"/>
              <a:t>93</a:t>
            </a:r>
            <a:r>
              <a:rPr/>
              <a:t>(3), 480–490. </a:t>
            </a:r>
            <a:r>
              <a:rPr>
                <a:hlinkClick r:id="rId13"/>
              </a:rPr>
              <a:t>https://doi.org/10.1016/j.neuron.2016.12.041</a:t>
            </a:r>
          </a:p>
          <a:p>
            <a:pPr lvl="0" indent="0" marL="0">
              <a:buNone/>
            </a:pPr>
            <a:r>
              <a:rPr/>
              <a:t>Levitis, D. A., Lidicker, W. Z., &amp; Freund, G. (2009). Behavioural biologists don’t agree on what constitutes behaviour. </a:t>
            </a:r>
            <a:r>
              <a:rPr i="1"/>
              <a:t>Animal Behaviour</a:t>
            </a:r>
            <a:r>
              <a:rPr/>
              <a:t>, </a:t>
            </a:r>
            <a:r>
              <a:rPr i="1"/>
              <a:t>78</a:t>
            </a:r>
            <a:r>
              <a:rPr/>
              <a:t>(1), 103–110. </a:t>
            </a:r>
            <a:r>
              <a:rPr>
                <a:hlinkClick r:id="rId14"/>
              </a:rPr>
              <a:t>https://doi.org/10.1016/j.anbehav.2009.03.018</a:t>
            </a:r>
          </a:p>
          <a:p>
            <a:pPr lvl="0" indent="0" marL="0">
              <a:buNone/>
            </a:pPr>
            <a:r>
              <a:rPr/>
              <a:t>Marr, D. (1980). </a:t>
            </a:r>
            <a:r>
              <a:rPr i="1"/>
              <a:t>Vision</a:t>
            </a:r>
            <a:r>
              <a:rPr/>
              <a:t>. Retrieved from </a:t>
            </a:r>
            <a:r>
              <a:rPr>
                <a:hlinkClick r:id="rId15"/>
              </a:rPr>
              <a:t>https://mitpress.mit.edu/books/vision</a:t>
            </a:r>
          </a:p>
          <a:p>
            <a:pPr lvl="0" indent="0" marL="0">
              <a:buNone/>
            </a:pPr>
            <a:r>
              <a:rPr/>
              <a:t>melodysheep. (2011, March). Ode to the brain! By symphony of science. Youtube. Retrieved from </a:t>
            </a:r>
            <a:r>
              <a:rPr>
                <a:hlinkClick r:id="rId16"/>
              </a:rPr>
              <a:t>https://www.youtube.com/watch?v=JB7jSFeVz1U</a:t>
            </a:r>
          </a:p>
          <a:p>
            <a:pPr lvl="0" indent="0" marL="0">
              <a:buNone/>
            </a:pPr>
            <a:r>
              <a:rPr/>
              <a:t>National Geographic. (2014, January). Beautiful 3-D brain scans show every synapse | national geographic. YouTube. Retrieved from </a:t>
            </a:r>
            <a:r>
              <a:rPr>
                <a:hlinkClick r:id="rId17"/>
              </a:rPr>
              <a:t>https://www.youtube.com/watch?v=nvXuq9jRWKE</a:t>
            </a:r>
          </a:p>
          <a:p>
            <a:pPr lvl="0" indent="0" marL="0">
              <a:buNone/>
            </a:pPr>
            <a:r>
              <a:rPr/>
              <a:t>Parada, F. J., &amp; Rossi, A. (2018). If neuroscience needs behavior, what does psychology need? </a:t>
            </a:r>
            <a:r>
              <a:rPr i="1"/>
              <a:t>Frontiers in Psychology</a:t>
            </a:r>
            <a:r>
              <a:rPr/>
              <a:t>, </a:t>
            </a:r>
            <a:r>
              <a:rPr i="1"/>
              <a:t>9</a:t>
            </a:r>
            <a:r>
              <a:rPr/>
              <a:t>, 433. </a:t>
            </a:r>
            <a:r>
              <a:rPr>
                <a:hlinkClick r:id="rId18"/>
              </a:rPr>
              <a:t>https://doi.org/10.3389/fpsyg.2018.00433</a:t>
            </a:r>
          </a:p>
          <a:p>
            <a:pPr lvl="0" indent="0" marL="0">
              <a:buNone/>
            </a:pPr>
            <a:r>
              <a:rPr/>
              <a:t>Ross, L. N., &amp; Bassett, D. S. (2024). Causation in neuroscience: Keeping mechanism meaningful. </a:t>
            </a:r>
            <a:r>
              <a:rPr i="1"/>
              <a:t>Nature Reviews. Neuroscience</a:t>
            </a:r>
            <a:r>
              <a:rPr/>
              <a:t>. </a:t>
            </a:r>
            <a:r>
              <a:rPr>
                <a:hlinkClick r:id="rId19"/>
              </a:rPr>
              <a:t>https://doi.org/10.1038/s41583-023-00778-7</a:t>
            </a:r>
          </a:p>
          <a:p>
            <a:pPr lvl="0" indent="0" marL="0">
              <a:buNone/>
            </a:pPr>
            <a:r>
              <a:rPr/>
              <a:t>Sejnowski, T. J., Churchland, P. S., &amp; Movshon, J. A. (2014). Putting big data to good use in neuroscience. </a:t>
            </a:r>
            <a:r>
              <a:rPr i="1"/>
              <a:t>Nat. Neurosci.</a:t>
            </a:r>
            <a:r>
              <a:rPr/>
              <a:t>, </a:t>
            </a:r>
            <a:r>
              <a:rPr i="1"/>
              <a:t>17</a:t>
            </a:r>
            <a:r>
              <a:rPr/>
              <a:t>(11), 1440–1441. </a:t>
            </a:r>
            <a:r>
              <a:rPr>
                <a:hlinkClick r:id="rId20"/>
              </a:rPr>
              <a:t>https://doi.org/10.1038/nn.3839</a:t>
            </a:r>
          </a:p>
          <a:p>
            <a:pPr lvl="0" indent="0" marL="0">
              <a:buNone/>
            </a:pPr>
            <a:r>
              <a:rPr/>
              <a:t>Siddiqi, S. H., Kording, K. P., Parvizi, J., &amp; Fox, M. D. (2022). Causal mapping of human brain function. </a:t>
            </a:r>
            <a:r>
              <a:rPr i="1"/>
              <a:t>Nature Reviews Neuroscience</a:t>
            </a:r>
            <a:r>
              <a:rPr/>
              <a:t>, </a:t>
            </a:r>
            <a:r>
              <a:rPr i="1"/>
              <a:t>23</a:t>
            </a:r>
            <a:r>
              <a:rPr/>
              <a:t>(6), 361–375. </a:t>
            </a:r>
            <a:r>
              <a:rPr>
                <a:hlinkClick r:id="rId21"/>
              </a:rPr>
              <a:t>https://doi.org/10.1038/s41583-022-00583-8</a:t>
            </a:r>
          </a:p>
          <a:p>
            <a:pPr lvl="0" indent="0" marL="0">
              <a:buNone/>
            </a:pPr>
            <a:r>
              <a:rPr/>
              <a:t>Stringer, C., Pachitariu, M., Steinmetz, N., Reddy, C. B., Carandini, M., &amp; Harris, K. D. (2019). Spontaneous behaviors drive multidimensional, brainwide activity. </a:t>
            </a:r>
            <a:r>
              <a:rPr i="1"/>
              <a:t>Science</a:t>
            </a:r>
            <a:r>
              <a:rPr/>
              <a:t>, </a:t>
            </a:r>
            <a:r>
              <a:rPr i="1"/>
              <a:t>364</a:t>
            </a:r>
            <a:r>
              <a:rPr/>
              <a:t>(6437), 255. </a:t>
            </a:r>
            <a:r>
              <a:rPr>
                <a:hlinkClick r:id="rId22"/>
              </a:rPr>
              <a:t>https://doi.org/10.1126/science.aav7893</a:t>
            </a:r>
          </a:p>
          <a:p>
            <a:pPr lvl="0" indent="0" marL="0">
              <a:buNone/>
            </a:pPr>
            <a:r>
              <a:rPr/>
              <a:t>Swanson, L. W. (2005). Anatomy of the soul as reflected in the cerebral hemispheres: Neural circuits underlying voluntary control of basic motivated behaviors. </a:t>
            </a:r>
            <a:r>
              <a:rPr i="1"/>
              <a:t>Journal of Comparative Neurology</a:t>
            </a:r>
            <a:r>
              <a:rPr/>
              <a:t>, </a:t>
            </a:r>
            <a:r>
              <a:rPr i="1"/>
              <a:t>493</a:t>
            </a:r>
            <a:r>
              <a:rPr/>
              <a:t>(1), 122–131. </a:t>
            </a:r>
            <a:r>
              <a:rPr>
                <a:hlinkClick r:id="rId23"/>
              </a:rPr>
              <a:t>https://doi.org/10.1002/cne.20733</a:t>
            </a:r>
          </a:p>
          <a:p>
            <a:pPr lvl="0" indent="0" marL="0">
              <a:buNone/>
            </a:pPr>
            <a:r>
              <a:rPr/>
              <a:t>Terman, D., &amp; Izhikevich, E. (2008). State space. </a:t>
            </a:r>
            <a:r>
              <a:rPr i="1"/>
              <a:t>Scholarpedia Journal</a:t>
            </a:r>
            <a:r>
              <a:rPr/>
              <a:t>, </a:t>
            </a:r>
            <a:r>
              <a:rPr i="1"/>
              <a:t>3</a:t>
            </a:r>
            <a:r>
              <a:rPr/>
              <a:t>, 1924. </a:t>
            </a:r>
            <a:r>
              <a:rPr>
                <a:hlinkClick r:id="rId24"/>
              </a:rPr>
              <a:t>https://doi.org/10.4249/scholarpedia.1924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Foundations of Social, Cognitive, and Affective Neuroscience</dc:title>
  <dc:creator/>
  <cp:keywords/>
  <dcterms:created xsi:type="dcterms:W3CDTF">2026-01-13T17:11:33Z</dcterms:created>
  <dcterms:modified xsi:type="dcterms:W3CDTF">2026-01-13T17:11:33Z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-config">
    <vt:lpwstr>True</vt:lpwstr>
  </property>
  <property fmtid="{D5CDD505-2E9C-101B-9397-08002B2CF9AE}" pid="3" name="bibliography">
    <vt:lpwstr/>
  </property>
  <property fmtid="{D5CDD505-2E9C-101B-9397-08002B2CF9AE}" pid="4" name="bibliographystyle">
    <vt:lpwstr>apa</vt:lpwstr>
  </property>
  <property fmtid="{D5CDD505-2E9C-101B-9397-08002B2CF9AE}" pid="5" name="csl">
    <vt:lpwstr>../include/bib/apa.csl</vt:lpwstr>
  </property>
  <property fmtid="{D5CDD505-2E9C-101B-9397-08002B2CF9AE}" pid="6" name="editor">
    <vt:lpwstr>source</vt:lpwstr>
  </property>
  <property fmtid="{D5CDD505-2E9C-101B-9397-08002B2CF9AE}" pid="7" name="header-includes">
    <vt:lpwstr/>
  </property>
  <property fmtid="{D5CDD505-2E9C-101B-9397-08002B2CF9AE}" pid="8" name="include-after">
    <vt:lpwstr/>
  </property>
  <property fmtid="{D5CDD505-2E9C-101B-9397-08002B2CF9AE}" pid="9" name="include-before">
    <vt:lpwstr/>
  </property>
  <property fmtid="{D5CDD505-2E9C-101B-9397-08002B2CF9AE}" pid="10" name="knitr">
    <vt:lpwstr/>
  </property>
  <property fmtid="{D5CDD505-2E9C-101B-9397-08002B2CF9AE}" pid="11" name="labels">
    <vt:lpwstr/>
  </property>
  <property fmtid="{D5CDD505-2E9C-101B-9397-08002B2CF9AE}" pid="12" name="lightbox">
    <vt:lpwstr>True</vt:lpwstr>
  </property>
  <property fmtid="{D5CDD505-2E9C-101B-9397-08002B2CF9AE}" pid="13" name="subtitle">
    <vt:lpwstr>PSY 511.001 Spr 2026</vt:lpwstr>
  </property>
  <property fmtid="{D5CDD505-2E9C-101B-9397-08002B2CF9AE}" pid="14" name="toc-title">
    <vt:lpwstr>Table of contents</vt:lpwstr>
  </property>
</Properties>
</file>