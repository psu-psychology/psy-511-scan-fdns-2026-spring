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gif" ContentType="image/gif"/>
  <Default Extension="png" ContentType="image/png"/>
  <Default Extension="webp" ContentType="image/webp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6" Type="http://schemas.openxmlformats.org/officeDocument/2006/relationships/viewProps" Target="viewProps.xml" /><Relationship Id="rId7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8" Type="http://schemas.openxmlformats.org/officeDocument/2006/relationships/tableStyles" Target="tableStyles.xml" /><Relationship Id="rId7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gif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8.jpg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jp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webp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gif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gif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sht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Relationship Id="rId4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jp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jp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jp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exercises/ex-ANAT.pdf" TargetMode="Externa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uxdesign.cc/a-comprehensive-list-of-human-computer-interactions-d72eaca2c0df" TargetMode="External" /><Relationship Id="rId4" Type="http://schemas.openxmlformats.org/officeDocument/2006/relationships/hyperlink" Target="https://doi.org/10.1016/j.tins.2018.05.006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www.quantamagazine.org/mental-phenomena-dont-map-into-the-brain-as-expected-20210824/" TargetMode="External" /><Relationship Id="rId7" Type="http://schemas.openxmlformats.org/officeDocument/2006/relationships/hyperlink" Target="https://doi.org/10.3758/s13414-019-01760-1" TargetMode="External" /><Relationship Id="rId8" Type="http://schemas.openxmlformats.org/officeDocument/2006/relationships/hyperlink" Target="https://doi.org/10.1038/s41467-019-10301-1" TargetMode="External" /><Relationship Id="rId9" Type="http://schemas.openxmlformats.org/officeDocument/2006/relationships/hyperlink" Target="https://doi.org/10.1002/wcs.1525" TargetMode="External" /><Relationship Id="rId10" Type="http://schemas.openxmlformats.org/officeDocument/2006/relationships/hyperlink" Target="https://doi.org/10.1016/j.tics.2004.02.004" TargetMode="External" /><Relationship Id="rId11" Type="http://schemas.openxmlformats.org/officeDocument/2006/relationships/hyperlink" Target="https://doi.org/10.1177/0141076814562718" TargetMode="External" /><Relationship Id="rId12" Type="http://schemas.openxmlformats.org/officeDocument/2006/relationships/hyperlink" Target="https://www.amazon.com/Thinking-Fast-Slow-Daniel-Kahneman/dp/0374533555" TargetMode="External" /><Relationship Id="rId13" Type="http://schemas.openxmlformats.org/officeDocument/2006/relationships/hyperlink" Target="https://doi.org/10.1016/j.neuron.2016.12.041" TargetMode="External" /><Relationship Id="rId14" Type="http://schemas.openxmlformats.org/officeDocument/2006/relationships/hyperlink" Target="https://doi.org/10.1016/j.anbehav.2009.03.018" TargetMode="External" /><Relationship Id="rId15" Type="http://schemas.openxmlformats.org/officeDocument/2006/relationships/hyperlink" Target="https://mitpress.mit.edu/books/vision" TargetMode="External" /><Relationship Id="rId16" Type="http://schemas.openxmlformats.org/officeDocument/2006/relationships/hyperlink" Target="https://www.youtube.com/watch?v=JB7jSFeVz1U" TargetMode="External" /><Relationship Id="rId17" Type="http://schemas.openxmlformats.org/officeDocument/2006/relationships/hyperlink" Target="https://www.youtube.com/watch?v=nvXuq9jRWKE" TargetMode="External" /><Relationship Id="rId18" Type="http://schemas.openxmlformats.org/officeDocument/2006/relationships/hyperlink" Target="https://doi.org/10.3389/fpsyg.2018.00433" TargetMode="External" /><Relationship Id="rId19" Type="http://schemas.openxmlformats.org/officeDocument/2006/relationships/hyperlink" Target="https://doi.org/10.1038/s41583-023-00778-7" TargetMode="External" /><Relationship Id="rId20" Type="http://schemas.openxmlformats.org/officeDocument/2006/relationships/hyperlink" Target="https://doi.org/10.1038/nn.3839" TargetMode="External" /><Relationship Id="rId21" Type="http://schemas.openxmlformats.org/officeDocument/2006/relationships/hyperlink" Target="https://doi.org/10.1038/s41583-022-00583-8" TargetMode="External" /><Relationship Id="rId22" Type="http://schemas.openxmlformats.org/officeDocument/2006/relationships/hyperlink" Target="https://doi.org/10.1126/science.aav7893" TargetMode="External" /><Relationship Id="rId23" Type="http://schemas.openxmlformats.org/officeDocument/2006/relationships/hyperlink" Target="https://doi.org/10.1002/cne.20733" TargetMode="External" /><Relationship Id="rId24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understanding everything we need to know about the brain is a mile, how far have we walked?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Physics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Simplifying assumptions</a:t>
            </a:r>
          </a:p>
          <a:p>
            <a:pPr lvl="0"/>
            <a:r>
              <a:rPr/>
              <a:t>Universal laws</a:t>
            </a:r>
          </a:p>
          <a:p>
            <a:pPr lvl="0"/>
            <a:r>
              <a:rPr/>
              <a:t>Macro phenomena</a:t>
            </a:r>
          </a:p>
          <a:p>
            <a:pPr lvl="0"/>
            <a:r>
              <a:rPr/>
              <a:t>Low dimensional state space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Psychological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)?</a:t>
                </a:r>
              </a:p>
              <a:p>
                <a:pPr lvl="1"/>
                <a:r>
                  <a:rPr/>
                  <a:t>Of the organism?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1-2026-01-15-intro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30900" y="1625600"/>
            <a:ext cx="1460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 spaces in brain &amp; behavior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States high dimensional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~86 billion neurons</a:t>
            </a:r>
          </a:p>
          <a:p>
            <a:pPr lvl="0"/>
            <a:r>
              <a:rPr/>
              <a:t>~100 trillion - 1 quadrillion synapses</a:t>
            </a:r>
          </a:p>
          <a:p>
            <a:pPr lvl="0"/>
            <a:r>
              <a:rPr/>
              <a:t>?? # of motor units</a:t>
            </a:r>
          </a:p>
          <a:p>
            <a:pPr lvl="0"/>
            <a:r>
              <a:rPr/>
              <a:t>600+ skeletal muscles; 300+ joints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 vs. indirect measurement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  <a:p>
                <a:pPr lvl="0"/>
                <a:r>
                  <a:rPr/>
                  <a:t>vs. 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measured </a:t>
                </a:r>
                <a:r>
                  <a:rPr b="1"/>
                  <a:t>indirectly</a:t>
                </a:r>
              </a:p>
              <a:p>
                <a:pPr lvl="0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Your turn</a:t>
                </a:r>
              </a:p>
              <a:p>
                <a:pPr lvl="0"/>
                <a:r>
                  <a:rPr sz="2000"/>
                  <a:t>Do you agree?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</a:t>
            </a:r>
          </a:p>
          <a:p>
            <a:pPr lvl="0"/>
            <a:r>
              <a:rPr/>
              <a:t>Similar dynamics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624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does the nervous system undergird…</a:t>
            </a:r>
          </a:p>
          <a:p>
            <a:pPr lvl="1"/>
            <a:r>
              <a:rPr/>
              <a:t>action</a:t>
            </a:r>
          </a:p>
          <a:p>
            <a:pPr lvl="1"/>
            <a:r>
              <a:rPr/>
              <a:t>perception</a:t>
            </a:r>
          </a:p>
          <a:p>
            <a:pPr lvl="1"/>
            <a:r>
              <a:rPr/>
              <a:t>emotion</a:t>
            </a:r>
          </a:p>
          <a:p>
            <a:pPr lvl="1"/>
            <a:r>
              <a:rPr/>
              <a:t>learning &amp; memory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happens to the brain during sleep?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neurons work? How do they communicate?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Biologically essential behaviors</a:t>
            </a:r>
          </a:p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 inspired by richer metaphors</a:t>
            </a:r>
          </a:p>
        </p:txBody>
      </p:sp>
      <p:pic>
        <p:nvPicPr>
          <p:cNvPr descr="../include/img/1*QvKZpHrmz1nWyK4VfY2VT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Becker (2021)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brainwide representation of behavioral variables suggests that information encoded nearly anywhere in the forebrain is combined with behavioral state variables into a mixed representation…Our data indicate that it happens as early as primary sensory cortex.</a:t>
            </a:r>
          </a:p>
          <a:p>
            <a:pPr lvl="0" indent="0" marL="0">
              <a:buNone/>
            </a:pPr>
            <a:r>
              <a:rPr/>
              <a:t>– Stringer et al. (2019)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knowledge. Progress is hamstrung by siloed scientific traditions and a focus on explanation over prediction…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self-regulation lacks coherence as a construct…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We outline what characteristics we believe a scientific definition should have, and why we think it is important…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we find surprisingly widespread disagreement as to what qualifies as behaviour. Respondents contradict themselves…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Sciences of complexity</a:t>
            </a:r>
          </a:p>
        </p:txBody>
      </p:sp>
      <p:pic>
        <p:nvPicPr>
          <p:cNvPr descr="../include/img/wcs1525-fig-0001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1193800"/>
            <a:ext cx="554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1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../include/img/david-ma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218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p.silverchair-cdn.com/mitp/content_public/books/3299/book/2/m_9780262289610-cover.jpeg?Expires=1769881313&amp;Signature=qyyId5hIEiVXP1yVE8wHb5IImOGdDxFqEUNUC6OsEcdzLWyYPaumk9XEfk947b4V0h5kWvpHsARoXmLfr17j1DdJrulDTMZs261tRZv-PP78WpzKcYx5vGcvfQvm49IW2f~57KJQLByoXkNOxEPfILi07sUkLiQSgf5sPJEm4LFNolYby1tnwxrftDBiMEzf5AgcHh~H6VRIQwkxQH6UzHEJcQnZrDei4MTnjISJLVOM3DpQXcWP3M2YdLuEZPnx~IApHy8LNlV147Xz01xpl2zxiHUOmI8F5KEdOiuy2sp25kH~cbJfR4PyFVaN6fp2zE5sScQv1WxtLr6Q2B~6Yw__&amp;Key-Pair-Id=APKAIE5G5CRDK6RD3PG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49900" y="1193800"/>
            <a:ext cx="2247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  <p:pic>
        <p:nvPicPr>
          <p:cNvPr descr="https://www.annualreviews.org/docserver/fulltext/neuro/47/1/ne470369.f1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81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Asinof &amp; Card (2024)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i.giphy.com/media/v1.Y2lkPTc5MGI3NjExcXh1NzNxdmlidTlxandjeGNtOHgzNWtodmNoN2Rja3duZWNiYm92ayZlcD12MV9pbnRlcm5hbF9naWZfYnlfaWQmY3Q9dg/DF34cUyak7TPs7D4GE/giphy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17600" y="1193800"/>
            <a:ext cx="692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https://giphy.com/clips/thefastsaga-fast-and-furious-saga-fate-of-the-DF34cUyak7TPs7D4GE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and back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perception action-cycle</a:t>
            </a:r>
          </a:p>
        </p:txBody>
      </p:sp>
      <p:pic>
        <p:nvPicPr>
          <p:cNvPr descr="https://www.cell.com/cms/10.1016/j.tics.2004.02.004/asset/c8c5d775-b01e-4ef4-8418-3087cf12b6aa/main.assets/gr2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Fuster (2004) Figure 2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4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(2009)]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3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4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ANAT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Becker, C. R. (2021, August 31). A comprehensive list of human-computer interactions. Retrieved January 8, 2025, from </a:t>
            </a:r>
            <a:r>
              <a:rPr>
                <a:hlinkClick r:id="rId3"/>
              </a:rPr>
              <a:t>https://uxdesign.cc/a-comprehensive-list-of-human-computer-interactions-d72eaca2c0df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4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6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7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8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9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Fuster, J. M. (2004). Upper processing stages of the perception-action cycle.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8</a:t>
            </a:r>
            <a:r>
              <a:rPr/>
              <a:t>, 143–145. </a:t>
            </a:r>
            <a:r>
              <a:rPr>
                <a:hlinkClick r:id="rId10"/>
              </a:rPr>
              <a:t>https://doi.org/10.1016/j.tics.2004.02.004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1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2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3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4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5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6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7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8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9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20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1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2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3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4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2026-01-14T12:16:14Z</dcterms:created>
  <dcterms:modified xsi:type="dcterms:W3CDTF">2026-01-14T12:16:14Z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